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cdc74ab2924fdf" /><Relationship Type="http://schemas.openxmlformats.org/officeDocument/2006/relationships/extended-properties" Target="/docProps/app.xml" Id="Ra0538fcf295d4f84" /><Relationship Type="http://schemas.openxmlformats.org/officeDocument/2006/relationships/officeDocument" Target="/ppt/presentation.xml" Id="R100659aa323a40da" /></Relationships>
</file>

<file path=ppt/presentation.xml><?xml version="1.0" encoding="utf-8"?>
<p:presentation xmlns:p="http://schemas.openxmlformats.org/presentationml/2006/main">
  <p:sldMasterIdLst>
    <p:sldMasterId xmlns:r="http://schemas.openxmlformats.org/officeDocument/2006/relationships" id="2147483648" r:id="R33bf1e5fa7c5449b"/>
  </p:sldMasterIdLst>
  <p:notesMasterIdLst>
    <p:notesMasterId xmlns:r="http://schemas.openxmlformats.org/officeDocument/2006/relationships" r:id="R52df883534254600"/>
  </p:notesMasterIdLst>
  <p:sldIdLst>
    <p:sldId xmlns:r="http://schemas.openxmlformats.org/officeDocument/2006/relationships" id="256" r:id="Rdeccc7793eb44d45"/>
    <p:sldId xmlns:r="http://schemas.openxmlformats.org/officeDocument/2006/relationships" id="257" r:id="R9ed389273de44641"/>
    <p:sldId xmlns:r="http://schemas.openxmlformats.org/officeDocument/2006/relationships" id="258" r:id="R4c71767698d84052"/>
    <p:sldId xmlns:r="http://schemas.openxmlformats.org/officeDocument/2006/relationships" id="259" r:id="Re37d07915fba4fc0"/>
    <p:sldId xmlns:r="http://schemas.openxmlformats.org/officeDocument/2006/relationships" id="260" r:id="R6432e5aada6c4727"/>
    <p:sldId xmlns:r="http://schemas.openxmlformats.org/officeDocument/2006/relationships" id="261" r:id="Rbd9affc755374d41"/>
    <p:sldId xmlns:r="http://schemas.openxmlformats.org/officeDocument/2006/relationships" id="262" r:id="Ra9eacb6de0274570"/>
    <p:sldId xmlns:r="http://schemas.openxmlformats.org/officeDocument/2006/relationships" id="263" r:id="R5862c57ca8284724"/>
    <p:sldId xmlns:r="http://schemas.openxmlformats.org/officeDocument/2006/relationships" id="264" r:id="R1872329da8094964"/>
    <p:sldId xmlns:r="http://schemas.openxmlformats.org/officeDocument/2006/relationships" id="265" r:id="Rbeb708ad620244f1"/>
    <p:sldId xmlns:r="http://schemas.openxmlformats.org/officeDocument/2006/relationships" id="266" r:id="R91605d2c70624e9b"/>
    <p:sldId xmlns:r="http://schemas.openxmlformats.org/officeDocument/2006/relationships" id="267" r:id="R2ccf1da8b6fe493b"/>
    <p:sldId xmlns:r="http://schemas.openxmlformats.org/officeDocument/2006/relationships" id="268" r:id="Rc06112fbe62244a9"/>
    <p:sldId xmlns:r="http://schemas.openxmlformats.org/officeDocument/2006/relationships" id="269" r:id="R886c1dfb3fe3410c"/>
    <p:sldId xmlns:r="http://schemas.openxmlformats.org/officeDocument/2006/relationships" id="270" r:id="R74d1645d2fbc4b98"/>
    <p:sldId xmlns:r="http://schemas.openxmlformats.org/officeDocument/2006/relationships" id="271" r:id="R770b1b693a494835"/>
    <p:sldId xmlns:r="http://schemas.openxmlformats.org/officeDocument/2006/relationships" id="272" r:id="R2622ecc371ec48c4"/>
    <p:sldId xmlns:r="http://schemas.openxmlformats.org/officeDocument/2006/relationships" id="273" r:id="R4ef8ee59d1574f65"/>
    <p:sldId xmlns:r="http://schemas.openxmlformats.org/officeDocument/2006/relationships" id="274" r:id="Rbd91746c4e7e4074"/>
    <p:sldId xmlns:r="http://schemas.openxmlformats.org/officeDocument/2006/relationships" id="275" r:id="Rbcb4a93e3e5d47b5"/>
    <p:sldId xmlns:r="http://schemas.openxmlformats.org/officeDocument/2006/relationships" id="276" r:id="R6d40d18cbd4949c7"/>
    <p:sldId xmlns:r="http://schemas.openxmlformats.org/officeDocument/2006/relationships" id="277" r:id="R8ae4f57ef0384e74"/>
    <p:sldId xmlns:r="http://schemas.openxmlformats.org/officeDocument/2006/relationships" id="278" r:id="R4eb76fd6fd374bf0"/>
    <p:sldId xmlns:r="http://schemas.openxmlformats.org/officeDocument/2006/relationships" id="279" r:id="R0a8b965e98dd4c0e"/>
    <p:sldId xmlns:r="http://schemas.openxmlformats.org/officeDocument/2006/relationships" id="280" r:id="R05a792f230cf469f"/>
    <p:sldId xmlns:r="http://schemas.openxmlformats.org/officeDocument/2006/relationships" id="281" r:id="R0501806302e44a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f63e729fbf406a" /><Relationship Type="http://schemas.openxmlformats.org/officeDocument/2006/relationships/slideMaster" Target="/ppt/slideMasters/slideMaster1.xml" Id="R33bf1e5fa7c5449b" /><Relationship Type="http://schemas.openxmlformats.org/officeDocument/2006/relationships/notesMaster" Target="/ppt/notesMasters/notesMaster1.xml" Id="R52df883534254600" /><Relationship Type="http://schemas.openxmlformats.org/officeDocument/2006/relationships/presProps" Target="/ppt/presProps.xml" Id="Rbdd179e4a15148bd" /><Relationship Type="http://schemas.openxmlformats.org/officeDocument/2006/relationships/tableStyles" Target="/ppt/tableStyles.xml" Id="Ra1b9206c9ae34670" /><Relationship Type="http://schemas.openxmlformats.org/officeDocument/2006/relationships/slide" Target="/ppt/slides/slide1.xml" Id="Rdeccc7793eb44d45" /><Relationship Type="http://schemas.openxmlformats.org/officeDocument/2006/relationships/slide" Target="/ppt/slides/slide2.xml" Id="R9ed389273de44641" /><Relationship Type="http://schemas.openxmlformats.org/officeDocument/2006/relationships/slide" Target="/ppt/slides/slide3.xml" Id="R4c71767698d84052" /><Relationship Type="http://schemas.openxmlformats.org/officeDocument/2006/relationships/slide" Target="/ppt/slides/slide4.xml" Id="Re37d07915fba4fc0" /><Relationship Type="http://schemas.openxmlformats.org/officeDocument/2006/relationships/slide" Target="/ppt/slides/slide5.xml" Id="R6432e5aada6c4727" /><Relationship Type="http://schemas.openxmlformats.org/officeDocument/2006/relationships/slide" Target="/ppt/slides/slide6.xml" Id="Rbd9affc755374d41" /><Relationship Type="http://schemas.openxmlformats.org/officeDocument/2006/relationships/slide" Target="/ppt/slides/slide7.xml" Id="Ra9eacb6de0274570" /><Relationship Type="http://schemas.openxmlformats.org/officeDocument/2006/relationships/slide" Target="/ppt/slides/slide8.xml" Id="R5862c57ca8284724" /><Relationship Type="http://schemas.openxmlformats.org/officeDocument/2006/relationships/slide" Target="/ppt/slides/slide9.xml" Id="R1872329da8094964" /><Relationship Type="http://schemas.openxmlformats.org/officeDocument/2006/relationships/slide" Target="/ppt/slides/slide10.xml" Id="Rbeb708ad620244f1" /><Relationship Type="http://schemas.openxmlformats.org/officeDocument/2006/relationships/slide" Target="/ppt/slides/slide11.xml" Id="R91605d2c70624e9b" /><Relationship Type="http://schemas.openxmlformats.org/officeDocument/2006/relationships/slide" Target="/ppt/slides/slide12.xml" Id="R2ccf1da8b6fe493b" /><Relationship Type="http://schemas.openxmlformats.org/officeDocument/2006/relationships/slide" Target="/ppt/slides/slide13.xml" Id="Rc06112fbe62244a9" /><Relationship Type="http://schemas.openxmlformats.org/officeDocument/2006/relationships/slide" Target="/ppt/slides/slide14.xml" Id="R886c1dfb3fe3410c" /><Relationship Type="http://schemas.openxmlformats.org/officeDocument/2006/relationships/slide" Target="/ppt/slides/slide15.xml" Id="R74d1645d2fbc4b98" /><Relationship Type="http://schemas.openxmlformats.org/officeDocument/2006/relationships/slide" Target="/ppt/slides/slide16.xml" Id="R770b1b693a494835" /><Relationship Type="http://schemas.openxmlformats.org/officeDocument/2006/relationships/slide" Target="/ppt/slides/slide17.xml" Id="R2622ecc371ec48c4" /><Relationship Type="http://schemas.openxmlformats.org/officeDocument/2006/relationships/slide" Target="/ppt/slides/slide18.xml" Id="R4ef8ee59d1574f65" /><Relationship Type="http://schemas.openxmlformats.org/officeDocument/2006/relationships/slide" Target="/ppt/slides/slide19.xml" Id="Rbd91746c4e7e4074" /><Relationship Type="http://schemas.openxmlformats.org/officeDocument/2006/relationships/slide" Target="/ppt/slides/slide20.xml" Id="Rbcb4a93e3e5d47b5" /><Relationship Type="http://schemas.openxmlformats.org/officeDocument/2006/relationships/slide" Target="/ppt/slides/slide21.xml" Id="R6d40d18cbd4949c7" /><Relationship Type="http://schemas.openxmlformats.org/officeDocument/2006/relationships/slide" Target="/ppt/slides/slide22.xml" Id="R8ae4f57ef0384e74" /><Relationship Type="http://schemas.openxmlformats.org/officeDocument/2006/relationships/slide" Target="/ppt/slides/slide23.xml" Id="R4eb76fd6fd374bf0" /><Relationship Type="http://schemas.openxmlformats.org/officeDocument/2006/relationships/slide" Target="/ppt/slides/slide24.xml" Id="R0a8b965e98dd4c0e" /><Relationship Type="http://schemas.openxmlformats.org/officeDocument/2006/relationships/slide" Target="/ppt/slides/slide25.xml" Id="R05a792f230cf469f" /><Relationship Type="http://schemas.openxmlformats.org/officeDocument/2006/relationships/slide" Target="/ppt/slides/slide26.xml" Id="R0501806302e44a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f28ea269ee4d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0e6da04e144591" /><Relationship Type="http://schemas.openxmlformats.org/officeDocument/2006/relationships/notesMaster" Target="/ppt/notesMasters/notesMaster1.xml" Id="Rdd4674fea2be48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f4f580a62a4d28" /><Relationship Type="http://schemas.openxmlformats.org/officeDocument/2006/relationships/notesMaster" Target="/ppt/notesMasters/notesMaster1.xml" Id="R10aac41af34b48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91c97103f34ffb" /><Relationship Type="http://schemas.openxmlformats.org/officeDocument/2006/relationships/notesMaster" Target="/ppt/notesMasters/notesMaster1.xml" Id="R3306f20024bd4c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03fe211b374309" /><Relationship Type="http://schemas.openxmlformats.org/officeDocument/2006/relationships/notesMaster" Target="/ppt/notesMasters/notesMaster1.xml" Id="Rde74182b970a4e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cfd77fe88a4326" /><Relationship Type="http://schemas.openxmlformats.org/officeDocument/2006/relationships/notesMaster" Target="/ppt/notesMasters/notesMaster1.xml" Id="R6b7e5f07477d4f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5922ff74584bee" /><Relationship Type="http://schemas.openxmlformats.org/officeDocument/2006/relationships/notesMaster" Target="/ppt/notesMasters/notesMaster1.xml" Id="Rc3bdf0c8a0a549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6777ecffa24d6c" /><Relationship Type="http://schemas.openxmlformats.org/officeDocument/2006/relationships/notesMaster" Target="/ppt/notesMasters/notesMaster1.xml" Id="R0538aa5468f940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a3bcf69732480a" /><Relationship Type="http://schemas.openxmlformats.org/officeDocument/2006/relationships/notesMaster" Target="/ppt/notesMasters/notesMaster1.xml" Id="R6ca6a3c661d24b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5afc4a4f304de8" /><Relationship Type="http://schemas.openxmlformats.org/officeDocument/2006/relationships/notesMaster" Target="/ppt/notesMasters/notesMaster1.xml" Id="R1585e7c2ebff4c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2561180dc24393" /><Relationship Type="http://schemas.openxmlformats.org/officeDocument/2006/relationships/notesMaster" Target="/ppt/notesMasters/notesMaster1.xml" Id="R0001409c0b0244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6c19a6793d4d5b" /><Relationship Type="http://schemas.openxmlformats.org/officeDocument/2006/relationships/notesMaster" Target="/ppt/notesMasters/notesMaster1.xml" Id="R189ffe813baa4a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90988b33ab4eba" /><Relationship Type="http://schemas.openxmlformats.org/officeDocument/2006/relationships/notesMaster" Target="/ppt/notesMasters/notesMaster1.xml" Id="R93dd0bcb02c54b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f4d995cb884831" /><Relationship Type="http://schemas.openxmlformats.org/officeDocument/2006/relationships/notesMaster" Target="/ppt/notesMasters/notesMaster1.xml" Id="Rfb1a5c4dfd4446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abe80222684633" /><Relationship Type="http://schemas.openxmlformats.org/officeDocument/2006/relationships/notesMaster" Target="/ppt/notesMasters/notesMaster1.xml" Id="Reabda8a2f4d64d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7ea211640648fc" /><Relationship Type="http://schemas.openxmlformats.org/officeDocument/2006/relationships/notesMaster" Target="/ppt/notesMasters/notesMaster1.xml" Id="Radae5fd87ee947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5f6450fa4d4fab" /><Relationship Type="http://schemas.openxmlformats.org/officeDocument/2006/relationships/notesMaster" Target="/ppt/notesMasters/notesMaster1.xml" Id="R5571956d32d340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55780950f547c4" /><Relationship Type="http://schemas.openxmlformats.org/officeDocument/2006/relationships/notesMaster" Target="/ppt/notesMasters/notesMaster1.xml" Id="R5ade9143029543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8dda8c37164ff3" /><Relationship Type="http://schemas.openxmlformats.org/officeDocument/2006/relationships/notesMaster" Target="/ppt/notesMasters/notesMaster1.xml" Id="Re9be6f9ab29a47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ea1addb61154915" /><Relationship Type="http://schemas.openxmlformats.org/officeDocument/2006/relationships/notesMaster" Target="/ppt/notesMasters/notesMaster1.xml" Id="R708be1a45765409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9724f451f4c44ef" /><Relationship Type="http://schemas.openxmlformats.org/officeDocument/2006/relationships/notesMaster" Target="/ppt/notesMasters/notesMaster1.xml" Id="R0c3f17632b1b42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afe540523d4af9" /><Relationship Type="http://schemas.openxmlformats.org/officeDocument/2006/relationships/notesMaster" Target="/ppt/notesMasters/notesMaster1.xml" Id="R6fab62cbe5d047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e7f7a39ccf4daa" /><Relationship Type="http://schemas.openxmlformats.org/officeDocument/2006/relationships/notesMaster" Target="/ppt/notesMasters/notesMaster1.xml" Id="R320ea9a32d844cc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ade13bc9b1b420f" /><Relationship Type="http://schemas.openxmlformats.org/officeDocument/2006/relationships/notesMaster" Target="/ppt/notesMasters/notesMaster1.xml" Id="Ra8ec19282be44ab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3f4e05abca42f4" /><Relationship Type="http://schemas.openxmlformats.org/officeDocument/2006/relationships/notesMaster" Target="/ppt/notesMasters/notesMaster1.xml" Id="R16c88720ad554f1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ef5af35cb5c4e21" /><Relationship Type="http://schemas.openxmlformats.org/officeDocument/2006/relationships/notesMaster" Target="/ppt/notesMasters/notesMaster1.xml" Id="R67cdab44fd19492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dc32bb352234a8f" /><Relationship Type="http://schemas.openxmlformats.org/officeDocument/2006/relationships/notesMaster" Target="/ppt/notesMasters/notesMaster1.xml" Id="Rdc510055e77a4d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제6회 K-인공지능 제조데이터 분석 경진대회. 팀명 미정. 실제 사진 출처: docs/examples/002_20200622_203053(2).png. 학습용 처리 사진이며 실제 공장 적용 결과를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data/xray_v2/manifest.csv, 원본 데이터 감사 결과, docs/19_데이터전처리_정리본.md 0~2절. 공식 TXT 이물 수 1147. 원본 BMP 파일은 2809개이며 중복 제외 사진은2532장.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reports/eda_review_20261004/summary.json, historical_comparison.json, docs/19 2.1~2.3절. 초기점검과 시제품 뒤9/28~29상세EDA,9/30현재전처리적용.10/4동일실행기재확인. 원본2809/고유2532/사본277, 라벨500/박스1147, 긴변중앙값11픽셀. 그림은 프로젝트의 실제 통계를 그린 원본 자료이며 실험 시점과 후속 오류 분석을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scripts/xray_prepare_v2.py mask_palette, docs/figures/19_색표시와_정답의_차이.png. 실제 학습 사진의 처리 전후. 파랑은 TXT 설명선으로 모델 입력에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docs/examples/002_20200622_203053(2).txt, 해당 PNG, docs/figures/19_TXT라벨_사진과_좌표.png. 공식 TXT 사본이며 3개의 정답이 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data/xray_v2/split.csv 및 manifest.csv. 같은 호기에서60초 이내 연속 촬영. 목표60:20:20. 호기와 시험편 구성 고려. 라벨누락 의심 묶음 학습고정. 분할 MD5 8e58184ae24dfd1b48da2e9dfd88fedc.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scripts/xray_prepare_roadmap.py, xray_refine_removal.py, docs/figures/19_실행한_전처리_사진예시.png. 실제 생성된 학습 사진. 변환 TXT는 설명선으로 표현했으며 입력 이미지에는 포함하지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data/xray_combined_20261003/provenance.json 직접 집계. 의사 라벨 의심698장 및 보류400장은학습제외. 합성 정상82장은 실제 정상 제품의 평가를 대체하지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Ultralytics https://docs.ultralytics.com/models/yolov8/ ; Ren etal https://arxiv.org/abs/1506.01497 ; torchvision https://docs.pytorch.org/vision/0.23/models/generated/torchvision.models.detection.fasterrcnn_resnet50_fpn_v2.html ; RF-DETR https://github.com/roboflow/rf-detr ; D-FINE https://github.com/Peterande/D-FINE . D-FINE의 성능 향상은 가설이며 검증 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scripts/xray_eval.py, docs/figures/19_IoU와_중복예측_설명.png. 이 그림은 개념 설명이며 실제 예측사진이 아니다. 주지표 IoU&gt;=.5 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reports/common_epoch_20261004/evaluation/comparison.csv. 학습2453장, 검증107장243개, 테스트97장225개. 선택epoch 20/17/8/11. 검증에서 임계값 고정. 기존 테스트 열람 이력 있음. 모든 테스트 MPS. D-FINE CUDA→MPS 검증에서 경계 점수 한 개의 판정 차이가 있었고 임계값은 유지했다. 최종 모델 미확정.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테스트 사진 002_20200623_203040(4)의 가운데 이물. 공식 TXT9×5픽셀. IoU .469/.462/.472/.397. 9개의 실제 위치 오류 사진 시각 검토, 모델별FN14건에서TXT중심포함. 실제 픽셀 윤곽 정답은 없음. 원래 채점 보존. docs/19 9.8~9.9절.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reports/common_epoch_20261004/evaluation/visual_review/results.json, policy.json, decisions.json. 검증12장사전점검후이미본테스트97장225이물899예측전체검토. 단일AI가이전결과를알고있어독립블라인드아님. 공신력검증과전문가일치도없음. 검은중심포함을판정했고픽셀윤곽정답아님. AP없음. 공식IoU와모델임계값보존.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산업 설계 참고: METTLER TOLEDO X-ray Inspection Guidance 5.3,6.3,17~21 https://www.mt.com/nz/en/home/library/know-how/product-inspection/PI-Guides/xray-inspection-guide/x-ray-inspection-wiki.html . 제품 분리 확인과 검사 기록의 산업 사례를 참고. 이 AI 적용안은 프로젝트 제안이며 실제 도입 성과가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reports/common_epoch_20261004/evaluation/cascade_live/{policy,execution,summary}.json. 실제 두 모델 상주 조건부 추론, 검증107장3반복. 원본/반전예측은정답없이IoU0.5일대일비교. 99첫탐지/7두모델대응/1충돌. 기본FP4FN3, 예측교체대조FP2FN2,F1.9917695. 운영정책은보류이므로대조F1을운영F1로부르지않음. 개발deadline1초는호출반환후검사하며hardwatchdog아님. 메모리는MPS스냅샷이므로진정peak아님.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cascade_live/visual_scope.json, visual/cases.json, visual_review.json. 모든routed사진과모든baselineIoU FP/FN사진10장28공식표적국소검토. L002YOLO extra box는흐린무늬여서실물이물여부불명확, 정상라벨로바꾸지않음. 검증전체시각F1산출안함. NoScope https://arxiv.org/abs/1703.02529 ; OHEM https://www.cv-foundation.org/openaccess/content_cvpr_2016/html/Shrivastava_Training_Region-Based_Object_CVPR_2016_paper.html ; SAHI https://arxiv.org/abs/2202.06934 ; 다중전문가 https://proceedings.mlr.press/v206/verma23a.html . 전문화시일반+어려운학습사진혼합,촬영묶음독립검증,검증테스트학습사용금지.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design_review_20261004/latest_validation_comparison.json, latest_test_descriptive.json, proposal_frozen.json. YOLO11 선택epoch5 threshold.48035392, YOLO26 epoch13 threshold.6521711. 24촬영묶음 pairedbootstrap2000seed0의95%범위는차이0포함. https://docs.ultralytics.com/models/yolo11/ ; https://docs.ultralytics.com/models/yolo26/ ; https://arxiv.org/abs/2606.03748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docs/evidence/approved_pair_20261005/evidence.json, live_summary.json; common_epoch_20261004/diagnostics/benchmark_mps.json. YOLO+RF mean36.5533873676 P9544.4887090016, 검증107장x3. 단일RF38.286196ms Faster1396.653765ms는별도실행. 상주상태 PNG읽기·추론·비교시간, 설비제외. RF는YOLOFN3개중2개보완, 공통IoUFN1개. 자동출하성능아님.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docs/evidence/fullframe_policy_20261005/policy.json. 사용자승인2026-10-05. 도식의분기는 입력의독립성을뜻하며 GPU동시실행속도를측정했다는뜻아님. 대응규칙IoU.5 일대일. 두모델일치는정답보장아님. 처리규칙은시제품, 실제설비연동미구현.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docs/evidence/review_roles_20261005/summary.json 및 summary.csv. 후보RF3epochTP231FP15FN12F1.9448;tile2epochTP241FP2FN2F1.9918. 검증107장모두YOLO후보있음. 타일전체강제진단. 최적전문모델성능아님.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docs/evidence/fullframe_policy_20261005/audit.json 및 image_states.csv. 정답IoU채점 xray_eval.py. 상태표는사진단위, IoUFN은이물단위. test 95HOLD_DETECTED_OBJECT,2HOLD_REINSPECTION. 매칭되는두모델예측도공통오류일수있음.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scripts/xray_inspection_gate.py, test_xray_inspection_gate.py. 구현은외부시계를받는상태기계이며실제GPU hardwatchdog/PLC아님. 미탐제품률 우선, 정상오경보·보류율·시간초과율함께측정. 실제정상제품0장이므로확률보정/자동PASS미검증. 전체검사처리량은현장대기및GPU병렬수로검토해야함.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현장 검사속도·재검사 가능량 정보 없음. 아래는 프로젝트가 제안하는 검증 계획. 실제 정상제품 평가, 전체라인처리지연과제품분리연결 검증은 아직 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8d7d267c7f48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de268f5b034ba7" /><Relationship Type="http://schemas.openxmlformats.org/officeDocument/2006/relationships/slideLayout" Target="/ppt/slideLayouts/slideLayout1.xml" Id="R95a80049bbe447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a80049bbe447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50da1142e44f6a" /><Relationship Type="http://schemas.openxmlformats.org/officeDocument/2006/relationships/image" Target="/ppt/media/image.png" Id="R0b252ed132cd4688" /><Relationship Type="http://schemas.openxmlformats.org/officeDocument/2006/relationships/notesSlide" Target="/ppt/notesSlides/notesSlide1.xml" Id="R569e55472e4f43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35101be8fb4810" /><Relationship Type="http://schemas.openxmlformats.org/officeDocument/2006/relationships/notesSlide" Target="/ppt/notesSlides/notesSlide2.xml" Id="R58c77f11e07a4e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82ee8611514942" /><Relationship Type="http://schemas.openxmlformats.org/officeDocument/2006/relationships/image" Target="/ppt/media/image2.png" Id="R72eb6be7b868454e" /><Relationship Type="http://schemas.openxmlformats.org/officeDocument/2006/relationships/notesSlide" Target="/ppt/notesSlides/notesSlide3.xml" Id="R59a26850d35c45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f11708e49f4f0f" /><Relationship Type="http://schemas.openxmlformats.org/officeDocument/2006/relationships/image" Target="/ppt/media/image3.png" Id="R8764ba43431a42a0" /><Relationship Type="http://schemas.openxmlformats.org/officeDocument/2006/relationships/notesSlide" Target="/ppt/notesSlides/notesSlide4.xml" Id="Refd74676d03241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a0a37891864de1" /><Relationship Type="http://schemas.openxmlformats.org/officeDocument/2006/relationships/image" Target="/ppt/media/image4.png" Id="Rae7bda7248ea468d" /><Relationship Type="http://schemas.openxmlformats.org/officeDocument/2006/relationships/notesSlide" Target="/ppt/notesSlides/notesSlide5.xml" Id="R036a9f84c2894e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6b0a19a8f34ccc" /><Relationship Type="http://schemas.openxmlformats.org/officeDocument/2006/relationships/image" Target="/ppt/media/image5.png" Id="Rd95ce8c3b24d4f33" /><Relationship Type="http://schemas.openxmlformats.org/officeDocument/2006/relationships/notesSlide" Target="/ppt/notesSlides/notesSlide6.xml" Id="R6de2a5031e654b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4f5e0a4f42476d" /><Relationship Type="http://schemas.openxmlformats.org/officeDocument/2006/relationships/image" Target="/ppt/media/image6.png" Id="Ra2bf52ca78f0470f" /><Relationship Type="http://schemas.openxmlformats.org/officeDocument/2006/relationships/notesSlide" Target="/ppt/notesSlides/notesSlide7.xml" Id="R313e76aafcf64f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d22984d9a84ae9" /><Relationship Type="http://schemas.openxmlformats.org/officeDocument/2006/relationships/notesSlide" Target="/ppt/notesSlides/notesSlide8.xml" Id="Rc62c669427824f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ad0d360de74517" /><Relationship Type="http://schemas.openxmlformats.org/officeDocument/2006/relationships/notesSlide" Target="/ppt/notesSlides/notesSlide9.xml" Id="R39c4e7fd6f4b42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c20b0e9eaa436f" /><Relationship Type="http://schemas.openxmlformats.org/officeDocument/2006/relationships/image" Target="/ppt/media/image7.png" Id="R4ac06541d046430e" /><Relationship Type="http://schemas.openxmlformats.org/officeDocument/2006/relationships/notesSlide" Target="/ppt/notesSlides/notesSlide10.xml" Id="R6dd447b66f3444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b053a9600fc4ba3" /><Relationship Type="http://schemas.openxmlformats.org/officeDocument/2006/relationships/notesSlide" Target="/ppt/notesSlides/notesSlide11.xml" Id="R16eb816b59ce49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c184e63cd4e4005" /><Relationship Type="http://schemas.openxmlformats.org/officeDocument/2006/relationships/notesSlide" Target="/ppt/notesSlides/notesSlide12.xml" Id="R6eeed981eb9346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fe5f402b59487f" /><Relationship Type="http://schemas.openxmlformats.org/officeDocument/2006/relationships/image" Target="/ppt/media/image8.png" Id="Rb542ebde091449d2" /><Relationship Type="http://schemas.openxmlformats.org/officeDocument/2006/relationships/notesSlide" Target="/ppt/notesSlides/notesSlide13.xml" Id="R7cc82bc245a843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e523061caa48fc" /><Relationship Type="http://schemas.openxmlformats.org/officeDocument/2006/relationships/notesSlide" Target="/ppt/notesSlides/notesSlide14.xml" Id="R9d2f53e361cc49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fcdc4c61724b76" /><Relationship Type="http://schemas.openxmlformats.org/officeDocument/2006/relationships/notesSlide" Target="/ppt/notesSlides/notesSlide15.xml" Id="R694d90fe26d342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6b78784d04483f" /><Relationship Type="http://schemas.openxmlformats.org/officeDocument/2006/relationships/notesSlide" Target="/ppt/notesSlides/notesSlide16.xml" Id="R5299760bd08944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8ba4d649d34713" /><Relationship Type="http://schemas.openxmlformats.org/officeDocument/2006/relationships/notesSlide" Target="/ppt/notesSlides/notesSlide17.xml" Id="Rd0db83dd62e84d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093368fedf34946" /><Relationship Type="http://schemas.openxmlformats.org/officeDocument/2006/relationships/image" Target="/ppt/media/image9.png" Id="Rac7d014934ae47aa" /><Relationship Type="http://schemas.openxmlformats.org/officeDocument/2006/relationships/notesSlide" Target="/ppt/notesSlides/notesSlide18.xml" Id="Rc33f4e50d90b486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c5938150fd47cf" /><Relationship Type="http://schemas.openxmlformats.org/officeDocument/2006/relationships/notesSlide" Target="/ppt/notesSlides/notesSlide19.xml" Id="Rad41fa6271af42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9c5fcff261f41f5" /><Relationship Type="http://schemas.openxmlformats.org/officeDocument/2006/relationships/notesSlide" Target="/ppt/notesSlides/notesSlide20.xml" Id="R8438f408d4c0445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008c0c67f39421a" /><Relationship Type="http://schemas.openxmlformats.org/officeDocument/2006/relationships/notesSlide" Target="/ppt/notesSlides/notesSlide21.xml" Id="R9b257a35aceb46c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5f3fb68ae214d6f" /><Relationship Type="http://schemas.openxmlformats.org/officeDocument/2006/relationships/notesSlide" Target="/ppt/notesSlides/notesSlide22.xml" Id="Rcfde9283412f47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728c6c029924e3b" /><Relationship Type="http://schemas.openxmlformats.org/officeDocument/2006/relationships/notesSlide" Target="/ppt/notesSlides/notesSlide23.xml" Id="R2f8ac5b3b72e4c5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47abb206de244f1" /><Relationship Type="http://schemas.openxmlformats.org/officeDocument/2006/relationships/notesSlide" Target="/ppt/notesSlides/notesSlide24.xml" Id="R0e0025de3440488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cc6c04ee7794f3d" /><Relationship Type="http://schemas.openxmlformats.org/officeDocument/2006/relationships/notesSlide" Target="/ppt/notesSlides/notesSlide25.xml" Id="R6d0f8f4ddbec4a1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0c5fdb5c9fb45ce" /><Relationship Type="http://schemas.openxmlformats.org/officeDocument/2006/relationships/notesSlide" Target="/ppt/notesSlides/notesSlide26.xml" Id="R1c7b42618919442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63AC4D-B734-44A3-B73A-AEA459638FA8}"/>
              </a:ext>
            </a:extLst>
          </p:cNvPr>
          <p:cNvSpPr>
            <a:spLocks xmlns:a="http://schemas.openxmlformats.org/drawingml/2006/main" noGrp="1"/>
          </p:cNvSpPr>
          <p:nvPr/>
        </p:nvSpPr>
        <p:spPr>
          <a:xfrm xmlns:a="http://schemas.openxmlformats.org/drawingml/2006/main">
            <a:off x="609600" y="3619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X-ray 이물 탐지와</a:t>
            </a:r>
          </a:p>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조건별 오류 분석 기반 재검사 설계</a:t>
            </a:r>
          </a:p>
        </p:txBody>
      </p:sp>
      <p:sp>
        <p:nvSpPr>
          <p:cNvPr id="2" name="">
            <a:extLst xmlns:a="http://schemas.openxmlformats.org/drawingml/2006/main">
              <a:ext uri="{FF2B5EF4-FFF2-40B4-BE49-F238E27FC236}">
                <a16:creationId xmlns:a16="http://schemas.microsoft.com/office/drawing/2014/main" id="{E1CAF826-FF80-4710-A738-F6793FDC26A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a:t>
            </a:r>
          </a:p>
        </p:txBody>
      </p:sp>
      <p:sp>
        <p:nvSpPr>
          <p:cNvPr id="3" name="">
            <a:extLst xmlns:a="http://schemas.openxmlformats.org/drawingml/2006/main">
              <a:ext uri="{FF2B5EF4-FFF2-40B4-BE49-F238E27FC236}">
                <a16:creationId xmlns:a16="http://schemas.microsoft.com/office/drawing/2014/main" id="{11A0139E-0712-4916-9A5E-86EECA6F85D3}"/>
              </a:ext>
            </a:extLst>
          </p:cNvPr>
          <p:cNvSpPr>
            <a:spLocks xmlns:a="http://schemas.openxmlformats.org/drawingml/2006/main" noGrp="1"/>
          </p:cNvSpPr>
          <p:nvPr/>
        </p:nvSpPr>
        <p:spPr>
          <a:xfrm xmlns:a="http://schemas.openxmlformats.org/drawingml/2006/main">
            <a:off x="609600" y="278130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53616A"/>
                </a:solidFill>
                <a:latin typeface="Apple SD Gothic Neo"/>
                <a:ea typeface="Apple SD Gothic Neo"/>
                <a:cs typeface="Apple SD Gothic Neo"/>
              </a:defRPr>
            </a:pPr>
            <a:r>
              <a:rPr sz="1950" b="0">
                <a:solidFill>
                  <a:srgbClr val="53616A"/>
                </a:solidFill>
                <a:latin typeface="Apple SD Gothic Neo"/>
                <a:ea typeface="Apple SD Gothic Neo"/>
                <a:cs typeface="Apple SD Gothic Neo"/>
              </a:rPr>
              <a:t>제6회 K-인공지능 제조데이터 분석 경진대회</a:t>
            </a:r>
          </a:p>
        </p:txBody>
      </p:sp>
      <p:sp>
        <p:nvSpPr>
          <p:cNvPr id="4" name="">
            <a:extLst xmlns:a="http://schemas.openxmlformats.org/drawingml/2006/main">
              <a:ext uri="{FF2B5EF4-FFF2-40B4-BE49-F238E27FC236}">
                <a16:creationId xmlns:a16="http://schemas.microsoft.com/office/drawing/2014/main" id="{1D14D0A3-727C-4D80-8A62-97254EB1E8E0}"/>
              </a:ext>
            </a:extLst>
          </p:cNvPr>
          <p:cNvSpPr>
            <a:spLocks xmlns:a="http://schemas.openxmlformats.org/drawingml/2006/main" noGrp="1"/>
          </p:cNvSpPr>
          <p:nvPr/>
        </p:nvSpPr>
        <p:spPr>
          <a:xfrm xmlns:a="http://schemas.openxmlformats.org/drawingml/2006/main">
            <a:off x="609600" y="3638550"/>
            <a:ext cx="623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검토본 2026.10.05</a:t>
            </a:r>
          </a:p>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전체 사진 이중 검사와 재검증 반영</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b252ed132cd4688"/>
          <a:stretch xmlns:a="http://schemas.openxmlformats.org/drawingml/2006/main"/>
        </p:blipFill>
        <p:spPr>
          <a:xfrm xmlns:a="http://schemas.openxmlformats.org/drawingml/2006/main">
            <a:off x="8020624" y="2628900"/>
            <a:ext cx="3332602" cy="3143250"/>
          </a:xfrm>
          <a:prstGeom xmlns:a="http://schemas.openxmlformats.org/drawingml/2006/main" prst="rect">
            <a:avLst/>
          </a:prstGeom>
        </p:spPr>
      </p:pic>
    </p:spTree>
    <p:extLst>
      <p:ext uri="{BB962C8B-B14F-4D97-AF65-F5344CB8AC3E}">
        <p14:creationId xmlns:p14="http://schemas.microsoft.com/office/powerpoint/2010/main" val="308082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EDD68-C51B-4253-A2F9-924DB10EA89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분석 대상과 데이터 구성</a:t>
            </a:r>
          </a:p>
        </p:txBody>
      </p:sp>
      <p:sp>
        <p:nvSpPr>
          <p:cNvPr id="2" name="">
            <a:extLst xmlns:a="http://schemas.openxmlformats.org/drawingml/2006/main">
              <a:ext uri="{FF2B5EF4-FFF2-40B4-BE49-F238E27FC236}">
                <a16:creationId xmlns:a16="http://schemas.microsoft.com/office/drawing/2014/main" id="{868B2617-469F-448D-885F-B849EEE890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a:t>
            </a:r>
          </a:p>
        </p:txBody>
      </p:sp>
      <p:graphicFrame>
        <p:nvGraphicFramePr>
          <p:cNvPr id="9" name=""/>
          <p:cNvGraphicFramePr/>
          <p:nvPr/>
        </p:nvGraphicFramePr>
        <p:xfrm>
          <a:off xmlns:a="http://schemas.openxmlformats.org/drawingml/2006/main" x="609600" y="1552575"/>
          <a:ext xmlns:a="http://schemas.openxmlformats.org/drawingml/2006/main" cx="10972800" cy="2857500"/>
        </p:xfrm>
        <a:graphic xmlns:a="http://schemas.openxmlformats.org/drawingml/2006/main">
          <a:graphicData uri="http://schemas.openxmlformats.org/drawingml/2006/table">
            <a:tbl>
              <a:tblPr/>
              <a:tblGrid>
                <a:gridCol w="3810000"/>
                <a:gridCol w="1524000"/>
                <a:gridCol w="5638800"/>
              </a:tblGrid>
              <a:tr h="714375">
                <a:tc>
                  <a:txBody>
                    <a:bodyPr lIns="133350" tIns="85725" rIns="114300" bIns="85725"/>
                    <a:lstStyle/>
                    <a:p>
                      <a:r>
                        <a:rPr sz="1875" b="1">
                          <a:solidFill>
                            <a:srgbClr val="FFFFFF"/>
                          </a:solidFill>
                          <a:latin typeface="Apple SD Gothic Neo"/>
                          <a:ea typeface="Apple SD Gothic Neo"/>
                          <a:cs typeface="Apple SD Gothic Neo"/>
                        </a:rPr>
                        <a:t>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뜻</a:t>
                      </a:r>
                    </a:p>
                  </a:txBody>
                  <a:tcPr marL="91440" marR="91440" marT="45720" marB="45720" anchor="ctr">
                    <a:solidFill>
                      <a:srgbClr val="193C4D"/>
                    </a:solidFill>
                  </a:tcPr>
                </a:tc>
              </a:tr>
              <a:tr h="714375">
                <a:tc>
                  <a:txBody>
                    <a:bodyPr lIns="133350" tIns="85725" rIns="114300" bIns="85725"/>
                    <a:lstStyle/>
                    <a:p>
                      <a:r>
                        <a:rPr sz="1875" b="0">
                          <a:solidFill>
                            <a:srgbClr val="162832"/>
                          </a:solidFill>
                          <a:latin typeface="Apple SD Gothic Neo"/>
                          <a:ea typeface="Apple SD Gothic Neo"/>
                          <a:cs typeface="Apple SD Gothic Neo"/>
                        </a:rPr>
                        <a:t>원본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2,532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중복을 제외한 고유 사진</a:t>
                      </a:r>
                    </a:p>
                  </a:txBody>
                  <a:tcPr marL="91440" marR="91440" marT="45720" marB="45720" anchor="ctr">
                    <a:solidFill>
                      <a:srgbClr val="FFFFFF"/>
                    </a:solidFill>
                  </a:tcPr>
                </a:tc>
              </a:tr>
              <a:tr h="714375">
                <a:tc>
                  <a:txBody>
                    <a:bodyPr lIns="133350" tIns="85725" rIns="114300" bIns="85725"/>
                    <a:lstStyle/>
                    <a:p>
                      <a:r>
                        <a:rPr sz="1875" b="0">
                          <a:solidFill>
                            <a:srgbClr val="162832"/>
                          </a:solidFill>
                          <a:latin typeface="Apple SD Gothic Neo"/>
                          <a:ea typeface="Apple SD Gothic Neo"/>
                          <a:cs typeface="Apple SD Gothic Neo"/>
                        </a:rPr>
                        <a:t>라벨 제공 데이터셋</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500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공식 TXT가 있는 사진</a:t>
                      </a:r>
                    </a:p>
                  </a:txBody>
                  <a:tcPr marL="91440" marR="91440" marT="45720" marB="45720" anchor="ctr">
                    <a:solidFill>
                      <a:srgbClr val="F1F5F6"/>
                    </a:solidFill>
                  </a:tcPr>
                </a:tc>
              </a:tr>
              <a:tr h="714375">
                <a:tc>
                  <a:txBody>
                    <a:bodyPr lIns="133350" tIns="85725" rIns="114300" bIns="85725"/>
                    <a:lstStyle/>
                    <a:p>
                      <a:r>
                        <a:rPr sz="1875" b="0">
                          <a:solidFill>
                            <a:srgbClr val="162832"/>
                          </a:solidFill>
                          <a:latin typeface="Apple SD Gothic Neo"/>
                          <a:ea typeface="Apple SD Gothic Neo"/>
                          <a:cs typeface="Apple SD Gothic Neo"/>
                        </a:rPr>
                        <a:t>미라벨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2,032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TXT 없음. 정상이라는 뜻은 아님</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DF7DB2D-9847-4211-A5AE-165606A6FB74}"/>
              </a:ext>
            </a:extLst>
          </p:cNvPr>
          <p:cNvSpPr>
            <a:spLocks xmlns:a="http://schemas.openxmlformats.org/drawingml/2006/main" noGrp="1"/>
          </p:cNvSpPr>
          <p:nvPr/>
        </p:nvSpPr>
        <p:spPr>
          <a:xfrm xmlns:a="http://schemas.openxmlformats.org/drawingml/2006/main">
            <a:off x="609600" y="481012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라벨 제공 데이터셋은 시험편 사진입니다.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정상 제품과 다양한 혼입 이물의 대표성은 별도 검증이 필요합니다.</a:t>
            </a:r>
          </a:p>
        </p:txBody>
      </p:sp>
    </p:spTree>
    <p:extLst>
      <p:ext uri="{BB962C8B-B14F-4D97-AF65-F5344CB8AC3E}">
        <p14:creationId xmlns:p14="http://schemas.microsoft.com/office/powerpoint/2010/main" val="10752743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92117D-ACBB-4302-8FDB-2822230FB68A}"/>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EDA와 전처리 선택 근거</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2eb6be7b868454e"/>
          <a:stretch xmlns:a="http://schemas.openxmlformats.org/drawingml/2006/main"/>
        </p:blipFill>
        <p:spPr>
          <a:xfrm xmlns:a="http://schemas.openxmlformats.org/drawingml/2006/main">
            <a:off x="2075564" y="1285875"/>
            <a:ext cx="8040872"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D180D2-5540-41FF-B3E9-5C37995F1FFA}"/>
              </a:ext>
            </a:extLst>
          </p:cNvPr>
          <p:cNvSpPr>
            <a:spLocks xmlns:a="http://schemas.openxmlformats.org/drawingml/2006/main" noGrp="1"/>
          </p:cNvSpPr>
          <p:nvPr/>
        </p:nvSpPr>
        <p:spPr>
          <a:xfrm xmlns:a="http://schemas.openxmlformats.org/drawingml/2006/main">
            <a:off x="609600" y="4543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중복 사본 277개를 확인해 고유 사진 2,532장을 구분했습니다.</a:t>
            </a:r>
          </a:p>
        </p:txBody>
      </p:sp>
      <p:sp>
        <p:nvSpPr>
          <p:cNvPr id="4" name="">
            <a:extLst xmlns:a="http://schemas.openxmlformats.org/drawingml/2006/main">
              <a:ext uri="{FF2B5EF4-FFF2-40B4-BE49-F238E27FC236}">
                <a16:creationId xmlns:a16="http://schemas.microsoft.com/office/drawing/2014/main" id="{E747FF03-B32F-45E2-9F6C-E978D54B1CFB}"/>
              </a:ext>
            </a:extLst>
          </p:cNvPr>
          <p:cNvSpPr>
            <a:spLocks xmlns:a="http://schemas.openxmlformats.org/drawingml/2006/main" noGrp="1"/>
          </p:cNvSpPr>
          <p:nvPr/>
        </p:nvSpPr>
        <p:spPr>
          <a:xfrm xmlns:a="http://schemas.openxmlformats.org/drawingml/2006/main">
            <a:off x="609600" y="4953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작은 박스가 많아 색 네모의 테두리 픽셀만 제거했습니다.</a:t>
            </a:r>
          </a:p>
        </p:txBody>
      </p:sp>
      <p:sp>
        <p:nvSpPr>
          <p:cNvPr id="5" name="">
            <a:extLst xmlns:a="http://schemas.openxmlformats.org/drawingml/2006/main">
              <a:ext uri="{FF2B5EF4-FFF2-40B4-BE49-F238E27FC236}">
                <a16:creationId xmlns:a16="http://schemas.microsoft.com/office/drawing/2014/main" id="{C8E80BE2-C39C-4B86-8DEA-24E1B481C62B}"/>
              </a:ext>
            </a:extLst>
          </p:cNvPr>
          <p:cNvSpPr>
            <a:spLocks xmlns:a="http://schemas.openxmlformats.org/drawingml/2006/main" noGrp="1"/>
          </p:cNvSpPr>
          <p:nvPr/>
        </p:nvSpPr>
        <p:spPr>
          <a:xfrm xmlns:a="http://schemas.openxmlformats.org/drawingml/2006/main">
            <a:off x="609600" y="5362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연속 촬영 구조를 확인해 촬영 묶음을 유지하며 분할했습니다.</a:t>
            </a:r>
          </a:p>
        </p:txBody>
      </p:sp>
      <p:sp>
        <p:nvSpPr>
          <p:cNvPr id="6" name="">
            <a:extLst xmlns:a="http://schemas.openxmlformats.org/drawingml/2006/main">
              <a:ext uri="{FF2B5EF4-FFF2-40B4-BE49-F238E27FC236}">
                <a16:creationId xmlns:a16="http://schemas.microsoft.com/office/drawing/2014/main" id="{02D652C7-AA5D-4786-B76B-D9B305E25E44}"/>
              </a:ext>
            </a:extLst>
          </p:cNvPr>
          <p:cNvSpPr>
            <a:spLocks xmlns:a="http://schemas.openxmlformats.org/drawingml/2006/main" noGrp="1"/>
          </p:cNvSpPr>
          <p:nvPr/>
        </p:nvSpPr>
        <p:spPr>
          <a:xfrm xmlns:a="http://schemas.openxmlformats.org/drawingml/2006/main">
            <a:off x="609600" y="5772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시험편 중심 자료입니다. 실제 정상 제품 평가 자료는 없습니다.</a:t>
            </a:r>
          </a:p>
        </p:txBody>
      </p:sp>
      <p:sp>
        <p:nvSpPr>
          <p:cNvPr id="7" name="">
            <a:extLst xmlns:a="http://schemas.openxmlformats.org/drawingml/2006/main">
              <a:ext uri="{FF2B5EF4-FFF2-40B4-BE49-F238E27FC236}">
                <a16:creationId xmlns:a16="http://schemas.microsoft.com/office/drawing/2014/main" id="{4C1C198B-94CC-4DA5-9AE6-C50F373C2647}"/>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3</a:t>
            </a:r>
          </a:p>
        </p:txBody>
      </p:sp>
    </p:spTree>
    <p:extLst>
      <p:ext uri="{BB962C8B-B14F-4D97-AF65-F5344CB8AC3E}">
        <p14:creationId xmlns:p14="http://schemas.microsoft.com/office/powerpoint/2010/main" val="1233303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0A831E-878B-4BB0-8305-E4F02DEF4BF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색 네모만 제거하고 이물의 모습을 남김</a:t>
            </a:r>
          </a:p>
        </p:txBody>
      </p:sp>
      <p:sp>
        <p:nvSpPr>
          <p:cNvPr id="2" name="">
            <a:extLst xmlns:a="http://schemas.openxmlformats.org/drawingml/2006/main">
              <a:ext uri="{FF2B5EF4-FFF2-40B4-BE49-F238E27FC236}">
                <a16:creationId xmlns:a16="http://schemas.microsoft.com/office/drawing/2014/main" id="{997CA82F-6B63-4F66-9882-2AC40990E47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764ba43431a42a0"/>
          <a:stretch xmlns:a="http://schemas.openxmlformats.org/drawingml/2006/main"/>
        </p:blipFill>
        <p:spPr>
          <a:xfrm xmlns:a="http://schemas.openxmlformats.org/drawingml/2006/main">
            <a:off x="1809750" y="1419225"/>
            <a:ext cx="85725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E65697-B991-47C1-9FBE-C231FD2E0807}"/>
              </a:ext>
            </a:extLst>
          </p:cNvPr>
          <p:cNvSpPr>
            <a:spLocks xmlns:a="http://schemas.openxmlformats.org/drawingml/2006/main" noGrp="1"/>
          </p:cNvSpPr>
          <p:nvPr/>
        </p:nvSpPr>
        <p:spPr>
          <a:xfrm xmlns:a="http://schemas.openxmlformats.org/drawingml/2006/main">
            <a:off x="609600" y="5334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팔레트 244~255 픽셀만 선택하고 주변 영상으로 메웠습니다.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 아래의 원래 밝기는 추정값입니다. 공식 TXT는 별도로 보존했습니다.</a:t>
            </a:r>
          </a:p>
        </p:txBody>
      </p:sp>
    </p:spTree>
    <p:extLst>
      <p:ext uri="{BB962C8B-B14F-4D97-AF65-F5344CB8AC3E}">
        <p14:creationId xmlns:p14="http://schemas.microsoft.com/office/powerpoint/2010/main" val="20649390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942818-7EBA-4B39-BC0E-35BCD7345C3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TXT 한 줄은 이물 하나의 위치</a:t>
            </a:r>
          </a:p>
        </p:txBody>
      </p:sp>
      <p:sp>
        <p:nvSpPr>
          <p:cNvPr id="2" name="">
            <a:extLst xmlns:a="http://schemas.openxmlformats.org/drawingml/2006/main">
              <a:ext uri="{FF2B5EF4-FFF2-40B4-BE49-F238E27FC236}">
                <a16:creationId xmlns:a16="http://schemas.microsoft.com/office/drawing/2014/main" id="{56832DEB-99DC-4F01-A2DC-B9F09EAE758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e7bda7248ea468d"/>
          <a:stretch xmlns:a="http://schemas.openxmlformats.org/drawingml/2006/main"/>
        </p:blipFill>
        <p:spPr>
          <a:xfrm xmlns:a="http://schemas.openxmlformats.org/drawingml/2006/main">
            <a:off x="2197474" y="1314450"/>
            <a:ext cx="7797053" cy="47339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920E5A-BFBA-4CD2-BFFD-8D4FF218E40C}"/>
              </a:ext>
            </a:extLst>
          </p:cNvPr>
          <p:cNvSpPr>
            <a:spLocks xmlns:a="http://schemas.openxmlformats.org/drawingml/2006/main" noGrp="1"/>
          </p:cNvSpPr>
          <p:nvPr/>
        </p:nvSpPr>
        <p:spPr>
          <a:xfrm xmlns:a="http://schemas.openxmlformats.org/drawingml/2006/main">
            <a:off x="609600" y="60483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종류 번호 0은 이물을 뜻합니다. 좌표는 사진 크기에 대한 비율입니다.</a:t>
            </a:r>
          </a:p>
        </p:txBody>
      </p:sp>
    </p:spTree>
    <p:extLst>
      <p:ext uri="{BB962C8B-B14F-4D97-AF65-F5344CB8AC3E}">
        <p14:creationId xmlns:p14="http://schemas.microsoft.com/office/powerpoint/2010/main" val="6928671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081DF8-AB73-4231-8601-08F7B132C54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연속 사진은 같은 촬영 묶음에 배정</a:t>
            </a:r>
          </a:p>
        </p:txBody>
      </p:sp>
      <p:sp>
        <p:nvSpPr>
          <p:cNvPr id="2" name="">
            <a:extLst xmlns:a="http://schemas.openxmlformats.org/drawingml/2006/main">
              <a:ext uri="{FF2B5EF4-FFF2-40B4-BE49-F238E27FC236}">
                <a16:creationId xmlns:a16="http://schemas.microsoft.com/office/drawing/2014/main" id="{47F877AE-6090-435B-8D0B-87F0FB5C3A73}"/>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95ce8c3b24d4f33"/>
          <a:stretch xmlns:a="http://schemas.openxmlformats.org/drawingml/2006/main"/>
        </p:blipFill>
        <p:spPr>
          <a:xfrm xmlns:a="http://schemas.openxmlformats.org/drawingml/2006/main">
            <a:off x="1524000" y="1467283"/>
            <a:ext cx="9144000" cy="39901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A2460F-1DB0-4AF7-8D38-E7070096AE08}"/>
              </a:ext>
            </a:extLst>
          </p:cNvPr>
          <p:cNvSpPr>
            <a:spLocks xmlns:a="http://schemas.openxmlformats.org/drawingml/2006/main" noGrp="1"/>
          </p:cNvSpPr>
          <p:nvPr/>
        </p:nvSpPr>
        <p:spPr>
          <a:xfrm xmlns:a="http://schemas.openxmlformats.org/drawingml/2006/main">
            <a:off x="609600" y="5572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296장     검증 107장     테스트 97장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비슷한 연속 사진이 학습과 평가에 함께 들어가는 것을 줄였습니다.</a:t>
            </a:r>
          </a:p>
        </p:txBody>
      </p:sp>
    </p:spTree>
    <p:extLst>
      <p:ext uri="{BB962C8B-B14F-4D97-AF65-F5344CB8AC3E}">
        <p14:creationId xmlns:p14="http://schemas.microsoft.com/office/powerpoint/2010/main" val="461360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5E1E57-23F2-45A6-AEB5-2E48466F72F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 전체 변형과 이물 합성 및 제거</a:t>
            </a:r>
          </a:p>
        </p:txBody>
      </p:sp>
      <p:sp>
        <p:nvSpPr>
          <p:cNvPr id="2" name="">
            <a:extLst xmlns:a="http://schemas.openxmlformats.org/drawingml/2006/main">
              <a:ext uri="{FF2B5EF4-FFF2-40B4-BE49-F238E27FC236}">
                <a16:creationId xmlns:a16="http://schemas.microsoft.com/office/drawing/2014/main" id="{D333E661-667A-4AA1-8957-F0D371DA8F9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2bf52ca78f0470f"/>
          <a:stretch xmlns:a="http://schemas.openxmlformats.org/drawingml/2006/main"/>
        </p:blipFill>
        <p:spPr>
          <a:xfrm xmlns:a="http://schemas.openxmlformats.org/drawingml/2006/main">
            <a:off x="2622021" y="1304925"/>
            <a:ext cx="6947958"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25A9F2-7775-4852-A430-A988268157A9}"/>
              </a:ext>
            </a:extLst>
          </p:cNvPr>
          <p:cNvSpPr>
            <a:spLocks xmlns:a="http://schemas.openxmlformats.org/drawingml/2006/main" noGrp="1"/>
          </p:cNvSpPr>
          <p:nvPr/>
        </p:nvSpPr>
        <p:spPr>
          <a:xfrm xmlns:a="http://schemas.openxmlformats.org/drawingml/2006/main">
            <a:off x="609600" y="6143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증강은 기본 학습 데이터셋에서만 만들었습니다. 검증·테스트에는 추가하지 않았습니다.</a:t>
            </a:r>
          </a:p>
        </p:txBody>
      </p:sp>
    </p:spTree>
    <p:extLst>
      <p:ext uri="{BB962C8B-B14F-4D97-AF65-F5344CB8AC3E}">
        <p14:creationId xmlns:p14="http://schemas.microsoft.com/office/powerpoint/2010/main" val="8451225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A4EC49-3648-4C81-8E30-D7EEB658847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전체 혼합 학습 자료 2,453장</a:t>
            </a:r>
          </a:p>
        </p:txBody>
      </p:sp>
      <p:sp>
        <p:nvSpPr>
          <p:cNvPr id="2" name="">
            <a:extLst xmlns:a="http://schemas.openxmlformats.org/drawingml/2006/main">
              <a:ext uri="{FF2B5EF4-FFF2-40B4-BE49-F238E27FC236}">
                <a16:creationId xmlns:a16="http://schemas.microsoft.com/office/drawing/2014/main" id="{C98A7843-7C36-426F-9F6D-EFF60B808AF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8</a:t>
            </a:r>
          </a:p>
        </p:txBody>
      </p:sp>
      <p:graphicFrame>
        <p:nvGraphicFramePr>
          <p:cNvPr id="10" name=""/>
          <p:cNvGraphicFramePr/>
          <p:nvPr/>
        </p:nvGraphicFramePr>
        <p:xfrm>
          <a:off xmlns:a="http://schemas.openxmlformats.org/drawingml/2006/main" x="609600" y="1438275"/>
          <a:ext xmlns:a="http://schemas.openxmlformats.org/drawingml/2006/main" cx="5905500" cy="4467225"/>
        </p:xfrm>
        <a:graphic xmlns:a="http://schemas.openxmlformats.org/drawingml/2006/main">
          <a:graphicData uri="http://schemas.openxmlformats.org/drawingml/2006/table">
            <a:tbl>
              <a:tblPr/>
              <a:tblGrid>
                <a:gridCol w="4286250"/>
                <a:gridCol w="1619250"/>
              </a:tblGrid>
              <a:tr h="638175">
                <a:tc>
                  <a:txBody>
                    <a:bodyPr lIns="133350" tIns="85725" rIns="114300" bIns="85725"/>
                    <a:lstStyle/>
                    <a:p>
                      <a:r>
                        <a:rPr sz="1875" b="1">
                          <a:solidFill>
                            <a:srgbClr val="FFFFFF"/>
                          </a:solidFill>
                          <a:latin typeface="Apple SD Gothic Neo"/>
                          <a:ea typeface="Apple SD Gothic Neo"/>
                          <a:cs typeface="Apple SD Gothic Neo"/>
                        </a:rPr>
                        <a:t>학습 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r>
              <a:tr h="638175">
                <a:tc>
                  <a:txBody>
                    <a:bodyPr lIns="133350" tIns="85725" rIns="114300" bIns="85725"/>
                    <a:lstStyle/>
                    <a:p>
                      <a:r>
                        <a:rPr sz="1875" b="0">
                          <a:solidFill>
                            <a:srgbClr val="162832"/>
                          </a:solidFill>
                          <a:latin typeface="Apple SD Gothic Neo"/>
                          <a:ea typeface="Apple SD Gothic Neo"/>
                          <a:cs typeface="Apple SD Gothic Neo"/>
                        </a:rPr>
                        <a:t>기본 학습</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296</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자르기와 전체 회전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885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이물 전부·일부 제거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175</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막대 밖 이물 합성</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295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자동 채택 의사 라벨</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802</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합계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2,453</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4B7CDD4-AC58-4DEE-9DBF-9E252BB3C30D}"/>
              </a:ext>
            </a:extLst>
          </p:cNvPr>
          <p:cNvSpPr>
            <a:spLocks xmlns:a="http://schemas.openxmlformats.org/drawingml/2006/main" noGrp="1"/>
          </p:cNvSpPr>
          <p:nvPr/>
        </p:nvSpPr>
        <p:spPr>
          <a:xfrm xmlns:a="http://schemas.openxmlformats.org/drawingml/2006/main">
            <a:off x="6991350" y="1762125"/>
            <a:ext cx="4429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추가 후보 1,900장 중</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네 예측의 합의와 영상 검사를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통과한 802장만 사용했습니다.</a:t>
            </a:r>
          </a:p>
        </p:txBody>
      </p:sp>
      <p:sp>
        <p:nvSpPr>
          <p:cNvPr id="5" name="">
            <a:extLst xmlns:a="http://schemas.openxmlformats.org/drawingml/2006/main">
              <a:ext uri="{FF2B5EF4-FFF2-40B4-BE49-F238E27FC236}">
                <a16:creationId xmlns:a16="http://schemas.microsoft.com/office/drawing/2014/main" id="{E97135A8-7041-4CDE-A95C-475128A9D91B}"/>
              </a:ext>
            </a:extLst>
          </p:cNvPr>
          <p:cNvSpPr>
            <a:spLocks xmlns:a="http://schemas.openxmlformats.org/drawingml/2006/main" noGrp="1"/>
          </p:cNvSpPr>
          <p:nvPr/>
        </p:nvSpPr>
        <p:spPr>
          <a:xfrm xmlns:a="http://schemas.openxmlformats.org/drawingml/2006/main">
            <a:off x="6991350" y="3771900"/>
            <a:ext cx="4429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의사 라벨은 공식 정답과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구분합니다. 무검출 사진을</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자동 정상으로 바꾸지 않습니다.</a:t>
            </a:r>
          </a:p>
        </p:txBody>
      </p:sp>
    </p:spTree>
    <p:extLst>
      <p:ext uri="{BB962C8B-B14F-4D97-AF65-F5344CB8AC3E}">
        <p14:creationId xmlns:p14="http://schemas.microsoft.com/office/powerpoint/2010/main" val="5191688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E282BF-FF87-409B-B58E-AC21710675DE}"/>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구조가 다른 네 모델의 비교 목적</a:t>
            </a:r>
          </a:p>
        </p:txBody>
      </p:sp>
      <p:sp>
        <p:nvSpPr>
          <p:cNvPr id="2" name="">
            <a:extLst xmlns:a="http://schemas.openxmlformats.org/drawingml/2006/main">
              <a:ext uri="{FF2B5EF4-FFF2-40B4-BE49-F238E27FC236}">
                <a16:creationId xmlns:a16="http://schemas.microsoft.com/office/drawing/2014/main" id="{D7E5723C-614D-4194-8401-AFD4FBDB7412}"/>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9</a:t>
            </a:r>
          </a:p>
        </p:txBody>
      </p:sp>
      <p:graphicFrame>
        <p:nvGraphicFramePr>
          <p:cNvPr id="9" name=""/>
          <p:cNvGraphicFramePr/>
          <p:nvPr/>
        </p:nvGraphicFramePr>
        <p:xfrm>
          <a:off xmlns:a="http://schemas.openxmlformats.org/drawingml/2006/main" x="609600" y="1514475"/>
          <a:ext xmlns:a="http://schemas.openxmlformats.org/drawingml/2006/main" cx="10972800" cy="3714750"/>
        </p:xfrm>
        <a:graphic xmlns:a="http://schemas.openxmlformats.org/drawingml/2006/main">
          <a:graphicData uri="http://schemas.openxmlformats.org/drawingml/2006/table">
            <a:tbl>
              <a:tblPr/>
              <a:tblGrid>
                <a:gridCol w="3524250"/>
                <a:gridCol w="3143250"/>
                <a:gridCol w="4305300"/>
              </a:tblGrid>
              <a:tr h="742950">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구조</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비교 목적</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CNN 한 단계 탐지</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가벼운 비교 기준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Faster R-CNN</a:t>
                      </a:r>
                    </a:p>
                    <a:p>
                      <a:r>
                        <a:rPr sz="1875" b="0">
                          <a:solidFill>
                            <a:srgbClr val="162832"/>
                          </a:solidFill>
                          <a:latin typeface="Apple SD Gothic Neo"/>
                          <a:ea typeface="Apple SD Gothic Neo"/>
                          <a:cs typeface="Apple SD Gothic Neo"/>
                        </a:rPr>
                        <a:t>ResNet50-FPN v2</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 두 단계 탐지</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후보 영역을 찾아 다시 판단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Vision Transformer</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영역 사이의 관계를 이용</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CNN과 Transformer</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박스 경계를 단계적으로 보정</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6842C66A-E00B-45C1-A50B-E9AB1174AB47}"/>
              </a:ext>
            </a:extLst>
          </p:cNvPr>
          <p:cNvSpPr>
            <a:spLocks xmlns:a="http://schemas.openxmlformats.org/drawingml/2006/main" noGrp="1"/>
          </p:cNvSpPr>
          <p:nvPr/>
        </p:nvSpPr>
        <p:spPr>
          <a:xfrm xmlns:a="http://schemas.openxmlformats.org/drawingml/2006/main">
            <a:off x="609600" y="55626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정답 박스의 긴 변 중앙값은 11픽셀입니다.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작은 이물의 위치를 맞추는 능력과 처리 시간을 함께 비교합니다.</a:t>
            </a:r>
          </a:p>
        </p:txBody>
      </p:sp>
    </p:spTree>
    <p:extLst>
      <p:ext uri="{BB962C8B-B14F-4D97-AF65-F5344CB8AC3E}">
        <p14:creationId xmlns:p14="http://schemas.microsoft.com/office/powerpoint/2010/main" val="5130374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DC0795-3873-48FE-BAEA-5A4C360E2D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탐지 점수와 박스 겹침은 다른 기준</a:t>
            </a:r>
          </a:p>
        </p:txBody>
      </p:sp>
      <p:sp>
        <p:nvSpPr>
          <p:cNvPr id="2" name="">
            <a:extLst xmlns:a="http://schemas.openxmlformats.org/drawingml/2006/main">
              <a:ext uri="{FF2B5EF4-FFF2-40B4-BE49-F238E27FC236}">
                <a16:creationId xmlns:a16="http://schemas.microsoft.com/office/drawing/2014/main" id="{B666FC32-25A7-49A3-8832-B61D48E27F71}"/>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ac06541d046430e"/>
          <a:stretch xmlns:a="http://schemas.openxmlformats.org/drawingml/2006/main"/>
        </p:blipFill>
        <p:spPr>
          <a:xfrm xmlns:a="http://schemas.openxmlformats.org/drawingml/2006/main">
            <a:off x="609600" y="1438275"/>
            <a:ext cx="7429500" cy="4705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A7B9BF-23D8-4BF6-8097-A3C0EAE3292C}"/>
              </a:ext>
            </a:extLst>
          </p:cNvPr>
          <p:cNvSpPr>
            <a:spLocks xmlns:a="http://schemas.openxmlformats.org/drawingml/2006/main" noGrp="1"/>
          </p:cNvSpPr>
          <p:nvPr/>
        </p:nvSpPr>
        <p:spPr>
          <a:xfrm xmlns:a="http://schemas.openxmlformats.org/drawingml/2006/main">
            <a:off x="8410575" y="1800225"/>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임계값</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점수가 기준 이상인</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예측 박스를 채택합니다.</a:t>
            </a:r>
          </a:p>
        </p:txBody>
      </p:sp>
      <p:sp>
        <p:nvSpPr>
          <p:cNvPr id="5" name="">
            <a:extLst xmlns:a="http://schemas.openxmlformats.org/drawingml/2006/main">
              <a:ext uri="{FF2B5EF4-FFF2-40B4-BE49-F238E27FC236}">
                <a16:creationId xmlns:a16="http://schemas.microsoft.com/office/drawing/2014/main" id="{3556030F-9975-4B12-A52C-955173780101}"/>
              </a:ext>
            </a:extLst>
          </p:cNvPr>
          <p:cNvSpPr>
            <a:spLocks xmlns:a="http://schemas.openxmlformats.org/drawingml/2006/main" noGrp="1"/>
          </p:cNvSpPr>
          <p:nvPr/>
        </p:nvSpPr>
        <p:spPr>
          <a:xfrm xmlns:a="http://schemas.openxmlformats.org/drawingml/2006/main">
            <a:off x="8410575" y="3810000"/>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IoU 0.5</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정답과 충분히 겹쳐야</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성공으로 셉니다.</a:t>
            </a:r>
          </a:p>
        </p:txBody>
      </p:sp>
    </p:spTree>
    <p:extLst>
      <p:ext uri="{BB962C8B-B14F-4D97-AF65-F5344CB8AC3E}">
        <p14:creationId xmlns:p14="http://schemas.microsoft.com/office/powerpoint/2010/main" val="2895731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57A201-71DB-462D-BCE6-71EDA0583F7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모든 epoch를 같은 검증 기준으로 비교</a:t>
            </a:r>
          </a:p>
        </p:txBody>
      </p:sp>
      <p:sp>
        <p:nvSpPr>
          <p:cNvPr id="2" name="">
            <a:extLst xmlns:a="http://schemas.openxmlformats.org/drawingml/2006/main">
              <a:ext uri="{FF2B5EF4-FFF2-40B4-BE49-F238E27FC236}">
                <a16:creationId xmlns:a16="http://schemas.microsoft.com/office/drawing/2014/main" id="{5E14DEE5-417B-456B-95CF-F8BCC54AEF24}"/>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C06574BC-58D3-46B8-B3FC-C7F5A5767333}"/>
              </a:ext>
            </a:extLst>
          </p:cNvPr>
          <p:cNvSpPr>
            <a:spLocks xmlns:a="http://schemas.openxmlformats.org/drawingml/2006/main" noGrp="1"/>
          </p:cNvSpPr>
          <p:nvPr/>
        </p:nvSpPr>
        <p:spPr>
          <a:xfrm xmlns:a="http://schemas.openxmlformats.org/drawingml/2006/main">
            <a:off x="609600" y="1676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1. 같은 학습 2,453장과 검증 107장을 사용합니다.</a:t>
            </a:r>
          </a:p>
        </p:txBody>
      </p:sp>
      <p:sp>
        <p:nvSpPr>
          <p:cNvPr id="4" name="">
            <a:extLst xmlns:a="http://schemas.openxmlformats.org/drawingml/2006/main">
              <a:ext uri="{FF2B5EF4-FFF2-40B4-BE49-F238E27FC236}">
                <a16:creationId xmlns:a16="http://schemas.microsoft.com/office/drawing/2014/main" id="{2328F838-250D-4D37-B591-2016B48905EE}"/>
              </a:ext>
            </a:extLst>
          </p:cNvPr>
          <p:cNvSpPr>
            <a:spLocks xmlns:a="http://schemas.openxmlformats.org/drawingml/2006/main" noGrp="1"/>
          </p:cNvSpPr>
          <p:nvPr/>
        </p:nvSpPr>
        <p:spPr>
          <a:xfrm xmlns:a="http://schemas.openxmlformats.org/drawingml/2006/main">
            <a:off x="609600" y="26098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2. 매 epoch 저장본을 공통 채점기로 평가합니다.</a:t>
            </a:r>
          </a:p>
        </p:txBody>
      </p:sp>
      <p:sp>
        <p:nvSpPr>
          <p:cNvPr id="5" name="">
            <a:extLst xmlns:a="http://schemas.openxmlformats.org/drawingml/2006/main">
              <a:ext uri="{FF2B5EF4-FFF2-40B4-BE49-F238E27FC236}">
                <a16:creationId xmlns:a16="http://schemas.microsoft.com/office/drawing/2014/main" id="{E2FA1099-3DAB-43B6-92DE-290054C7B3F7}"/>
              </a:ext>
            </a:extLst>
          </p:cNvPr>
          <p:cNvSpPr>
            <a:spLocks xmlns:a="http://schemas.openxmlformats.org/drawingml/2006/main" noGrp="1"/>
          </p:cNvSpPr>
          <p:nvPr/>
        </p:nvSpPr>
        <p:spPr>
          <a:xfrm xmlns:a="http://schemas.openxmlformats.org/drawingml/2006/main">
            <a:off x="609600" y="35433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3. 검증 F1로 저장본을 고르고 탐지 임계값을 고정합니다.</a:t>
            </a:r>
          </a:p>
        </p:txBody>
      </p:sp>
      <p:sp>
        <p:nvSpPr>
          <p:cNvPr id="6" name="">
            <a:extLst xmlns:a="http://schemas.openxmlformats.org/drawingml/2006/main">
              <a:ext uri="{FF2B5EF4-FFF2-40B4-BE49-F238E27FC236}">
                <a16:creationId xmlns:a16="http://schemas.microsoft.com/office/drawing/2014/main" id="{95764F9F-A10D-4DF4-B951-2EC6757ECF84}"/>
              </a:ext>
            </a:extLst>
          </p:cNvPr>
          <p:cNvSpPr>
            <a:spLocks xmlns:a="http://schemas.openxmlformats.org/drawingml/2006/main" noGrp="1"/>
          </p:cNvSpPr>
          <p:nvPr/>
        </p:nvSpPr>
        <p:spPr>
          <a:xfrm xmlns:a="http://schemas.openxmlformats.org/drawingml/2006/main">
            <a:off x="609600" y="4476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4. 고정한 모델과 임계값으로 테스트 결과를 확인합니다.</a:t>
            </a:r>
          </a:p>
        </p:txBody>
      </p:sp>
      <p:sp>
        <p:nvSpPr>
          <p:cNvPr id="7" name="">
            <a:extLst xmlns:a="http://schemas.openxmlformats.org/drawingml/2006/main">
              <a:ext uri="{FF2B5EF4-FFF2-40B4-BE49-F238E27FC236}">
                <a16:creationId xmlns:a16="http://schemas.microsoft.com/office/drawing/2014/main" id="{B3963521-F618-4A5A-9888-90CC1B14E366}"/>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53616A"/>
                </a:solidFill>
                <a:latin typeface="Apple SD Gothic Neo"/>
                <a:ea typeface="Apple SD Gothic Neo"/>
                <a:cs typeface="Apple SD Gothic Neo"/>
              </a:defRPr>
            </a:pPr>
            <a:r>
              <a:rPr sz="1800" b="0">
                <a:solidFill>
                  <a:srgbClr val="53616A"/>
                </a:solidFill>
                <a:latin typeface="Apple SD Gothic Neo"/>
                <a:ea typeface="Apple SD Gothic Neo"/>
                <a:cs typeface="Apple SD Gothic Neo"/>
              </a:rPr>
              <a:t>20epoch 예산, 해상도 512, seed 0. 동점은 재현율·AP@0.75·이른 epoch 순서로 처리합니다.</a:t>
            </a:r>
          </a:p>
        </p:txBody>
      </p:sp>
    </p:spTree>
    <p:extLst>
      <p:ext uri="{BB962C8B-B14F-4D97-AF65-F5344CB8AC3E}">
        <p14:creationId xmlns:p14="http://schemas.microsoft.com/office/powerpoint/2010/main" val="12456966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68CE25-AE1D-4544-BFD4-619EC2DCAFA6}"/>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공통 검증에서 선택한 네 모델의 결과</a:t>
            </a:r>
          </a:p>
        </p:txBody>
      </p:sp>
      <p:sp>
        <p:nvSpPr>
          <p:cNvPr id="2" name="">
            <a:extLst xmlns:a="http://schemas.openxmlformats.org/drawingml/2006/main">
              <a:ext uri="{FF2B5EF4-FFF2-40B4-BE49-F238E27FC236}">
                <a16:creationId xmlns:a16="http://schemas.microsoft.com/office/drawing/2014/main" id="{44731B9B-C3B2-4E97-9350-43EAF423044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12</a:t>
            </a:r>
          </a:p>
        </p:txBody>
      </p:sp>
      <p:sp>
        <p:nvSpPr>
          <p:cNvPr id="4" name="">
            <a:extLst xmlns:a="http://schemas.openxmlformats.org/drawingml/2006/main">
              <a:ext uri="{FF2B5EF4-FFF2-40B4-BE49-F238E27FC236}">
                <a16:creationId xmlns:a16="http://schemas.microsoft.com/office/drawing/2014/main" id="{E849713A-57AC-436E-9474-560A2D0FA19D}"/>
              </a:ext>
            </a:extLst>
          </p:cNvPr>
          <p:cNvSpPr>
            <a:spLocks xmlns:a="http://schemas.openxmlformats.org/drawingml/2006/main" noGrp="1"/>
          </p:cNvSpPr>
          <p:nvPr/>
        </p:nvSpPr>
        <p:spPr>
          <a:xfrm xmlns:a="http://schemas.openxmlformats.org/drawingml/2006/main">
            <a:off x="609600" y="47910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선택 epoch는 YOLO 20, Faster 17, RF-DETR 8, D-FINE 11입니다.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모델과 탐지 임계값을 검증에서 고정한 뒤 테스트했습니다.</a:t>
            </a:r>
          </a:p>
        </p:txBody>
      </p:sp>
      <p:sp>
        <p:nvSpPr>
          <p:cNvPr id="5" name="">
            <a:extLst xmlns:a="http://schemas.openxmlformats.org/drawingml/2006/main">
              <a:ext uri="{FF2B5EF4-FFF2-40B4-BE49-F238E27FC236}">
                <a16:creationId xmlns:a16="http://schemas.microsoft.com/office/drawing/2014/main" id="{C14DD1B1-EA1B-4205-9A59-987AF7079813}"/>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IoU 0.5 기준. D-FINE 검증 F1: 선택 당시 CUDA 0.9856, 후속 MPS 0.9835. 정상 제품의 오경보율은 미검증입니다.</a:t>
            </a:r>
          </a:p>
        </p:txBody>
      </p:sp>
      <p:graphicFrame>
        <p:nvGraphicFramePr>
          <p:cNvPr id="12" name=""/>
          <p:cNvGraphicFramePr/>
          <p:nvPr/>
        </p:nvGraphicFramePr>
        <p:xfrm>
          <a:off xmlns:a="http://schemas.openxmlformats.org/drawingml/2006/main" x="609600" y="1562100"/>
          <a:ext xmlns:a="http://schemas.openxmlformats.org/drawingml/2006/main" cx="10972800" cy="2924175"/>
        </p:xfrm>
        <a:graphic xmlns:a="http://schemas.openxmlformats.org/drawingml/2006/main">
          <a:graphicData uri="http://schemas.openxmlformats.org/drawingml/2006/table">
            <a:tbl>
              <a:tblPr/>
              <a:tblGrid>
                <a:gridCol w="3429000"/>
                <a:gridCol w="2190750"/>
                <a:gridCol w="2190750"/>
                <a:gridCol w="3162300"/>
              </a:tblGrid>
              <a:tr h="58483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TP / FP / FN</a:t>
                      </a:r>
                    </a:p>
                  </a:txBody>
                  <a:tcPr marL="91440" marR="91440" marT="45720" marB="45720" anchor="ctr">
                    <a:solidFill>
                      <a:srgbClr val="193C4D"/>
                    </a:solidFill>
                  </a:tcPr>
                </a:tc>
              </a:tr>
              <a:tr h="58483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0.9889</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222 / 2 / 3</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0.9867</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222 / 3 / 3</a:t>
                      </a:r>
                    </a:p>
                  </a:txBody>
                  <a:tcPr marL="91440" marR="91440" marT="45720" marB="45720" anchor="ctr">
                    <a:solidFill>
                      <a:srgbClr val="F1F5F6"/>
                    </a:solidFill>
                  </a:tcPr>
                </a:tc>
              </a:tr>
              <a:tr h="58483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0.9800</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220 / 4 / 5</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0.9756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220 / 6 / 5</a:t>
                      </a:r>
                    </a:p>
                  </a:txBody>
                  <a:tcPr marL="91440" marR="91440" marT="45720" marB="45720" anchor="ctr">
                    <a:solidFill>
                      <a:srgbClr val="F1F5F6"/>
                    </a:solidFill>
                  </a:tcPr>
                </a:tc>
              </a:tr>
            </a:tbl>
          </a:graphicData>
        </a:graphic>
      </p:graphicFrame>
    </p:spTree>
    <p:extLst>
      <p:ext uri="{BB962C8B-B14F-4D97-AF65-F5344CB8AC3E}">
        <p14:creationId xmlns:p14="http://schemas.microsoft.com/office/powerpoint/2010/main" val="15287160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6F96D1-DB39-4C33-8B6F-3AAB9FB2940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이물을 찾은 표시와 박스 위치 채점</a:t>
            </a:r>
          </a:p>
        </p:txBody>
      </p:sp>
      <p:sp>
        <p:nvSpPr>
          <p:cNvPr id="2" name="">
            <a:extLst xmlns:a="http://schemas.openxmlformats.org/drawingml/2006/main">
              <a:ext uri="{FF2B5EF4-FFF2-40B4-BE49-F238E27FC236}">
                <a16:creationId xmlns:a16="http://schemas.microsoft.com/office/drawing/2014/main" id="{C5CE5AB0-7276-4431-AFB0-E961FB2CDE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542ebde091449d2"/>
          <a:stretch xmlns:a="http://schemas.openxmlformats.org/drawingml/2006/main"/>
        </p:blipFill>
        <p:spPr>
          <a:xfrm xmlns:a="http://schemas.openxmlformats.org/drawingml/2006/main">
            <a:off x="2043545" y="1628775"/>
            <a:ext cx="8104909" cy="2743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594385-4462-4AAE-8224-F5ED8C17C676}"/>
              </a:ext>
            </a:extLst>
          </p:cNvPr>
          <p:cNvSpPr>
            <a:spLocks xmlns:a="http://schemas.openxmlformats.org/drawingml/2006/main" noGrp="1"/>
          </p:cNvSpPr>
          <p:nvPr/>
        </p:nvSpPr>
        <p:spPr>
          <a:xfrm xmlns:a="http://schemas.openxmlformats.org/drawingml/2006/main">
            <a:off x="609600" y="4648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네 모델 모두 검은 점을 표시했지만 IoU는 0.5 미만입니다.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위치 기준 FN과 이물을 전혀 표시하지 못한 경우를 구분합니다.</a:t>
            </a:r>
          </a:p>
        </p:txBody>
      </p:sp>
      <p:sp>
        <p:nvSpPr>
          <p:cNvPr id="5" name="">
            <a:extLst xmlns:a="http://schemas.openxmlformats.org/drawingml/2006/main">
              <a:ext uri="{FF2B5EF4-FFF2-40B4-BE49-F238E27FC236}">
                <a16:creationId xmlns:a16="http://schemas.microsoft.com/office/drawing/2014/main" id="{48F32546-7CEC-4301-914E-3D548D04BDC3}"/>
              </a:ext>
            </a:extLst>
          </p:cNvPr>
          <p:cNvSpPr>
            <a:spLocks xmlns:a="http://schemas.openxmlformats.org/drawingml/2006/main" noGrp="1"/>
          </p:cNvSpPr>
          <p:nvPr/>
        </p:nvSpPr>
        <p:spPr>
          <a:xfrm xmlns:a="http://schemas.openxmlformats.org/drawingml/2006/main">
            <a:off x="609600" y="5876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모델별 FN 총 16건 중 14건이 근처 박스 사례입니다. 서로 다른 이물은 9개입니다.</a:t>
            </a:r>
          </a:p>
        </p:txBody>
      </p:sp>
    </p:spTree>
    <p:extLst>
      <p:ext uri="{BB962C8B-B14F-4D97-AF65-F5344CB8AC3E}">
        <p14:creationId xmlns:p14="http://schemas.microsoft.com/office/powerpoint/2010/main" val="3703142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FC7FF3-D1B0-4122-9F47-09BE74BFFDA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AI 보조 시각 평가</a:t>
            </a:r>
          </a:p>
        </p:txBody>
      </p:sp>
      <p:graphicFrame>
        <p:nvGraphicFramePr>
          <p:cNvPr id="9" name=""/>
          <p:cNvGraphicFramePr/>
          <p:nvPr/>
        </p:nvGraphicFramePr>
        <p:xfrm>
          <a:off xmlns:a="http://schemas.openxmlformats.org/drawingml/2006/main" x="609600" y="1543050"/>
          <a:ext xmlns:a="http://schemas.openxmlformats.org/drawingml/2006/main" cx="10972800" cy="2905125"/>
        </p:xfrm>
        <a:graphic xmlns:a="http://schemas.openxmlformats.org/drawingml/2006/main">
          <a:graphicData uri="http://schemas.openxmlformats.org/drawingml/2006/table">
            <a:tbl>
              <a:tblPr/>
              <a:tblGrid>
                <a:gridCol w="4095750"/>
                <a:gridCol w="3714750"/>
                <a:gridCol w="3162300"/>
              </a:tblGrid>
              <a:tr h="58102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TP / FP / FN</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AI 보조 F1</a:t>
                      </a:r>
                    </a:p>
                  </a:txBody>
                  <a:tcPr marL="91440" marR="91440" marT="45720" marB="45720" anchor="ctr">
                    <a:solidFill>
                      <a:srgbClr val="193C4D"/>
                    </a:solidFill>
                  </a:tcPr>
                </a:tc>
              </a:tr>
              <a:tr h="58102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224 / 0 / 1</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FFFFF"/>
                    </a:solidFill>
                  </a:tcPr>
                </a:tc>
              </a:tr>
              <a:tr h="58102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225 / 0 / 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1.0000</a:t>
                      </a:r>
                    </a:p>
                  </a:txBody>
                  <a:tcPr marL="91440" marR="91440" marT="45720" marB="45720" anchor="ctr">
                    <a:solidFill>
                      <a:srgbClr val="F1F5F6"/>
                    </a:solidFill>
                  </a:tcPr>
                </a:tc>
              </a:tr>
              <a:tr h="58102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224 / 0 / 1</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FFFFF"/>
                    </a:solidFill>
                  </a:tcPr>
                </a:tc>
              </a:tr>
              <a:tr h="58102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225 / 1 / 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889026F8-A664-4EDC-B469-6EF52A946CDE}"/>
              </a:ext>
            </a:extLst>
          </p:cNvPr>
          <p:cNvSpPr>
            <a:spLocks xmlns:a="http://schemas.openxmlformats.org/drawingml/2006/main" noGrp="1"/>
          </p:cNvSpPr>
          <p:nvPr/>
        </p:nvSpPr>
        <p:spPr>
          <a:xfrm xmlns:a="http://schemas.openxmlformats.org/drawingml/2006/main">
            <a:off x="609600" y="47815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테스트 97장·공식 이물 225개에서 검은 중심 표시와 중복을 확인했습니다.</a:t>
            </a:r>
          </a:p>
        </p:txBody>
      </p:sp>
      <p:sp>
        <p:nvSpPr>
          <p:cNvPr id="4" name="">
            <a:extLst xmlns:a="http://schemas.openxmlformats.org/drawingml/2006/main">
              <a:ext uri="{FF2B5EF4-FFF2-40B4-BE49-F238E27FC236}">
                <a16:creationId xmlns:a16="http://schemas.microsoft.com/office/drawing/2014/main" id="{C2EDCEA8-3661-4326-9839-F50A75E25C3D}"/>
              </a:ext>
            </a:extLst>
          </p:cNvPr>
          <p:cNvSpPr>
            <a:spLocks xmlns:a="http://schemas.openxmlformats.org/drawingml/2006/main" noGrp="1"/>
          </p:cNvSpPr>
          <p:nvPr/>
        </p:nvSpPr>
        <p:spPr>
          <a:xfrm xmlns:a="http://schemas.openxmlformats.org/drawingml/2006/main">
            <a:off x="609600" y="5381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단일 AI 검토의 탐색적 결과입니다. 전문가 일치도와 평가자 오류율은 미검증입니다.</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공식 IoU 결과를 보존하며 공장 무결점 성능으로 해석하지 않습니다.</a:t>
            </a:r>
          </a:p>
        </p:txBody>
      </p:sp>
      <p:sp>
        <p:nvSpPr>
          <p:cNvPr id="5" name="">
            <a:extLst xmlns:a="http://schemas.openxmlformats.org/drawingml/2006/main">
              <a:ext uri="{FF2B5EF4-FFF2-40B4-BE49-F238E27FC236}">
                <a16:creationId xmlns:a16="http://schemas.microsoft.com/office/drawing/2014/main" id="{503F932F-8F55-4559-8AD8-1DBDFCE130F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14</a:t>
            </a:r>
          </a:p>
        </p:txBody>
      </p:sp>
    </p:spTree>
    <p:extLst>
      <p:ext uri="{BB962C8B-B14F-4D97-AF65-F5344CB8AC3E}">
        <p14:creationId xmlns:p14="http://schemas.microsoft.com/office/powerpoint/2010/main" val="19771776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1B615B-DFA6-4901-8C73-F51FD389693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사진에 표시가 없는 경우와 현장 재검사</a:t>
            </a:r>
          </a:p>
        </p:txBody>
      </p:sp>
      <p:sp>
        <p:nvSpPr>
          <p:cNvPr id="2" name="">
            <a:extLst xmlns:a="http://schemas.openxmlformats.org/drawingml/2006/main">
              <a:ext uri="{FF2B5EF4-FFF2-40B4-BE49-F238E27FC236}">
                <a16:creationId xmlns:a16="http://schemas.microsoft.com/office/drawing/2014/main" id="{3DEA511F-A446-4D54-B749-2FEB14AD809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15</a:t>
            </a:r>
          </a:p>
        </p:txBody>
      </p:sp>
      <p:graphicFrame>
        <p:nvGraphicFramePr>
          <p:cNvPr id="9" name=""/>
          <p:cNvGraphicFramePr/>
          <p:nvPr/>
        </p:nvGraphicFramePr>
        <p:xfrm>
          <a:off xmlns:a="http://schemas.openxmlformats.org/drawingml/2006/main" x="609600" y="1628775"/>
          <a:ext xmlns:a="http://schemas.openxmlformats.org/drawingml/2006/main" cx="10972800" cy="3105150"/>
        </p:xfrm>
        <a:graphic xmlns:a="http://schemas.openxmlformats.org/drawingml/2006/main">
          <a:graphicData uri="http://schemas.openxmlformats.org/drawingml/2006/table">
            <a:tbl>
              <a:tblPr/>
              <a:tblGrid>
                <a:gridCol w="3429000"/>
                <a:gridCol w="7543800"/>
              </a:tblGrid>
              <a:tr h="776288">
                <a:tc>
                  <a:txBody>
                    <a:bodyPr lIns="133350" tIns="85725" rIns="114300" bIns="85725"/>
                    <a:lstStyle/>
                    <a:p>
                      <a:r>
                        <a:rPr sz="1875" b="1">
                          <a:solidFill>
                            <a:srgbClr val="FFFFFF"/>
                          </a:solidFill>
                          <a:latin typeface="Apple SD Gothic Neo"/>
                          <a:ea typeface="Apple SD Gothic Neo"/>
                          <a:cs typeface="Apple SD Gothic Neo"/>
                        </a:rPr>
                        <a:t>판정</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처리 원칙</a:t>
                      </a:r>
                    </a:p>
                  </a:txBody>
                  <a:tcPr marL="91440" marR="91440" marT="45720" marB="45720" anchor="ctr">
                    <a:solidFill>
                      <a:srgbClr val="193C4D"/>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REJECT</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의심이 큰 제품을 분리</a:t>
                      </a:r>
                    </a:p>
                  </a:txBody>
                  <a:tcPr marL="91440" marR="91440" marT="45720" marB="45720" anchor="ctr">
                    <a:solidFill>
                      <a:srgbClr val="FFFFFF"/>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RE-INSPECTION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애매한 점수·입력 문제·무검출은 재검사 또는 보류</a:t>
                      </a:r>
                    </a:p>
                  </a:txBody>
                  <a:tcPr marL="91440" marR="91440" marT="45720" marB="45720" anchor="ctr">
                    <a:solidFill>
                      <a:srgbClr val="F1F5F6"/>
                    </a:solidFill>
                  </a:tcPr>
                </a:tc>
              </a:tr>
              <a:tr h="776288">
                <a:tc>
                  <a:txBody>
                    <a:bodyPr lIns="133350" tIns="85725" rIns="114300" bIns="85725"/>
                    <a:lstStyle/>
                    <a:p>
                      <a:r>
                        <a:rPr sz="1875" b="0">
                          <a:solidFill>
                            <a:srgbClr val="162832"/>
                          </a:solidFill>
                          <a:latin typeface="Apple SD Gothic Neo"/>
                          <a:ea typeface="Apple SD Gothic Neo"/>
                          <a:cs typeface="Apple SD Gothic Neo"/>
                        </a:rPr>
                        <a:t>PASS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대표 정상·이상 제품 검증 후 도입. 현재 비활성</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E47CE52-439E-471E-91C4-64ED2D466EEF}"/>
              </a:ext>
            </a:extLst>
          </p:cNvPr>
          <p:cNvSpPr>
            <a:spLocks xmlns:a="http://schemas.openxmlformats.org/drawingml/2006/main" noGrp="1"/>
          </p:cNvSpPr>
          <p:nvPr/>
        </p:nvSpPr>
        <p:spPr>
          <a:xfrm xmlns:a="http://schemas.openxmlformats.org/drawingml/2006/main">
            <a:off x="609600" y="51244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표시 없는 이물 사진: YOLO·RF-DETR 각 1장, Faster·D-FINE 각 0장.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제품 출하 시험은 아니며, 정상 제품 오경보율은 미검증입니다.</a:t>
            </a:r>
          </a:p>
        </p:txBody>
      </p:sp>
    </p:spTree>
    <p:extLst>
      <p:ext uri="{BB962C8B-B14F-4D97-AF65-F5344CB8AC3E}">
        <p14:creationId xmlns:p14="http://schemas.microsoft.com/office/powerpoint/2010/main" val="16744374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249F72-873B-4CB6-AE5C-A03BB29D9F19}"/>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식품 공장의 AI 보조검사 적용안</a:t>
            </a:r>
          </a:p>
        </p:txBody>
      </p:sp>
      <p:sp>
        <p:nvSpPr>
          <p:cNvPr id="2" name="">
            <a:extLst xmlns:a="http://schemas.openxmlformats.org/drawingml/2006/main">
              <a:ext uri="{FF2B5EF4-FFF2-40B4-BE49-F238E27FC236}">
                <a16:creationId xmlns:a16="http://schemas.microsoft.com/office/drawing/2014/main" id="{6A65B12D-01D8-487A-AECE-F6EF875BEA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16</a:t>
            </a:r>
          </a:p>
        </p:txBody>
      </p:sp>
      <p:sp>
        <p:nvSpPr>
          <p:cNvPr id="3" name="">
            <a:extLst xmlns:a="http://schemas.openxmlformats.org/drawingml/2006/main">
              <a:ext uri="{FF2B5EF4-FFF2-40B4-BE49-F238E27FC236}">
                <a16:creationId xmlns:a16="http://schemas.microsoft.com/office/drawing/2014/main" id="{77D6F10C-7B54-4635-BC11-5C5718812226}"/>
              </a:ext>
            </a:extLst>
          </p:cNvPr>
          <p:cNvSpPr>
            <a:spLocks xmlns:a="http://schemas.openxmlformats.org/drawingml/2006/main" noGrp="1"/>
          </p:cNvSpPr>
          <p:nvPr/>
        </p:nvSpPr>
        <p:spPr>
          <a:xfrm xmlns:a="http://schemas.openxmlformats.org/drawingml/2006/main">
            <a:off x="609600" y="16764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촬영 사진과 제품 식별자·시각·호기를 연결합니다.</a:t>
            </a:r>
          </a:p>
        </p:txBody>
      </p:sp>
      <p:sp>
        <p:nvSpPr>
          <p:cNvPr id="4" name="">
            <a:extLst xmlns:a="http://schemas.openxmlformats.org/drawingml/2006/main">
              <a:ext uri="{FF2B5EF4-FFF2-40B4-BE49-F238E27FC236}">
                <a16:creationId xmlns:a16="http://schemas.microsoft.com/office/drawing/2014/main" id="{089BA926-338B-4356-A4C7-A7DA45FF6A16}"/>
              </a:ext>
            </a:extLst>
          </p:cNvPr>
          <p:cNvSpPr>
            <a:spLocks xmlns:a="http://schemas.openxmlformats.org/drawingml/2006/main" noGrp="1"/>
          </p:cNvSpPr>
          <p:nvPr/>
        </p:nvSpPr>
        <p:spPr>
          <a:xfrm xmlns:a="http://schemas.openxmlformats.org/drawingml/2006/main">
            <a:off x="609600" y="2571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현장 PC가 의심 위치와 점수를 계산하여 작업자에게 보여 줍니다.</a:t>
            </a:r>
          </a:p>
        </p:txBody>
      </p:sp>
      <p:sp>
        <p:nvSpPr>
          <p:cNvPr id="5" name="">
            <a:extLst xmlns:a="http://schemas.openxmlformats.org/drawingml/2006/main">
              <a:ext uri="{FF2B5EF4-FFF2-40B4-BE49-F238E27FC236}">
                <a16:creationId xmlns:a16="http://schemas.microsoft.com/office/drawing/2014/main" id="{3AA67269-E598-4895-BFDB-48C7759CC345}"/>
              </a:ext>
            </a:extLst>
          </p:cNvPr>
          <p:cNvSpPr>
            <a:spLocks xmlns:a="http://schemas.openxmlformats.org/drawingml/2006/main" noGrp="1"/>
          </p:cNvSpPr>
          <p:nvPr/>
        </p:nvSpPr>
        <p:spPr>
          <a:xfrm xmlns:a="http://schemas.openxmlformats.org/drawingml/2006/main">
            <a:off x="609600" y="3467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작업자는 의심 제품을 분리하고 재검사 결과를 기록합니다.</a:t>
            </a:r>
          </a:p>
        </p:txBody>
      </p:sp>
      <p:sp>
        <p:nvSpPr>
          <p:cNvPr id="6" name="">
            <a:extLst xmlns:a="http://schemas.openxmlformats.org/drawingml/2006/main">
              <a:ext uri="{FF2B5EF4-FFF2-40B4-BE49-F238E27FC236}">
                <a16:creationId xmlns:a16="http://schemas.microsoft.com/office/drawing/2014/main" id="{4DCB7C08-6811-4B26-B7C8-60072C61BAF7}"/>
              </a:ext>
            </a:extLst>
          </p:cNvPr>
          <p:cNvSpPr>
            <a:spLocks xmlns:a="http://schemas.openxmlformats.org/drawingml/2006/main" noGrp="1"/>
          </p:cNvSpPr>
          <p:nvPr/>
        </p:nvSpPr>
        <p:spPr>
          <a:xfrm xmlns:a="http://schemas.openxmlformats.org/drawingml/2006/main">
            <a:off x="609600" y="4362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검증 후 설비 제어기와 연결하고 실제 분리 여부를 확인합니다.</a:t>
            </a:r>
          </a:p>
        </p:txBody>
      </p:sp>
      <p:sp>
        <p:nvSpPr>
          <p:cNvPr id="7" name="">
            <a:extLst xmlns:a="http://schemas.openxmlformats.org/drawingml/2006/main">
              <a:ext uri="{FF2B5EF4-FFF2-40B4-BE49-F238E27FC236}">
                <a16:creationId xmlns:a16="http://schemas.microsoft.com/office/drawing/2014/main" id="{7077BC36-E69C-4D03-8D50-793E6DA5D22B}"/>
              </a:ext>
            </a:extLst>
          </p:cNvPr>
          <p:cNvSpPr>
            <a:spLocks xmlns:a="http://schemas.openxmlformats.org/drawingml/2006/main" noGrp="1"/>
          </p:cNvSpPr>
          <p:nvPr/>
        </p:nvSpPr>
        <p:spPr>
          <a:xfrm xmlns:a="http://schemas.openxmlformats.org/drawingml/2006/main">
            <a:off x="609600" y="57816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53616A"/>
                </a:solidFill>
                <a:latin typeface="Apple SD Gothic Neo"/>
                <a:ea typeface="Apple SD Gothic Neo"/>
                <a:cs typeface="Apple SD Gothic Neo"/>
              </a:defRPr>
            </a:pPr>
            <a:r>
              <a:rPr sz="1875" b="0">
                <a:solidFill>
                  <a:srgbClr val="53616A"/>
                </a:solidFill>
                <a:latin typeface="Apple SD Gothic Neo"/>
                <a:ea typeface="Apple SD Gothic Neo"/>
                <a:cs typeface="Apple SD Gothic Neo"/>
              </a:rPr>
              <a:t>초기에는 기존 검사와 병행합니다. AI가 기존 경보를 취소하거나 출하를 승인하지 않습니다.</a:t>
            </a:r>
          </a:p>
        </p:txBody>
      </p:sp>
    </p:spTree>
    <p:extLst>
      <p:ext uri="{BB962C8B-B14F-4D97-AF65-F5344CB8AC3E}">
        <p14:creationId xmlns:p14="http://schemas.microsoft.com/office/powerpoint/2010/main" val="181605150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EACF22-E9C0-453B-939C-E76DD761E7C9}"/>
              </a:ext>
            </a:extLst>
          </p:cNvPr>
          <p:cNvSpPr>
            <a:spLocks xmlns:a="http://schemas.openxmlformats.org/drawingml/2006/main" noGrp="1"/>
          </p:cNvSpPr>
          <p:nvPr/>
        </p:nvSpPr>
        <p:spPr>
          <a:xfrm xmlns:a="http://schemas.openxmlformats.org/drawingml/2006/main">
            <a:off x="609600" y="361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00" b="1">
                <a:solidFill>
                  <a:srgbClr val="162832"/>
                </a:solidFill>
                <a:latin typeface="Apple SD Gothic Neo"/>
                <a:ea typeface="Apple SD Gothic Neo"/>
                <a:cs typeface="Apple SD Gothic Neo"/>
              </a:defRPr>
            </a:pPr>
            <a:r>
              <a:rPr sz="3000" b="1">
                <a:solidFill>
                  <a:srgbClr val="162832"/>
                </a:solidFill>
                <a:latin typeface="Apple SD Gothic Neo"/>
                <a:ea typeface="Apple SD Gothic Neo"/>
                <a:cs typeface="Apple SD Gothic Neo"/>
              </a:rPr>
              <a:t>초기 시제품의 선택적 추가 검사</a:t>
            </a:r>
          </a:p>
        </p:txBody>
      </p:sp>
      <p:sp>
        <p:nvSpPr>
          <p:cNvPr id="2" name="">
            <a:extLst xmlns:a="http://schemas.openxmlformats.org/drawingml/2006/main">
              <a:ext uri="{FF2B5EF4-FFF2-40B4-BE49-F238E27FC236}">
                <a16:creationId xmlns:a16="http://schemas.microsoft.com/office/drawing/2014/main" id="{302C3A70-FCEA-4966-AAEC-70CDA6745D42}"/>
              </a:ext>
            </a:extLst>
          </p:cNvPr>
          <p:cNvSpPr>
            <a:spLocks xmlns:a="http://schemas.openxmlformats.org/drawingml/2006/main" noGrp="1"/>
          </p:cNvSpPr>
          <p:nvPr/>
        </p:nvSpPr>
        <p:spPr>
          <a:xfrm xmlns:a="http://schemas.openxmlformats.org/drawingml/2006/main">
            <a:off x="609600" y="13811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YOLO가 원래 사진과 반전 사진을 비교합니다.</a:t>
            </a:r>
          </a:p>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위치나 박스 수가 달라진 사진은 RF-DETR-S가 전체 사진을 다시 검사합니다.</a:t>
            </a:r>
          </a:p>
        </p:txBody>
      </p:sp>
      <p:graphicFrame>
        <p:nvGraphicFramePr>
          <p:cNvPr id="10" name=""/>
          <p:cNvGraphicFramePr/>
          <p:nvPr/>
        </p:nvGraphicFramePr>
        <p:xfrm>
          <a:off xmlns:a="http://schemas.openxmlformats.org/drawingml/2006/main" x="609600" y="2447925"/>
          <a:ext xmlns:a="http://schemas.openxmlformats.org/drawingml/2006/main" cx="10972800" cy="2619375"/>
        </p:xfrm>
        <a:graphic xmlns:a="http://schemas.openxmlformats.org/drawingml/2006/main">
          <a:graphicData uri="http://schemas.openxmlformats.org/drawingml/2006/table">
            <a:tbl>
              <a:tblPr/>
              <a:tblGrid>
                <a:gridCol w="4048125"/>
                <a:gridCol w="6924675"/>
              </a:tblGrid>
              <a:tr h="523875">
                <a:tc>
                  <a:txBody>
                    <a:bodyPr lIns="133350" tIns="85725" rIns="114300" bIns="85725"/>
                    <a:lstStyle/>
                    <a:p>
                      <a:r>
                        <a:rPr sz="1875" b="1">
                          <a:solidFill>
                            <a:srgbClr val="FFFFFF"/>
                          </a:solidFill>
                          <a:latin typeface="Apple SD Gothic Neo"/>
                          <a:ea typeface="Apple SD Gothic Neo"/>
                          <a:cs typeface="Apple SD Gothic Neo"/>
                        </a:rPr>
                        <a:t>측정 항목</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107장, 맥북 MPS, 3회 반복</a:t>
                      </a:r>
                    </a:p>
                  </a:txBody>
                  <a:tcPr marL="91440" marR="91440" marT="45720" marB="45720" anchor="ctr">
                    <a:solidFill>
                      <a:srgbClr val="193C4D"/>
                    </a:solidFill>
                  </a:tcPr>
                </a:tc>
              </a:tr>
              <a:tr h="523875">
                <a:tc>
                  <a:txBody>
                    <a:bodyPr lIns="133350" tIns="85725" rIns="114300" bIns="85725"/>
                    <a:lstStyle/>
                    <a:p>
                      <a:r>
                        <a:rPr sz="1875" b="0">
                          <a:solidFill>
                            <a:srgbClr val="162832"/>
                          </a:solidFill>
                          <a:latin typeface="Apple SD Gothic Neo"/>
                          <a:ea typeface="Apple SD Gothic Neo"/>
                          <a:cs typeface="Apple SD Gothic Neo"/>
                        </a:rPr>
                        <a:t>두 번째 모델 실행</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회당 8장</a:t>
                      </a:r>
                    </a:p>
                  </a:txBody>
                  <a:tcPr marL="91440" marR="91440" marT="45720" marB="45720" anchor="ctr">
                    <a:solidFill>
                      <a:srgbClr val="FFFFFF"/>
                    </a:solidFill>
                  </a:tcPr>
                </a:tc>
              </a:tr>
              <a:tr h="523875">
                <a:tc>
                  <a:txBody>
                    <a:bodyPr lIns="133350" tIns="85725" rIns="114300" bIns="85725"/>
                    <a:lstStyle/>
                    <a:p>
                      <a:r>
                        <a:rPr sz="1875" b="0">
                          <a:solidFill>
                            <a:srgbClr val="162832"/>
                          </a:solidFill>
                          <a:latin typeface="Apple SD Gothic Neo"/>
                          <a:ea typeface="Apple SD Gothic Neo"/>
                          <a:cs typeface="Apple SD Gothic Neo"/>
                        </a:rPr>
                        <a:t>모델 간 의견 충돌</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회당 1장, 두 결과를 보존하고 재검사</a:t>
                      </a:r>
                    </a:p>
                  </a:txBody>
                  <a:tcPr marL="91440" marR="91440" marT="45720" marB="45720" anchor="ctr">
                    <a:solidFill>
                      <a:srgbClr val="F1F5F6"/>
                    </a:solidFill>
                  </a:tcPr>
                </a:tc>
              </a:tr>
              <a:tr h="523875">
                <a:tc>
                  <a:txBody>
                    <a:bodyPr lIns="133350" tIns="85725" rIns="114300" bIns="85725"/>
                    <a:lstStyle/>
                    <a:p>
                      <a:r>
                        <a:rPr sz="1875" b="0">
                          <a:solidFill>
                            <a:srgbClr val="162832"/>
                          </a:solidFill>
                          <a:latin typeface="Apple SD Gothic Neo"/>
                          <a:ea typeface="Apple SD Gothic Neo"/>
                          <a:cs typeface="Apple SD Gothic Neo"/>
                        </a:rPr>
                        <a:t>평균 / P95 지연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19.03 / 43.56 ms</a:t>
                      </a:r>
                    </a:p>
                  </a:txBody>
                  <a:tcPr marL="91440" marR="91440" marT="45720" marB="45720" anchor="ctr">
                    <a:solidFill>
                      <a:srgbClr val="FFFFFF"/>
                    </a:solidFill>
                  </a:tcPr>
                </a:tc>
              </a:tr>
              <a:tr h="523875">
                <a:tc>
                  <a:txBody>
                    <a:bodyPr lIns="133350" tIns="85725" rIns="114300" bIns="85725"/>
                    <a:lstStyle/>
                    <a:p>
                      <a:r>
                        <a:rPr sz="1875" b="0">
                          <a:solidFill>
                            <a:srgbClr val="162832"/>
                          </a:solidFill>
                          <a:latin typeface="Apple SD Gothic Neo"/>
                          <a:ea typeface="Apple SD Gothic Neo"/>
                          <a:cs typeface="Apple SD Gothic Neo"/>
                        </a:rPr>
                        <a:t>실행 오류 / 시간 초과</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321회 검사에서 0회 / 0회</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1570C421-F21B-4711-85C8-75D49EB69DE4}"/>
              </a:ext>
            </a:extLst>
          </p:cNvPr>
          <p:cNvSpPr>
            <a:spLocks xmlns:a="http://schemas.openxmlformats.org/drawingml/2006/main" noGrp="1"/>
          </p:cNvSpPr>
          <p:nvPr/>
        </p:nvSpPr>
        <p:spPr>
          <a:xfrm xmlns:a="http://schemas.openxmlformats.org/drawingml/2006/main">
            <a:off x="609600" y="5381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두 모델을 메모리에 올린 뒤 측정했습니다. 촬영·색 네모 제거·설비·대기 시간은 제외했습니다.</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개발용 시간 예산이며 실제 공장 처리 속도를 보장하지 않습니다. 자동 PASS는 없습니다.</a:t>
            </a:r>
          </a:p>
        </p:txBody>
      </p:sp>
      <p:sp>
        <p:nvSpPr>
          <p:cNvPr id="5" name="">
            <a:extLst xmlns:a="http://schemas.openxmlformats.org/drawingml/2006/main">
              <a:ext uri="{FF2B5EF4-FFF2-40B4-BE49-F238E27FC236}">
                <a16:creationId xmlns:a16="http://schemas.microsoft.com/office/drawing/2014/main" id="{E72B02DD-E28B-401D-9FA5-8F7CE34FD78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17</a:t>
            </a:r>
          </a:p>
        </p:txBody>
      </p:sp>
    </p:spTree>
    <p:extLst>
      <p:ext uri="{BB962C8B-B14F-4D97-AF65-F5344CB8AC3E}">
        <p14:creationId xmlns:p14="http://schemas.microsoft.com/office/powerpoint/2010/main" val="19483349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3815CF-BDAF-433D-84D5-CDC0E6CBE11B}"/>
              </a:ext>
            </a:extLst>
          </p:cNvPr>
          <p:cNvSpPr>
            <a:spLocks xmlns:a="http://schemas.openxmlformats.org/drawingml/2006/main" noGrp="1"/>
          </p:cNvSpPr>
          <p:nvPr/>
        </p:nvSpPr>
        <p:spPr>
          <a:xfrm xmlns:a="http://schemas.openxmlformats.org/drawingml/2006/main">
            <a:off x="609600" y="361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판단 충돌과 추가 학습 결정</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c7d014934ae47aa"/>
          <a:stretch xmlns:a="http://schemas.openxmlformats.org/drawingml/2006/main"/>
        </p:blipFill>
        <p:spPr>
          <a:xfrm xmlns:a="http://schemas.openxmlformats.org/drawingml/2006/main">
            <a:off x="2130217" y="1381125"/>
            <a:ext cx="7931565"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C96AC61-CC4E-4429-8B85-B9A4BCBB94F7}"/>
              </a:ext>
            </a:extLst>
          </p:cNvPr>
          <p:cNvSpPr>
            <a:spLocks xmlns:a="http://schemas.openxmlformats.org/drawingml/2006/main" noGrp="1"/>
          </p:cNvSpPr>
          <p:nvPr/>
        </p:nvSpPr>
        <p:spPr>
          <a:xfrm xmlns:a="http://schemas.openxmlformats.org/drawingml/2006/main">
            <a:off x="609600" y="4629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추가 박스의 실제 이물 여부는 불명확합니다. 두 결과를 보존하고 재검사합니다.</a:t>
            </a:r>
          </a:p>
        </p:txBody>
      </p:sp>
      <p:sp>
        <p:nvSpPr>
          <p:cNvPr id="4" name="">
            <a:extLst xmlns:a="http://schemas.openxmlformats.org/drawingml/2006/main">
              <a:ext uri="{FF2B5EF4-FFF2-40B4-BE49-F238E27FC236}">
                <a16:creationId xmlns:a16="http://schemas.microsoft.com/office/drawing/2014/main" id="{6BF07447-31D9-47E0-B184-64136FE5EAF1}"/>
              </a:ext>
            </a:extLst>
          </p:cNvPr>
          <p:cNvSpPr>
            <a:spLocks xmlns:a="http://schemas.openxmlformats.org/drawingml/2006/main" noGrp="1"/>
          </p:cNvSpPr>
          <p:nvPr/>
        </p:nvSpPr>
        <p:spPr>
          <a:xfrm xmlns:a="http://schemas.openxmlformats.org/drawingml/2006/main">
            <a:off x="609600" y="52197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초기 검토 10장·공식 이물 28개에서 중심 표시 누락은 확인되지 않았습니다.</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이후 확대·분할 입력 적응을 각각 3epoch 시험했습니다. 뒤에서 결과를 비교합니다.</a:t>
            </a:r>
          </a:p>
        </p:txBody>
      </p:sp>
      <p:sp>
        <p:nvSpPr>
          <p:cNvPr id="5" name="">
            <a:extLst xmlns:a="http://schemas.openxmlformats.org/drawingml/2006/main">
              <a:ext uri="{FF2B5EF4-FFF2-40B4-BE49-F238E27FC236}">
                <a16:creationId xmlns:a16="http://schemas.microsoft.com/office/drawing/2014/main" id="{6D8931A1-D0FD-4443-9681-F1A622254B38}"/>
              </a:ext>
            </a:extLst>
          </p:cNvPr>
          <p:cNvSpPr>
            <a:spLocks xmlns:a="http://schemas.openxmlformats.org/drawingml/2006/main" noGrp="1"/>
          </p:cNvSpPr>
          <p:nvPr/>
        </p:nvSpPr>
        <p:spPr>
          <a:xfrm xmlns:a="http://schemas.openxmlformats.org/drawingml/2006/main">
            <a:off x="609600" y="6124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00" b="0">
                <a:solidFill>
                  <a:srgbClr val="162832"/>
                </a:solidFill>
                <a:latin typeface="Apple SD Gothic Neo"/>
                <a:ea typeface="Apple SD Gothic Neo"/>
                <a:cs typeface="Apple SD Gothic Neo"/>
              </a:defRPr>
            </a:pPr>
            <a:r>
              <a:rPr sz="1500" b="0">
                <a:solidFill>
                  <a:srgbClr val="162832"/>
                </a:solidFill>
                <a:latin typeface="Apple SD Gothic Neo"/>
                <a:ea typeface="Apple SD Gothic Neo"/>
                <a:cs typeface="Apple SD Gothic Neo"/>
              </a:rPr>
              <a:t>이물 한 곳 주변의 박스만 표시한 예시입니다. 전체 검증·정상 제품 평가 결과는 아닙니다.</a:t>
            </a:r>
          </a:p>
        </p:txBody>
      </p:sp>
      <p:sp>
        <p:nvSpPr>
          <p:cNvPr id="6" name="">
            <a:extLst xmlns:a="http://schemas.openxmlformats.org/drawingml/2006/main">
              <a:ext uri="{FF2B5EF4-FFF2-40B4-BE49-F238E27FC236}">
                <a16:creationId xmlns:a16="http://schemas.microsoft.com/office/drawing/2014/main" id="{08F6A220-DFBD-42B8-90C8-D1F1B6010C1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18</a:t>
            </a:r>
          </a:p>
        </p:txBody>
      </p:sp>
    </p:spTree>
    <p:extLst>
      <p:ext uri="{BB962C8B-B14F-4D97-AF65-F5344CB8AC3E}">
        <p14:creationId xmlns:p14="http://schemas.microsoft.com/office/powerpoint/2010/main" val="17632721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5027B5-8FC5-4962-A428-5843417E1D08}"/>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최신 모델도 같은 조건으로 비교했습니다</a:t>
            </a:r>
          </a:p>
        </p:txBody>
      </p:sp>
      <p:graphicFrame>
        <p:nvGraphicFramePr>
          <p:cNvPr id="10" name=""/>
          <p:cNvGraphicFramePr/>
          <p:nvPr/>
        </p:nvGraphicFramePr>
        <p:xfrm>
          <a:off xmlns:a="http://schemas.openxmlformats.org/drawingml/2006/main" x="609600" y="1457325"/>
          <a:ext xmlns:a="http://schemas.openxmlformats.org/drawingml/2006/main" cx="10972800" cy="2305050"/>
        </p:xfrm>
        <a:graphic xmlns:a="http://schemas.openxmlformats.org/drawingml/2006/main">
          <a:graphicData uri="http://schemas.openxmlformats.org/drawingml/2006/table">
            <a:tbl>
              <a:tblPr/>
              <a:tblGrid>
                <a:gridCol w="3333750"/>
                <a:gridCol w="2476500"/>
                <a:gridCol w="2667000"/>
                <a:gridCol w="2495550"/>
              </a:tblGrid>
              <a:tr h="576263">
                <a:tc>
                  <a:txBody>
                    <a:bodyPr lIns="133350" tIns="76200" rIns="114300" bIns="76200"/>
                    <a:lstStyle/>
                    <a:p>
                      <a:r>
                        <a:rPr sz="1800"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검증 FP / FN</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테스트 F1</a:t>
                      </a:r>
                    </a:p>
                  </a:txBody>
                  <a:tcPr marL="91440" marR="91440" marT="45720" marB="45720" anchor="ctr">
                    <a:solidFill>
                      <a:srgbClr val="193C4D"/>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0.9856</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4 / 3</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0.9889</a:t>
                      </a:r>
                    </a:p>
                  </a:txBody>
                  <a:tcPr marL="91440" marR="91440" marT="45720" marB="45720" anchor="ctr">
                    <a:solidFill>
                      <a:srgbClr val="FFFFFF"/>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YOLO11n</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0.9877</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3 / 3</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0.9643</a:t>
                      </a:r>
                    </a:p>
                  </a:txBody>
                  <a:tcPr marL="91440" marR="91440" marT="45720" marB="45720" anchor="ctr">
                    <a:solidFill>
                      <a:srgbClr val="F1F5F6"/>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YOLO26n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0.9877</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3 / 3</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0.9733</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2463221-EE12-4DCC-8ED0-7D1931152717}"/>
              </a:ext>
            </a:extLst>
          </p:cNvPr>
          <p:cNvSpPr>
            <a:spLocks xmlns:a="http://schemas.openxmlformats.org/drawingml/2006/main" noGrp="1"/>
          </p:cNvSpPr>
          <p:nvPr/>
        </p:nvSpPr>
        <p:spPr>
          <a:xfrm xmlns:a="http://schemas.openxmlformats.org/drawingml/2006/main">
            <a:off x="609600" y="4048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학습 2453장 · 20epoch · batch 8 · 512픽셀 · AdamW · seed 0</a:t>
            </a:r>
          </a:p>
        </p:txBody>
      </p:sp>
      <p:sp>
        <p:nvSpPr>
          <p:cNvPr id="4" name="">
            <a:extLst xmlns:a="http://schemas.openxmlformats.org/drawingml/2006/main">
              <a:ext uri="{FF2B5EF4-FFF2-40B4-BE49-F238E27FC236}">
                <a16:creationId xmlns:a16="http://schemas.microsoft.com/office/drawing/2014/main" id="{A103A98A-F8EB-4605-87B7-159F0F2F7386}"/>
              </a:ext>
            </a:extLst>
          </p:cNvPr>
          <p:cNvSpPr>
            <a:spLocks xmlns:a="http://schemas.openxmlformats.org/drawingml/2006/main" noGrp="1"/>
          </p:cNvSpPr>
          <p:nvPr/>
        </p:nvSpPr>
        <p:spPr>
          <a:xfrm xmlns:a="http://schemas.openxmlformats.org/drawingml/2006/main">
            <a:off x="609600" y="4714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검증의 작은 차이는 안정적인 우월성을 입증하지 못했습니다.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테스트에서 최신 모델의 성능 향상은 확인되지 않았습니다.</a:t>
            </a:r>
          </a:p>
        </p:txBody>
      </p:sp>
      <p:sp>
        <p:nvSpPr>
          <p:cNvPr id="5" name="">
            <a:extLst xmlns:a="http://schemas.openxmlformats.org/drawingml/2006/main">
              <a:ext uri="{FF2B5EF4-FFF2-40B4-BE49-F238E27FC236}">
                <a16:creationId xmlns:a16="http://schemas.microsoft.com/office/drawing/2014/main" id="{A16A58DC-192F-4FF1-B98A-96967D0C93CA}"/>
              </a:ext>
            </a:extLst>
          </p:cNvPr>
          <p:cNvSpPr>
            <a:spLocks xmlns:a="http://schemas.openxmlformats.org/drawingml/2006/main" noGrp="1"/>
          </p:cNvSpPr>
          <p:nvPr/>
        </p:nvSpPr>
        <p:spPr>
          <a:xfrm xmlns:a="http://schemas.openxmlformats.org/drawingml/2006/main">
            <a:off x="609600" y="5743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162832"/>
                </a:solidFill>
                <a:latin typeface="Apple SD Gothic Neo"/>
                <a:ea typeface="Apple SD Gothic Neo"/>
                <a:cs typeface="Apple SD Gothic Neo"/>
              </a:defRPr>
            </a:pPr>
            <a:r>
              <a:rPr sz="1650" b="0">
                <a:solidFill>
                  <a:srgbClr val="162832"/>
                </a:solidFill>
                <a:latin typeface="Apple SD Gothic Neo"/>
                <a:ea typeface="Apple SD Gothic Neo"/>
                <a:cs typeface="Apple SD Gothic Neo"/>
              </a:rPr>
              <a:t>검증에서 저장본·임계값을 고정했습니다. 이미 본 테스트이며 새 독립 시험은 아닙니다.</a:t>
            </a:r>
          </a:p>
          <a:p xmlns:a="http://schemas.openxmlformats.org/drawingml/2006/main">
            <a:pPr>
              <a:buNone/>
              <a:defRPr sz="1650" b="0">
                <a:solidFill>
                  <a:srgbClr val="162832"/>
                </a:solidFill>
                <a:latin typeface="Apple SD Gothic Neo"/>
                <a:ea typeface="Apple SD Gothic Neo"/>
                <a:cs typeface="Apple SD Gothic Neo"/>
              </a:defRPr>
            </a:pPr>
            <a:r>
              <a:rPr sz="1650" b="0">
                <a:solidFill>
                  <a:srgbClr val="162832"/>
                </a:solidFill>
                <a:latin typeface="Apple SD Gothic Neo"/>
                <a:ea typeface="Apple SD Gothic Neo"/>
                <a:cs typeface="Apple SD Gothic Neo"/>
              </a:rPr>
              <a:t>YOLO26은 end2end=false 경로입니다. 각 모델의 최적 기본 학습법 비교는 아닙니다.</a:t>
            </a:r>
          </a:p>
        </p:txBody>
      </p:sp>
      <p:sp>
        <p:nvSpPr>
          <p:cNvPr id="6" name="">
            <a:extLst xmlns:a="http://schemas.openxmlformats.org/drawingml/2006/main">
              <a:ext uri="{FF2B5EF4-FFF2-40B4-BE49-F238E27FC236}">
                <a16:creationId xmlns:a16="http://schemas.microsoft.com/office/drawing/2014/main" id="{E3281E1A-9028-43C8-8043-036FB71E50D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19</a:t>
            </a:r>
          </a:p>
        </p:txBody>
      </p:sp>
    </p:spTree>
    <p:extLst>
      <p:ext uri="{BB962C8B-B14F-4D97-AF65-F5344CB8AC3E}">
        <p14:creationId xmlns:p14="http://schemas.microsoft.com/office/powerpoint/2010/main" val="209783056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62B5EB-563F-483A-B1A8-7D1A309DB092}"/>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추가 모델은 공통 오류로 비교했습니다</a:t>
            </a:r>
          </a:p>
        </p:txBody>
      </p:sp>
      <p:graphicFrame>
        <p:nvGraphicFramePr>
          <p:cNvPr id="10" name=""/>
          <p:cNvGraphicFramePr/>
          <p:nvPr/>
        </p:nvGraphicFramePr>
        <p:xfrm>
          <a:off xmlns:a="http://schemas.openxmlformats.org/drawingml/2006/main" x="609600" y="1381125"/>
          <a:ext xmlns:a="http://schemas.openxmlformats.org/drawingml/2006/main" cx="10972800" cy="2381250"/>
        </p:xfrm>
        <a:graphic xmlns:a="http://schemas.openxmlformats.org/drawingml/2006/main">
          <a:graphicData uri="http://schemas.openxmlformats.org/drawingml/2006/table">
            <a:tbl>
              <a:tblPr/>
              <a:tblGrid>
                <a:gridCol w="4286250"/>
                <a:gridCol w="3476625"/>
                <a:gridCol w="3209925"/>
              </a:tblGrid>
              <a:tr h="595313">
                <a:tc>
                  <a:txBody>
                    <a:bodyPr lIns="133350" tIns="76200" rIns="114300" bIns="76200"/>
                    <a:lstStyle/>
                    <a:p>
                      <a:r>
                        <a:rPr sz="1800" b="1">
                          <a:solidFill>
                            <a:srgbClr val="FFFFFF"/>
                          </a:solidFill>
                          <a:latin typeface="Apple SD Gothic Neo"/>
                          <a:ea typeface="Apple SD Gothic Neo"/>
                          <a:cs typeface="Apple SD Gothic Neo"/>
                        </a:rPr>
                        <a:t>YOLOv8n의 추가 모델</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두 모델의 공통 위치 FN</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추가 모델 자체 FP / FN</a:t>
                      </a:r>
                    </a:p>
                  </a:txBody>
                  <a:tcPr marL="91440" marR="91440" marT="45720" marB="45720" anchor="ctr">
                    <a:solidFill>
                      <a:srgbClr val="193C4D"/>
                    </a:solidFill>
                  </a:tcPr>
                </a:tc>
              </a:tr>
              <a:tr h="595313">
                <a:tc>
                  <a:txBody>
                    <a:bodyPr lIns="133350" tIns="76200" rIns="114300" bIns="76200"/>
                    <a:lstStyle/>
                    <a:p>
                      <a:r>
                        <a:rPr sz="1800" b="0">
                          <a:solidFill>
                            <a:srgbClr val="162832"/>
                          </a:solidFill>
                          <a:latin typeface="Apple SD Gothic Neo"/>
                          <a:ea typeface="Apple SD Gothic Neo"/>
                          <a:cs typeface="Apple SD Gothic Neo"/>
                        </a:rPr>
                        <a:t>Faster R-CNN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2 / 2</a:t>
                      </a:r>
                    </a:p>
                  </a:txBody>
                  <a:tcPr marL="91440" marR="91440" marT="45720" marB="45720" anchor="ctr">
                    <a:solidFill>
                      <a:srgbClr val="FFFFFF"/>
                    </a:solidFill>
                  </a:tcPr>
                </a:tc>
              </a:tr>
              <a:tr h="595313">
                <a:tc>
                  <a:txBody>
                    <a:bodyPr lIns="133350" tIns="76200" rIns="114300" bIns="76200"/>
                    <a:lstStyle/>
                    <a:p>
                      <a:r>
                        <a:rPr sz="1800" b="0">
                          <a:solidFill>
                            <a:srgbClr val="162832"/>
                          </a:solidFill>
                          <a:latin typeface="Apple SD Gothic Neo"/>
                          <a:ea typeface="Apple SD Gothic Neo"/>
                          <a:cs typeface="Apple SD Gothic Neo"/>
                        </a:rPr>
                        <a:t>RF-DETR-S</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1</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2 / 2</a:t>
                      </a:r>
                    </a:p>
                  </a:txBody>
                  <a:tcPr marL="91440" marR="91440" marT="45720" marB="45720" anchor="ctr">
                    <a:solidFill>
                      <a:srgbClr val="F1F5F6"/>
                    </a:solidFill>
                  </a:tcPr>
                </a:tc>
              </a:tr>
              <a:tr h="595313">
                <a:tc>
                  <a:txBody>
                    <a:bodyPr lIns="133350" tIns="76200" rIns="114300" bIns="76200"/>
                    <a:lstStyle/>
                    <a:p>
                      <a:r>
                        <a:rPr sz="1800" b="0">
                          <a:solidFill>
                            <a:srgbClr val="162832"/>
                          </a:solidFill>
                          <a:latin typeface="Apple SD Gothic Neo"/>
                          <a:ea typeface="Apple SD Gothic Neo"/>
                          <a:cs typeface="Apple SD Gothic Neo"/>
                        </a:rPr>
                        <a:t>D-FINE-S</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4 / 4</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EA82B5B-0DA9-4F09-98EE-379EDF028BCF}"/>
              </a:ext>
            </a:extLst>
          </p:cNvPr>
          <p:cNvSpPr>
            <a:spLocks xmlns:a="http://schemas.openxmlformats.org/drawingml/2006/main" noGrp="1"/>
          </p:cNvSpPr>
          <p:nvPr/>
        </p:nvSpPr>
        <p:spPr>
          <a:xfrm xmlns:a="http://schemas.openxmlformats.org/drawingml/2006/main">
            <a:off x="609600" y="40576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개발 선택: YOLOv8n + RF-DETR-S 전체 사진 검사</a:t>
            </a:r>
          </a:p>
        </p:txBody>
      </p:sp>
      <p:sp>
        <p:nvSpPr>
          <p:cNvPr id="4" name="">
            <a:extLst xmlns:a="http://schemas.openxmlformats.org/drawingml/2006/main">
              <a:ext uri="{FF2B5EF4-FFF2-40B4-BE49-F238E27FC236}">
                <a16:creationId xmlns:a16="http://schemas.microsoft.com/office/drawing/2014/main" id="{965A9151-F7C1-48DB-B58D-A01EB72FD927}"/>
              </a:ext>
            </a:extLst>
          </p:cNvPr>
          <p:cNvSpPr>
            <a:spLocks xmlns:a="http://schemas.openxmlformats.org/drawingml/2006/main" noGrp="1"/>
          </p:cNvSpPr>
          <p:nvPr/>
        </p:nvSpPr>
        <p:spPr>
          <a:xfrm xmlns:a="http://schemas.openxmlformats.org/drawingml/2006/main">
            <a:off x="609600" y="48387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전체 사진 107장 × 3회: 평균 36.55ms, P95 44.49ms</a:t>
            </a:r>
          </a:p>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RF 단독 38.29ms, Faster 1396.65ms. 개별 성능과 속도를 함께 고려했습니다.</a:t>
            </a:r>
          </a:p>
        </p:txBody>
      </p:sp>
      <p:sp>
        <p:nvSpPr>
          <p:cNvPr id="5" name="">
            <a:extLst xmlns:a="http://schemas.openxmlformats.org/drawingml/2006/main">
              <a:ext uri="{FF2B5EF4-FFF2-40B4-BE49-F238E27FC236}">
                <a16:creationId xmlns:a16="http://schemas.microsoft.com/office/drawing/2014/main" id="{53190D22-737B-4CBF-8E42-E1899980BAA5}"/>
              </a:ext>
            </a:extLst>
          </p:cNvPr>
          <p:cNvSpPr>
            <a:spLocks xmlns:a="http://schemas.openxmlformats.org/drawingml/2006/main" noGrp="1"/>
          </p:cNvSpPr>
          <p:nvPr/>
        </p:nvSpPr>
        <p:spPr>
          <a:xfrm xmlns:a="http://schemas.openxmlformats.org/drawingml/2006/main">
            <a:off x="609600" y="591502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공통 FN은 정답으로 사후 계산한 위치 오류입니다. RF의 공통 FN 1개가 남았습니다.</a:t>
            </a:r>
          </a:p>
          <a:p xmlns:a="http://schemas.openxmlformats.org/drawingml/2006/main">
            <a:pPr>
              <a:buNone/>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단일 모델과 통합 실행은 측정 시점·범위가 다릅니다. 공장 성능은 미검증입니다.</a:t>
            </a:r>
          </a:p>
        </p:txBody>
      </p:sp>
      <p:sp>
        <p:nvSpPr>
          <p:cNvPr id="6" name="">
            <a:extLst xmlns:a="http://schemas.openxmlformats.org/drawingml/2006/main">
              <a:ext uri="{FF2B5EF4-FFF2-40B4-BE49-F238E27FC236}">
                <a16:creationId xmlns:a16="http://schemas.microsoft.com/office/drawing/2014/main" id="{B0E9DF68-ECBD-4F19-927D-DFA2F892D83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20</a:t>
            </a:r>
          </a:p>
        </p:txBody>
      </p:sp>
    </p:spTree>
    <p:extLst>
      <p:ext uri="{BB962C8B-B14F-4D97-AF65-F5344CB8AC3E}">
        <p14:creationId xmlns:p14="http://schemas.microsoft.com/office/powerpoint/2010/main" val="887103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47DC64F-CC07-47A5-81D4-439F09C2D5FE}"/>
              </a:ext>
            </a:extLst>
          </p:cNvPr>
          <p:cNvSpPr>
            <a:spLocks xmlns:a="http://schemas.openxmlformats.org/drawingml/2006/main" noGrp="1"/>
          </p:cNvSpPr>
          <p:nvPr/>
        </p:nvSpPr>
        <p:spPr>
          <a:xfrm xmlns:a="http://schemas.openxmlformats.org/drawingml/2006/main">
            <a:off x="609600" y="3619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62832"/>
                </a:solidFill>
                <a:latin typeface="Apple SD Gothic Neo"/>
                <a:ea typeface="Apple SD Gothic Neo"/>
                <a:cs typeface="Apple SD Gothic Neo"/>
              </a:defRPr>
            </a:pPr>
            <a:r>
              <a:rPr sz="3000" b="1">
                <a:solidFill>
                  <a:srgbClr val="162832"/>
                </a:solidFill>
                <a:latin typeface="Apple SD Gothic Neo"/>
                <a:ea typeface="Apple SD Gothic Neo"/>
                <a:cs typeface="Apple SD Gothic Neo"/>
              </a:rPr>
              <a:t>같은 전체 사진을 두 모델이 각각 검사합니다</a:t>
            </a:r>
          </a:p>
        </p:txBody>
      </p:sp>
      <p:sp>
        <p:nvSpPr>
          <p:cNvPr id="2" name="">
            <a:extLst xmlns:a="http://schemas.openxmlformats.org/drawingml/2006/main">
              <a:ext uri="{FF2B5EF4-FFF2-40B4-BE49-F238E27FC236}">
                <a16:creationId xmlns:a16="http://schemas.microsoft.com/office/drawing/2014/main" id="{CAF0025D-0744-4663-BB45-E3C327A11D1A}"/>
              </a:ext>
            </a:extLst>
          </p:cNvPr>
          <p:cNvSpPr>
            <a:spLocks xmlns:a="http://schemas.openxmlformats.org/drawingml/2006/main" noGrp="1"/>
          </p:cNvSpPr>
          <p:nvPr/>
        </p:nvSpPr>
        <p:spPr>
          <a:xfrm xmlns:a="http://schemas.openxmlformats.org/drawingml/2006/main">
            <a:off x="3238500" y="1323975"/>
            <a:ext cx="5715000" cy="533400"/>
          </a:xfrm>
          <a:prstGeom xmlns:a="http://schemas.openxmlformats.org/drawingml/2006/main" prst="rect">
            <a:avLst/>
          </a:prstGeom>
          <a:solidFill xmlns:a="http://schemas.openxmlformats.org/drawingml/2006/main">
            <a:srgbClr val="EDF3F6"/>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입력 | 색 네모를 제거한 전체 사진</a:t>
            </a:r>
          </a:p>
        </p:txBody>
      </p:sp>
      <p:sp>
        <p:nvSpPr>
          <p:cNvPr id="3" name="">
            <a:extLst xmlns:a="http://schemas.openxmlformats.org/drawingml/2006/main">
              <a:ext uri="{FF2B5EF4-FFF2-40B4-BE49-F238E27FC236}">
                <a16:creationId xmlns:a16="http://schemas.microsoft.com/office/drawing/2014/main" id="{81A44C7E-0AFE-4580-96FD-8F881A5A6F30}"/>
              </a:ext>
            </a:extLst>
          </p:cNvPr>
          <p:cNvSpPr>
            <a:spLocks xmlns:a="http://schemas.openxmlformats.org/drawingml/2006/main" noGrp="1"/>
          </p:cNvSpPr>
          <p:nvPr/>
        </p:nvSpPr>
        <p:spPr>
          <a:xfrm xmlns:a="http://schemas.openxmlformats.org/drawingml/2006/main">
            <a:off x="952500" y="2362200"/>
            <a:ext cx="4476750" cy="828675"/>
          </a:xfrm>
          <a:prstGeom xmlns:a="http://schemas.openxmlformats.org/drawingml/2006/main" prst="rect">
            <a:avLst/>
          </a:prstGeom>
          <a:solidFill xmlns:a="http://schemas.openxmlformats.org/drawingml/2006/main">
            <a:srgbClr val="EDF3F6"/>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모델 | YOLOv8n</a:t>
            </a:r>
          </a:p>
          <a:p xmlns:a="http://schemas.openxmlformats.org/drawingml/2006/main">
            <a:pPr algn="ctr">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사진 전체 검사</a:t>
            </a:r>
          </a:p>
        </p:txBody>
      </p:sp>
      <p:sp>
        <p:nvSpPr>
          <p:cNvPr id="4" name="">
            <a:extLst xmlns:a="http://schemas.openxmlformats.org/drawingml/2006/main">
              <a:ext uri="{FF2B5EF4-FFF2-40B4-BE49-F238E27FC236}">
                <a16:creationId xmlns:a16="http://schemas.microsoft.com/office/drawing/2014/main" id="{6455D513-BB09-42CB-AF37-676AD0F0C493}"/>
              </a:ext>
            </a:extLst>
          </p:cNvPr>
          <p:cNvSpPr>
            <a:spLocks xmlns:a="http://schemas.openxmlformats.org/drawingml/2006/main" noGrp="1"/>
          </p:cNvSpPr>
          <p:nvPr/>
        </p:nvSpPr>
        <p:spPr>
          <a:xfrm xmlns:a="http://schemas.openxmlformats.org/drawingml/2006/main">
            <a:off x="6762750" y="2362200"/>
            <a:ext cx="4476750" cy="828675"/>
          </a:xfrm>
          <a:prstGeom xmlns:a="http://schemas.openxmlformats.org/drawingml/2006/main" prst="rect">
            <a:avLst/>
          </a:prstGeom>
          <a:solidFill xmlns:a="http://schemas.openxmlformats.org/drawingml/2006/main">
            <a:srgbClr val="EDF3F6"/>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모델 | RF-DETR-S</a:t>
            </a:r>
          </a:p>
          <a:p xmlns:a="http://schemas.openxmlformats.org/drawingml/2006/main">
            <a:pPr algn="ctr">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사진 전체 검사</a:t>
            </a:r>
          </a:p>
        </p:txBody>
      </p:sp>
      <p:cxnSp>
        <p:nvCxnSpPr>
          <p:cNvPr id="20" name=""/>
          <p:cNvCxnSpPr>
            <a:stCxn xmlns:a="http://schemas.openxmlformats.org/drawingml/2006/main" id="2" idx="2"/>
            <a:endCxn xmlns:a="http://schemas.openxmlformats.org/drawingml/2006/main" id="3" idx="0"/>
          </p:cNvCxnSpPr>
          <p:nvPr/>
        </p:nvCxnSpPr>
        <p:spPr>
          <a:xfrm xmlns:a="http://schemas.openxmlformats.org/drawingml/2006/main" flipH="1">
            <a:off x="3190875" y="1857375"/>
            <a:ext cx="2905125" cy="504825"/>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cxnSp>
        <p:nvCxnSpPr>
          <p:cNvPr id="21" name=""/>
          <p:cNvCxnSpPr>
            <a:stCxn xmlns:a="http://schemas.openxmlformats.org/drawingml/2006/main" id="2" idx="2"/>
            <a:endCxn xmlns:a="http://schemas.openxmlformats.org/drawingml/2006/main" id="4" idx="0"/>
          </p:cNvCxnSpPr>
          <p:nvPr/>
        </p:nvCxnSpPr>
        <p:spPr>
          <a:xfrm xmlns:a="http://schemas.openxmlformats.org/drawingml/2006/main">
            <a:off x="6096000" y="1857375"/>
            <a:ext cx="2905125" cy="504825"/>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sp>
        <p:nvSpPr>
          <p:cNvPr id="7" name="">
            <a:extLst xmlns:a="http://schemas.openxmlformats.org/drawingml/2006/main">
              <a:ext uri="{FF2B5EF4-FFF2-40B4-BE49-F238E27FC236}">
                <a16:creationId xmlns:a16="http://schemas.microsoft.com/office/drawing/2014/main" id="{9EB1D143-463E-483D-A487-C363D1E1ED7B}"/>
              </a:ext>
            </a:extLst>
          </p:cNvPr>
          <p:cNvSpPr>
            <a:spLocks xmlns:a="http://schemas.openxmlformats.org/drawingml/2006/main" noGrp="1"/>
          </p:cNvSpPr>
          <p:nvPr/>
        </p:nvSpPr>
        <p:spPr>
          <a:xfrm xmlns:a="http://schemas.openxmlformats.org/drawingml/2006/main">
            <a:off x="3238500" y="3705225"/>
            <a:ext cx="5715000" cy="590550"/>
          </a:xfrm>
          <a:prstGeom xmlns:a="http://schemas.openxmlformats.org/drawingml/2006/main" prst="rect">
            <a:avLst/>
          </a:prstGeom>
          <a:solidFill xmlns:a="http://schemas.openxmlformats.org/drawingml/2006/main">
            <a:srgbClr val="EDF3F6"/>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프로그램 | 두 예측과 경고 보존</a:t>
            </a:r>
          </a:p>
        </p:txBody>
      </p:sp>
      <p:cxnSp>
        <p:nvCxnSpPr>
          <p:cNvPr id="23" name=""/>
          <p:cNvCxnSpPr>
            <a:stCxn xmlns:a="http://schemas.openxmlformats.org/drawingml/2006/main" id="3" idx="2"/>
            <a:endCxn xmlns:a="http://schemas.openxmlformats.org/drawingml/2006/main" id="7" idx="0"/>
          </p:cNvCxnSpPr>
          <p:nvPr/>
        </p:nvCxnSpPr>
        <p:spPr>
          <a:xfrm xmlns:a="http://schemas.openxmlformats.org/drawingml/2006/main">
            <a:off x="3190875" y="3190875"/>
            <a:ext cx="2905125" cy="514350"/>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cxnSp>
        <p:nvCxnSpPr>
          <p:cNvPr id="24" name=""/>
          <p:cNvCxnSpPr>
            <a:stCxn xmlns:a="http://schemas.openxmlformats.org/drawingml/2006/main" id="4" idx="2"/>
            <a:endCxn xmlns:a="http://schemas.openxmlformats.org/drawingml/2006/main" id="7" idx="0"/>
          </p:cNvCxnSpPr>
          <p:nvPr/>
        </p:nvCxnSpPr>
        <p:spPr>
          <a:xfrm xmlns:a="http://schemas.openxmlformats.org/drawingml/2006/main" flipH="1">
            <a:off x="6096000" y="3190875"/>
            <a:ext cx="2905125" cy="514350"/>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sp>
        <p:nvSpPr>
          <p:cNvPr id="10" name="">
            <a:extLst xmlns:a="http://schemas.openxmlformats.org/drawingml/2006/main">
              <a:ext uri="{FF2B5EF4-FFF2-40B4-BE49-F238E27FC236}">
                <a16:creationId xmlns:a16="http://schemas.microsoft.com/office/drawing/2014/main" id="{5C0FD06E-DC84-4F82-9E63-DE700436AB86}"/>
              </a:ext>
            </a:extLst>
          </p:cNvPr>
          <p:cNvSpPr>
            <a:spLocks xmlns:a="http://schemas.openxmlformats.org/drawingml/2006/main" noGrp="1"/>
          </p:cNvSpPr>
          <p:nvPr/>
        </p:nvSpPr>
        <p:spPr>
          <a:xfrm xmlns:a="http://schemas.openxmlformats.org/drawingml/2006/main">
            <a:off x="952500" y="4914900"/>
            <a:ext cx="4476750" cy="847725"/>
          </a:xfrm>
          <a:prstGeom xmlns:a="http://schemas.openxmlformats.org/drawingml/2006/main" prst="rect">
            <a:avLst/>
          </a:prstGeom>
          <a:solidFill xmlns:a="http://schemas.openxmlformats.org/drawingml/2006/main">
            <a:srgbClr val="FFF2E1"/>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a:solidFill>
                  <a:srgbClr val="162832"/>
                </a:solidFill>
                <a:latin typeface="Apple SD Gothic Neo"/>
                <a:ea typeface="Apple SD Gothic Neo"/>
                <a:cs typeface="Apple SD Gothic Neo"/>
              </a:defRPr>
            </a:pPr>
            <a:r>
              <a:rPr sz="1875">
                <a:solidFill>
                  <a:srgbClr val="162832"/>
                </a:solidFill>
                <a:latin typeface="Apple SD Gothic Neo"/>
                <a:ea typeface="Apple SD Gothic Neo"/>
                <a:cs typeface="Apple SD Gothic Neo"/>
              </a:rPr>
              <a:t>후보·불일치·검사 오류</a:t>
            </a:r>
          </a:p>
          <a:p xmlns:a="http://schemas.openxmlformats.org/drawingml/2006/main">
            <a:pPr algn="ctr">
              <a:defRPr sz="1875">
                <a:solidFill>
                  <a:srgbClr val="162832"/>
                </a:solidFill>
                <a:latin typeface="Apple SD Gothic Neo"/>
                <a:ea typeface="Apple SD Gothic Neo"/>
                <a:cs typeface="Apple SD Gothic Neo"/>
              </a:defRPr>
            </a:pPr>
            <a:r>
              <a:rPr sz="1875">
                <a:solidFill>
                  <a:srgbClr val="162832"/>
                </a:solidFill>
                <a:latin typeface="Apple SD Gothic Neo"/>
                <a:ea typeface="Apple SD Gothic Neo"/>
                <a:cs typeface="Apple SD Gothic Neo"/>
              </a:rPr>
              <a:t>제품 보류 → 담당자 확인</a:t>
            </a:r>
          </a:p>
        </p:txBody>
      </p:sp>
      <p:sp>
        <p:nvSpPr>
          <p:cNvPr id="11" name="">
            <a:extLst xmlns:a="http://schemas.openxmlformats.org/drawingml/2006/main">
              <a:ext uri="{FF2B5EF4-FFF2-40B4-BE49-F238E27FC236}">
                <a16:creationId xmlns:a16="http://schemas.microsoft.com/office/drawing/2014/main" id="{2D61BD23-5106-4C7C-8FF6-95A18BB113C7}"/>
              </a:ext>
            </a:extLst>
          </p:cNvPr>
          <p:cNvSpPr>
            <a:spLocks xmlns:a="http://schemas.openxmlformats.org/drawingml/2006/main" noGrp="1"/>
          </p:cNvSpPr>
          <p:nvPr/>
        </p:nvSpPr>
        <p:spPr>
          <a:xfrm xmlns:a="http://schemas.openxmlformats.org/drawingml/2006/main">
            <a:off x="6762750" y="4914900"/>
            <a:ext cx="4476750" cy="847725"/>
          </a:xfrm>
          <a:prstGeom xmlns:a="http://schemas.openxmlformats.org/drawingml/2006/main" prst="rect">
            <a:avLst/>
          </a:prstGeom>
          <a:solidFill xmlns:a="http://schemas.openxmlformats.org/drawingml/2006/main">
            <a:srgbClr val="F2F3F4"/>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a:solidFill>
                  <a:srgbClr val="162832"/>
                </a:solidFill>
                <a:latin typeface="Apple SD Gothic Neo"/>
                <a:ea typeface="Apple SD Gothic Neo"/>
                <a:cs typeface="Apple SD Gothic Neo"/>
              </a:defRPr>
            </a:pPr>
            <a:r>
              <a:rPr sz="1875">
                <a:solidFill>
                  <a:srgbClr val="162832"/>
                </a:solidFill>
                <a:latin typeface="Apple SD Gothic Neo"/>
                <a:ea typeface="Apple SD Gothic Neo"/>
                <a:cs typeface="Apple SD Gothic Neo"/>
              </a:rPr>
              <a:t>두 모델 모두 무후보</a:t>
            </a:r>
          </a:p>
          <a:p xmlns:a="http://schemas.openxmlformats.org/drawingml/2006/main">
            <a:pPr algn="ctr">
              <a:defRPr sz="1875">
                <a:solidFill>
                  <a:srgbClr val="162832"/>
                </a:solidFill>
                <a:latin typeface="Apple SD Gothic Neo"/>
                <a:ea typeface="Apple SD Gothic Neo"/>
                <a:cs typeface="Apple SD Gothic Neo"/>
              </a:defRPr>
            </a:pPr>
            <a:r>
              <a:rPr sz="1875">
                <a:solidFill>
                  <a:srgbClr val="162832"/>
                </a:solidFill>
                <a:latin typeface="Apple SD Gothic Neo"/>
                <a:ea typeface="Apple SD Gothic Neo"/>
                <a:cs typeface="Apple SD Gothic Neo"/>
              </a:rPr>
              <a:t>기존 검사 유지 · AI 자동 통과 없음</a:t>
            </a:r>
          </a:p>
        </p:txBody>
      </p:sp>
      <p:cxnSp>
        <p:nvCxnSpPr>
          <p:cNvPr id="27" name=""/>
          <p:cNvCxnSpPr>
            <a:stCxn xmlns:a="http://schemas.openxmlformats.org/drawingml/2006/main" id="7" idx="2"/>
            <a:endCxn xmlns:a="http://schemas.openxmlformats.org/drawingml/2006/main" id="10" idx="0"/>
          </p:cNvCxnSpPr>
          <p:nvPr/>
        </p:nvCxnSpPr>
        <p:spPr>
          <a:xfrm xmlns:a="http://schemas.openxmlformats.org/drawingml/2006/main" flipH="1">
            <a:off x="3190875" y="4295775"/>
            <a:ext cx="2905125" cy="619125"/>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cxnSp>
        <p:nvCxnSpPr>
          <p:cNvPr id="28" name=""/>
          <p:cNvCxnSpPr>
            <a:stCxn xmlns:a="http://schemas.openxmlformats.org/drawingml/2006/main" id="7" idx="2"/>
            <a:endCxn xmlns:a="http://schemas.openxmlformats.org/drawingml/2006/main" id="11" idx="0"/>
          </p:cNvCxnSpPr>
          <p:nvPr/>
        </p:nvCxnSpPr>
        <p:spPr>
          <a:xfrm xmlns:a="http://schemas.openxmlformats.org/drawingml/2006/main">
            <a:off x="6096000" y="4295775"/>
            <a:ext cx="2905125" cy="619125"/>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sp>
        <p:nvSpPr>
          <p:cNvPr id="14" name="">
            <a:extLst xmlns:a="http://schemas.openxmlformats.org/drawingml/2006/main">
              <a:ext uri="{FF2B5EF4-FFF2-40B4-BE49-F238E27FC236}">
                <a16:creationId xmlns:a16="http://schemas.microsoft.com/office/drawing/2014/main" id="{E48E715D-E84F-4D7C-8841-4137E57C49FF}"/>
              </a:ext>
            </a:extLst>
          </p:cNvPr>
          <p:cNvSpPr>
            <a:spLocks xmlns:a="http://schemas.openxmlformats.org/drawingml/2006/main" noGrp="1"/>
          </p:cNvSpPr>
          <p:nvPr/>
        </p:nvSpPr>
        <p:spPr>
          <a:xfrm xmlns:a="http://schemas.openxmlformats.org/drawingml/2006/main">
            <a:off x="609600" y="60674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담당자는 원래 사진과 두 모델 표시를 확인합니다. 불확실하면 보류 후 재촬영·별도 검사합니다.</a:t>
            </a:r>
          </a:p>
        </p:txBody>
      </p:sp>
      <p:sp>
        <p:nvSpPr>
          <p:cNvPr id="15" name="">
            <a:extLst xmlns:a="http://schemas.openxmlformats.org/drawingml/2006/main">
              <a:ext uri="{FF2B5EF4-FFF2-40B4-BE49-F238E27FC236}">
                <a16:creationId xmlns:a16="http://schemas.microsoft.com/office/drawing/2014/main" id="{03001831-DBC8-4273-B23A-920948F6650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21</a:t>
            </a:r>
          </a:p>
        </p:txBody>
      </p:sp>
    </p:spTree>
    <p:extLst>
      <p:ext uri="{BB962C8B-B14F-4D97-AF65-F5344CB8AC3E}">
        <p14:creationId xmlns:p14="http://schemas.microsoft.com/office/powerpoint/2010/main" val="16677205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6383D5-B6B7-44B6-B185-93FF47A925E0}"/>
              </a:ext>
            </a:extLst>
          </p:cNvPr>
          <p:cNvSpPr>
            <a:spLocks xmlns:a="http://schemas.openxmlformats.org/drawingml/2006/main" noGrp="1"/>
          </p:cNvSpPr>
          <p:nvPr/>
        </p:nvSpPr>
        <p:spPr>
          <a:xfrm xmlns:a="http://schemas.openxmlformats.org/drawingml/2006/main">
            <a:off x="609600" y="3619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확대·분할은 개선 실험으로 보존합니다</a:t>
            </a:r>
          </a:p>
        </p:txBody>
      </p:sp>
      <p:graphicFrame>
        <p:nvGraphicFramePr>
          <p:cNvPr id="7" name=""/>
          <p:cNvGraphicFramePr/>
          <p:nvPr/>
        </p:nvGraphicFramePr>
        <p:xfrm>
          <a:off xmlns:a="http://schemas.openxmlformats.org/drawingml/2006/main" x="609600" y="1428750"/>
          <a:ext xmlns:a="http://schemas.openxmlformats.org/drawingml/2006/main" cx="10972800" cy="2667000"/>
        </p:xfrm>
        <a:graphic xmlns:a="http://schemas.openxmlformats.org/drawingml/2006/main">
          <a:graphicData uri="http://schemas.openxmlformats.org/drawingml/2006/table">
            <a:tbl>
              <a:tblPr/>
              <a:tblGrid>
                <a:gridCol w="5905500"/>
                <a:gridCol w="2476500"/>
                <a:gridCol w="2590800"/>
              </a:tblGrid>
              <a:tr h="666750">
                <a:tc>
                  <a:txBody>
                    <a:bodyPr lIns="133350" tIns="76200" rIns="114300" bIns="76200"/>
                    <a:lstStyle/>
                    <a:p>
                      <a:r>
                        <a:rPr sz="1800" b="1">
                          <a:solidFill>
                            <a:srgbClr val="FFFFFF"/>
                          </a:solidFill>
                          <a:latin typeface="Apple SD Gothic Neo"/>
                          <a:ea typeface="Apple SD Gothic Neo"/>
                          <a:cs typeface="Apple SD Gothic Neo"/>
                        </a:rPr>
                        <a:t>RF-DETR-S 검사 방식</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이번 기본 방식</a:t>
                      </a:r>
                    </a:p>
                  </a:txBody>
                  <a:tcPr marL="91440" marR="91440" marT="45720" marB="45720" anchor="ctr">
                    <a:solidFill>
                      <a:srgbClr val="193C4D"/>
                    </a:solidFill>
                  </a:tcPr>
                </a:tc>
              </a:tr>
              <a:tr h="666750">
                <a:tc>
                  <a:txBody>
                    <a:bodyPr lIns="133350" tIns="76200" rIns="114300" bIns="76200"/>
                    <a:lstStyle/>
                    <a:p>
                      <a:r>
                        <a:rPr sz="1800" b="0">
                          <a:solidFill>
                            <a:srgbClr val="162832"/>
                          </a:solidFill>
                          <a:latin typeface="Apple SD Gothic Neo"/>
                          <a:ea typeface="Apple SD Gothic Neo"/>
                          <a:cs typeface="Apple SD Gothic Neo"/>
                        </a:rPr>
                        <a:t>전체 사진 · 기존 저장본</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채택</a:t>
                      </a:r>
                    </a:p>
                  </a:txBody>
                  <a:tcPr marL="91440" marR="91440" marT="45720" marB="45720" anchor="ctr">
                    <a:solidFill>
                      <a:srgbClr val="FFFFFF"/>
                    </a:solidFill>
                  </a:tcPr>
                </a:tc>
              </a:tr>
              <a:tr h="666750">
                <a:tc>
                  <a:txBody>
                    <a:bodyPr lIns="133350" tIns="76200" rIns="114300" bIns="76200"/>
                    <a:lstStyle/>
                    <a:p>
                      <a:r>
                        <a:rPr sz="1800" b="0">
                          <a:solidFill>
                            <a:srgbClr val="162832"/>
                          </a:solidFill>
                          <a:latin typeface="Apple SD Gothic Neo"/>
                          <a:ea typeface="Apple SD Gothic Neo"/>
                          <a:cs typeface="Apple SD Gothic Neo"/>
                        </a:rPr>
                        <a:t>후보 확대 · 3epoch 추가 학습</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0.9448</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비교 실험</a:t>
                      </a:r>
                    </a:p>
                  </a:txBody>
                  <a:tcPr marL="91440" marR="91440" marT="45720" marB="45720" anchor="ctr">
                    <a:solidFill>
                      <a:srgbClr val="F1F5F6"/>
                    </a:solidFill>
                  </a:tcPr>
                </a:tc>
              </a:tr>
              <a:tr h="666750">
                <a:tc>
                  <a:txBody>
                    <a:bodyPr lIns="133350" tIns="76200" rIns="114300" bIns="76200"/>
                    <a:lstStyle/>
                    <a:p>
                      <a:r>
                        <a:rPr sz="1800" b="0">
                          <a:solidFill>
                            <a:srgbClr val="162832"/>
                          </a:solidFill>
                          <a:latin typeface="Apple SD Gothic Neo"/>
                          <a:ea typeface="Apple SD Gothic Neo"/>
                          <a:cs typeface="Apple SD Gothic Neo"/>
                        </a:rPr>
                        <a:t>겹침 분할 · 2epoch 저장본</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비교 실험</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6AD96DE-1983-4231-B5EC-6BD4E54125D8}"/>
              </a:ext>
            </a:extLst>
          </p:cNvPr>
          <p:cNvSpPr>
            <a:spLocks xmlns:a="http://schemas.openxmlformats.org/drawingml/2006/main" noGrp="1"/>
          </p:cNvSpPr>
          <p:nvPr/>
        </p:nvSpPr>
        <p:spPr>
          <a:xfrm xmlns:a="http://schemas.openxmlformats.org/drawingml/2006/main">
            <a:off x="609600" y="43719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확대·분할은 검증에서 탐지 임계값을 다시 고른 탐색 최고값입니다.</a:t>
            </a:r>
          </a:p>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전체 사진 행은 기존 고정 임계값입니다. 새 독립 시험은 아닙니다.</a:t>
            </a:r>
          </a:p>
        </p:txBody>
      </p:sp>
      <p:sp>
        <p:nvSpPr>
          <p:cNvPr id="4" name="">
            <a:extLst xmlns:a="http://schemas.openxmlformats.org/drawingml/2006/main">
              <a:ext uri="{FF2B5EF4-FFF2-40B4-BE49-F238E27FC236}">
                <a16:creationId xmlns:a16="http://schemas.microsoft.com/office/drawing/2014/main" id="{C17B0851-EBF0-4D6A-81F3-FF28D8D53C4C}"/>
              </a:ext>
            </a:extLst>
          </p:cNvPr>
          <p:cNvSpPr>
            <a:spLocks xmlns:a="http://schemas.openxmlformats.org/drawingml/2006/main" noGrp="1"/>
          </p:cNvSpPr>
          <p:nvPr/>
        </p:nvSpPr>
        <p:spPr>
          <a:xfrm xmlns:a="http://schemas.openxmlformats.org/drawingml/2006/main">
            <a:off x="609600" y="54959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RF-DETR-S만 두 입력 방식으로 각각 3epoch 추가 학습했습니다.</a:t>
            </a:r>
          </a:p>
          <a:p xmlns:a="http://schemas.openxmlformats.org/drawingml/2006/main">
            <a:pPr>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D-FINE-S는 기존 20epoch 저장본을 사용했습니다. 검증의 자연 무후보 경로는 0장입니다.</a:t>
            </a:r>
          </a:p>
        </p:txBody>
      </p:sp>
      <p:sp>
        <p:nvSpPr>
          <p:cNvPr id="5" name="">
            <a:extLst xmlns:a="http://schemas.openxmlformats.org/drawingml/2006/main">
              <a:ext uri="{FF2B5EF4-FFF2-40B4-BE49-F238E27FC236}">
                <a16:creationId xmlns:a16="http://schemas.microsoft.com/office/drawing/2014/main" id="{DBDBC2E9-7226-4F4E-B332-CE48AB49CA10}"/>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22</a:t>
            </a:r>
          </a:p>
        </p:txBody>
      </p:sp>
    </p:spTree>
    <p:extLst>
      <p:ext uri="{BB962C8B-B14F-4D97-AF65-F5344CB8AC3E}">
        <p14:creationId xmlns:p14="http://schemas.microsoft.com/office/powerpoint/2010/main" val="45786532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35ECEB-BCD1-4524-8C44-8C7C200218C2}"/>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62832"/>
                </a:solidFill>
                <a:latin typeface="Apple SD Gothic Neo"/>
                <a:ea typeface="Apple SD Gothic Neo"/>
                <a:cs typeface="Apple SD Gothic Neo"/>
              </a:defRPr>
            </a:pPr>
            <a:r>
              <a:rPr sz="2850" b="1">
                <a:solidFill>
                  <a:srgbClr val="162832"/>
                </a:solidFill>
                <a:latin typeface="Apple SD Gothic Neo"/>
                <a:ea typeface="Apple SD Gothic Neo"/>
                <a:cs typeface="Apple SD Gothic Neo"/>
              </a:rPr>
              <a:t>서로 다른 무후보 사진을 다른 모델이 경고했습니다</a:t>
            </a:r>
          </a:p>
        </p:txBody>
      </p:sp>
      <p:graphicFrame>
        <p:nvGraphicFramePr>
          <p:cNvPr id="7" name=""/>
          <p:cNvGraphicFramePr/>
          <p:nvPr/>
        </p:nvGraphicFramePr>
        <p:xfrm>
          <a:off xmlns:a="http://schemas.openxmlformats.org/drawingml/2006/main" x="609600" y="1476375"/>
          <a:ext xmlns:a="http://schemas.openxmlformats.org/drawingml/2006/main" cx="10972800" cy="2762250"/>
        </p:xfrm>
        <a:graphic xmlns:a="http://schemas.openxmlformats.org/drawingml/2006/main">
          <a:graphicData uri="http://schemas.openxmlformats.org/drawingml/2006/table">
            <a:tbl>
              <a:tblPr/>
              <a:tblGrid>
                <a:gridCol w="8305800"/>
                <a:gridCol w="2667000"/>
              </a:tblGrid>
              <a:tr h="552450">
                <a:tc>
                  <a:txBody>
                    <a:bodyPr lIns="133350" tIns="76200" rIns="114300" bIns="76200"/>
                    <a:lstStyle/>
                    <a:p>
                      <a:r>
                        <a:rPr sz="1800" b="1">
                          <a:solidFill>
                            <a:srgbClr val="FFFFFF"/>
                          </a:solidFill>
                          <a:latin typeface="Apple SD Gothic Neo"/>
                          <a:ea typeface="Apple SD Gothic Neo"/>
                          <a:cs typeface="Apple SD Gothic Neo"/>
                        </a:rPr>
                        <a:t>테스트 97장의 경고 상태</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r>
              <a:tr h="552450">
                <a:tc>
                  <a:txBody>
                    <a:bodyPr lIns="133350" tIns="76200" rIns="114300" bIns="76200"/>
                    <a:lstStyle/>
                    <a:p>
                      <a:r>
                        <a:rPr sz="1800" b="0">
                          <a:solidFill>
                            <a:srgbClr val="162832"/>
                          </a:solidFill>
                          <a:latin typeface="Apple SD Gothic Neo"/>
                          <a:ea typeface="Apple SD Gothic Neo"/>
                          <a:cs typeface="Apple SD Gothic Neo"/>
                        </a:rPr>
                        <a:t>두 모델 모두 후보 표시</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95</a:t>
                      </a:r>
                    </a:p>
                  </a:txBody>
                  <a:tcPr marL="91440" marR="91440" marT="45720" marB="45720" anchor="ctr">
                    <a:solidFill>
                      <a:srgbClr val="FFFFFF"/>
                    </a:solidFill>
                  </a:tcPr>
                </a:tc>
              </a:tr>
              <a:tr h="552450">
                <a:tc>
                  <a:txBody>
                    <a:bodyPr lIns="133350" tIns="76200" rIns="114300" bIns="76200"/>
                    <a:lstStyle/>
                    <a:p>
                      <a:r>
                        <a:rPr sz="1800" b="0">
                          <a:solidFill>
                            <a:srgbClr val="162832"/>
                          </a:solidFill>
                          <a:latin typeface="Apple SD Gothic Neo"/>
                          <a:ea typeface="Apple SD Gothic Neo"/>
                          <a:cs typeface="Apple SD Gothic Neo"/>
                        </a:rPr>
                        <a:t>YOLO 무후보 → RF 후보 표시</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1</a:t>
                      </a:r>
                    </a:p>
                  </a:txBody>
                  <a:tcPr marL="91440" marR="91440" marT="45720" marB="45720" anchor="ctr">
                    <a:solidFill>
                      <a:srgbClr val="F1F5F6"/>
                    </a:solidFill>
                  </a:tcPr>
                </a:tc>
              </a:tr>
              <a:tr h="552450">
                <a:tc>
                  <a:txBody>
                    <a:bodyPr lIns="133350" tIns="76200" rIns="114300" bIns="76200"/>
                    <a:lstStyle/>
                    <a:p>
                      <a:r>
                        <a:rPr sz="1800" b="0">
                          <a:solidFill>
                            <a:srgbClr val="162832"/>
                          </a:solidFill>
                          <a:latin typeface="Apple SD Gothic Neo"/>
                          <a:ea typeface="Apple SD Gothic Neo"/>
                          <a:cs typeface="Apple SD Gothic Neo"/>
                        </a:rPr>
                        <a:t>RF 무후보 → YOLO 후보 표시</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1</a:t>
                      </a:r>
                    </a:p>
                  </a:txBody>
                  <a:tcPr marL="91440" marR="91440" marT="45720" marB="45720" anchor="ctr">
                    <a:solidFill>
                      <a:srgbClr val="FFFFFF"/>
                    </a:solidFill>
                  </a:tcPr>
                </a:tc>
              </a:tr>
              <a:tr h="552450">
                <a:tc>
                  <a:txBody>
                    <a:bodyPr lIns="133350" tIns="76200" rIns="114300" bIns="76200"/>
                    <a:lstStyle/>
                    <a:p>
                      <a:r>
                        <a:rPr sz="1800" b="0">
                          <a:solidFill>
                            <a:srgbClr val="162832"/>
                          </a:solidFill>
                          <a:latin typeface="Apple SD Gothic Neo"/>
                          <a:ea typeface="Apple SD Gothic Neo"/>
                          <a:cs typeface="Apple SD Gothic Neo"/>
                        </a:rPr>
                        <a:t>두 모델 모두 무후보</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00FB968D-8633-4A34-9D0B-EE2941FCD60A}"/>
              </a:ext>
            </a:extLst>
          </p:cNvPr>
          <p:cNvSpPr>
            <a:spLocks xmlns:a="http://schemas.openxmlformats.org/drawingml/2006/main" noGrp="1"/>
          </p:cNvSpPr>
          <p:nvPr/>
        </p:nvSpPr>
        <p:spPr>
          <a:xfrm xmlns:a="http://schemas.openxmlformats.org/drawingml/2006/main">
            <a:off x="609600" y="45243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경고 유무와 이물 위치 정확도는 다릅니다.</a:t>
            </a:r>
          </a:p>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두 모델 모두 IoU 기준을 충족하지 못한 이물은 225개 중 2개 남았습니다.</a:t>
            </a:r>
          </a:p>
        </p:txBody>
      </p:sp>
      <p:sp>
        <p:nvSpPr>
          <p:cNvPr id="4" name="">
            <a:extLst xmlns:a="http://schemas.openxmlformats.org/drawingml/2006/main">
              <a:ext uri="{FF2B5EF4-FFF2-40B4-BE49-F238E27FC236}">
                <a16:creationId xmlns:a16="http://schemas.microsoft.com/office/drawing/2014/main" id="{138A5CE1-2392-45EB-9651-EFF56137186D}"/>
              </a:ext>
            </a:extLst>
          </p:cNvPr>
          <p:cNvSpPr>
            <a:spLocks xmlns:a="http://schemas.openxmlformats.org/drawingml/2006/main" noGrp="1"/>
          </p:cNvSpPr>
          <p:nvPr/>
        </p:nvSpPr>
        <p:spPr>
          <a:xfrm xmlns:a="http://schemas.openxmlformats.org/drawingml/2006/main">
            <a:off x="609600" y="5715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기존 저장 예측을 고정 정책으로 재생했습니다. 새 추론·재학습·임계값 조정은 없었습니다.</a:t>
            </a:r>
          </a:p>
          <a:p xmlns:a="http://schemas.openxmlformats.org/drawingml/2006/main">
            <a:pPr>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정상 제품 0장·과거에 본 테스트이므로 현장 정확도 100%라고 주장하지 않습니다.</a:t>
            </a:r>
          </a:p>
        </p:txBody>
      </p:sp>
      <p:sp>
        <p:nvSpPr>
          <p:cNvPr id="5" name="">
            <a:extLst xmlns:a="http://schemas.openxmlformats.org/drawingml/2006/main">
              <a:ext uri="{FF2B5EF4-FFF2-40B4-BE49-F238E27FC236}">
                <a16:creationId xmlns:a16="http://schemas.microsoft.com/office/drawing/2014/main" id="{2A658A12-9F3C-4232-8B61-E2A0B1ECCCD7}"/>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23</a:t>
            </a:r>
          </a:p>
        </p:txBody>
      </p:sp>
    </p:spTree>
    <p:extLst>
      <p:ext uri="{BB962C8B-B14F-4D97-AF65-F5344CB8AC3E}">
        <p14:creationId xmlns:p14="http://schemas.microsoft.com/office/powerpoint/2010/main" val="23148157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DC36D2-92EF-4C9A-87BB-538C3E102780}"/>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식품 이물 미탐 위험을 우선한 처리 순서</a:t>
            </a:r>
          </a:p>
        </p:txBody>
      </p:sp>
      <p:sp>
        <p:nvSpPr>
          <p:cNvPr id="2" name="">
            <a:extLst xmlns:a="http://schemas.openxmlformats.org/drawingml/2006/main">
              <a:ext uri="{FF2B5EF4-FFF2-40B4-BE49-F238E27FC236}">
                <a16:creationId xmlns:a16="http://schemas.microsoft.com/office/drawing/2014/main" id="{349AD5FA-1D98-48B8-86FB-79F520BA8F26}"/>
              </a:ext>
            </a:extLst>
          </p:cNvPr>
          <p:cNvSpPr>
            <a:spLocks xmlns:a="http://schemas.openxmlformats.org/drawingml/2006/main" noGrp="1"/>
          </p:cNvSpPr>
          <p:nvPr/>
        </p:nvSpPr>
        <p:spPr>
          <a:xfrm xmlns:a="http://schemas.openxmlformats.org/drawingml/2006/main">
            <a:off x="628650" y="142875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1</a:t>
            </a:r>
          </a:p>
        </p:txBody>
      </p:sp>
      <p:sp>
        <p:nvSpPr>
          <p:cNvPr id="3" name="">
            <a:extLst xmlns:a="http://schemas.openxmlformats.org/drawingml/2006/main">
              <a:ext uri="{FF2B5EF4-FFF2-40B4-BE49-F238E27FC236}">
                <a16:creationId xmlns:a16="http://schemas.microsoft.com/office/drawing/2014/main" id="{CE8C67B7-901B-4632-84CD-B43E6F124655}"/>
              </a:ext>
            </a:extLst>
          </p:cNvPr>
          <p:cNvSpPr>
            <a:spLocks xmlns:a="http://schemas.openxmlformats.org/drawingml/2006/main" noGrp="1"/>
          </p:cNvSpPr>
          <p:nvPr/>
        </p:nvSpPr>
        <p:spPr>
          <a:xfrm xmlns:a="http://schemas.openxmlformats.org/drawingml/2006/main">
            <a:off x="1285875" y="1428750"/>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제품 ID와 사진 기록</a:t>
            </a:r>
          </a:p>
        </p:txBody>
      </p:sp>
      <p:sp>
        <p:nvSpPr>
          <p:cNvPr id="4" name="">
            <a:extLst xmlns:a="http://schemas.openxmlformats.org/drawingml/2006/main">
              <a:ext uri="{FF2B5EF4-FFF2-40B4-BE49-F238E27FC236}">
                <a16:creationId xmlns:a16="http://schemas.microsoft.com/office/drawing/2014/main" id="{A8697230-2956-4EB6-AB21-1FE3DF009680}"/>
              </a:ext>
            </a:extLst>
          </p:cNvPr>
          <p:cNvSpPr>
            <a:spLocks xmlns:a="http://schemas.openxmlformats.org/drawingml/2006/main" noGrp="1"/>
          </p:cNvSpPr>
          <p:nvPr/>
        </p:nvSpPr>
        <p:spPr>
          <a:xfrm xmlns:a="http://schemas.openxmlformats.org/drawingml/2006/main">
            <a:off x="1285875" y="18573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제품과 검사 결과가 서로 바뀌지 않게 연결합니다.</a:t>
            </a:r>
          </a:p>
        </p:txBody>
      </p:sp>
      <p:sp>
        <p:nvSpPr>
          <p:cNvPr id="5" name="">
            <a:extLst xmlns:a="http://schemas.openxmlformats.org/drawingml/2006/main">
              <a:ext uri="{FF2B5EF4-FFF2-40B4-BE49-F238E27FC236}">
                <a16:creationId xmlns:a16="http://schemas.microsoft.com/office/drawing/2014/main" id="{60A58A29-0A97-48BF-AA48-6720FA6252B8}"/>
              </a:ext>
            </a:extLst>
          </p:cNvPr>
          <p:cNvSpPr>
            <a:spLocks xmlns:a="http://schemas.openxmlformats.org/drawingml/2006/main" noGrp="1"/>
          </p:cNvSpPr>
          <p:nvPr/>
        </p:nvSpPr>
        <p:spPr>
          <a:xfrm xmlns:a="http://schemas.openxmlformats.org/drawingml/2006/main">
            <a:off x="628650" y="248602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2</a:t>
            </a:r>
          </a:p>
        </p:txBody>
      </p:sp>
      <p:sp>
        <p:nvSpPr>
          <p:cNvPr id="6" name="">
            <a:extLst xmlns:a="http://schemas.openxmlformats.org/drawingml/2006/main">
              <a:ext uri="{FF2B5EF4-FFF2-40B4-BE49-F238E27FC236}">
                <a16:creationId xmlns:a16="http://schemas.microsoft.com/office/drawing/2014/main" id="{46F6D279-7153-4B8E-B37E-8064FB240651}"/>
              </a:ext>
            </a:extLst>
          </p:cNvPr>
          <p:cNvSpPr>
            <a:spLocks xmlns:a="http://schemas.openxmlformats.org/drawingml/2006/main" noGrp="1"/>
          </p:cNvSpPr>
          <p:nvPr/>
        </p:nvSpPr>
        <p:spPr>
          <a:xfrm xmlns:a="http://schemas.openxmlformats.org/drawingml/2006/main">
            <a:off x="1285875" y="2486025"/>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첫 경고 보존과 독립 추가 검사</a:t>
            </a:r>
          </a:p>
        </p:txBody>
      </p:sp>
      <p:sp>
        <p:nvSpPr>
          <p:cNvPr id="7" name="">
            <a:extLst xmlns:a="http://schemas.openxmlformats.org/drawingml/2006/main">
              <a:ext uri="{FF2B5EF4-FFF2-40B4-BE49-F238E27FC236}">
                <a16:creationId xmlns:a16="http://schemas.microsoft.com/office/drawing/2014/main" id="{9463676B-1073-4BE7-B102-4B6D3A6F0E1F}"/>
              </a:ext>
            </a:extLst>
          </p:cNvPr>
          <p:cNvSpPr>
            <a:spLocks xmlns:a="http://schemas.openxmlformats.org/drawingml/2006/main" noGrp="1"/>
          </p:cNvSpPr>
          <p:nvPr/>
        </p:nvSpPr>
        <p:spPr>
          <a:xfrm xmlns:a="http://schemas.openxmlformats.org/drawingml/2006/main">
            <a:off x="1285875" y="29146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YOLOv8n과 RF-DETR-S가 후보 유무와 관계없이 전체 사진을 검사합니다.</a:t>
            </a:r>
          </a:p>
        </p:txBody>
      </p:sp>
      <p:sp>
        <p:nvSpPr>
          <p:cNvPr id="8" name="">
            <a:extLst xmlns:a="http://schemas.openxmlformats.org/drawingml/2006/main">
              <a:ext uri="{FF2B5EF4-FFF2-40B4-BE49-F238E27FC236}">
                <a16:creationId xmlns:a16="http://schemas.microsoft.com/office/drawing/2014/main" id="{F232D8F4-20FB-485E-89D6-D8F17DF6D36D}"/>
              </a:ext>
            </a:extLst>
          </p:cNvPr>
          <p:cNvSpPr>
            <a:spLocks xmlns:a="http://schemas.openxmlformats.org/drawingml/2006/main" noGrp="1"/>
          </p:cNvSpPr>
          <p:nvPr/>
        </p:nvSpPr>
        <p:spPr>
          <a:xfrm xmlns:a="http://schemas.openxmlformats.org/drawingml/2006/main">
            <a:off x="628650" y="354330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3</a:t>
            </a:r>
          </a:p>
        </p:txBody>
      </p:sp>
      <p:sp>
        <p:nvSpPr>
          <p:cNvPr id="9" name="">
            <a:extLst xmlns:a="http://schemas.openxmlformats.org/drawingml/2006/main">
              <a:ext uri="{FF2B5EF4-FFF2-40B4-BE49-F238E27FC236}">
                <a16:creationId xmlns:a16="http://schemas.microsoft.com/office/drawing/2014/main" id="{22CC2C24-5F4A-47E8-8F2A-99D2B8961FA5}"/>
              </a:ext>
            </a:extLst>
          </p:cNvPr>
          <p:cNvSpPr>
            <a:spLocks xmlns:a="http://schemas.openxmlformats.org/drawingml/2006/main" noGrp="1"/>
          </p:cNvSpPr>
          <p:nvPr/>
        </p:nvSpPr>
        <p:spPr>
          <a:xfrm xmlns:a="http://schemas.openxmlformats.org/drawingml/2006/main">
            <a:off x="1285875" y="3543300"/>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충돌·지연·오류는 제품 보류</a:t>
            </a:r>
          </a:p>
        </p:txBody>
      </p:sp>
      <p:sp>
        <p:nvSpPr>
          <p:cNvPr id="10" name="">
            <a:extLst xmlns:a="http://schemas.openxmlformats.org/drawingml/2006/main">
              <a:ext uri="{FF2B5EF4-FFF2-40B4-BE49-F238E27FC236}">
                <a16:creationId xmlns:a16="http://schemas.microsoft.com/office/drawing/2014/main" id="{D995A01C-2EB0-4DD5-B875-9281FA670071}"/>
              </a:ext>
            </a:extLst>
          </p:cNvPr>
          <p:cNvSpPr>
            <a:spLocks xmlns:a="http://schemas.openxmlformats.org/drawingml/2006/main" noGrp="1"/>
          </p:cNvSpPr>
          <p:nvPr/>
        </p:nvSpPr>
        <p:spPr>
          <a:xfrm xmlns:a="http://schemas.openxmlformats.org/drawingml/2006/main">
            <a:off x="1285875" y="39719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첫 경고를 삭제하지 않습니다. 늦은 결과로 보류를 자동 취소하지 않습니다.</a:t>
            </a:r>
          </a:p>
        </p:txBody>
      </p:sp>
      <p:sp>
        <p:nvSpPr>
          <p:cNvPr id="11" name="">
            <a:extLst xmlns:a="http://schemas.openxmlformats.org/drawingml/2006/main">
              <a:ext uri="{FF2B5EF4-FFF2-40B4-BE49-F238E27FC236}">
                <a16:creationId xmlns:a16="http://schemas.microsoft.com/office/drawing/2014/main" id="{878A8193-5826-4F97-9A94-5CB320E120DD}"/>
              </a:ext>
            </a:extLst>
          </p:cNvPr>
          <p:cNvSpPr>
            <a:spLocks xmlns:a="http://schemas.openxmlformats.org/drawingml/2006/main" noGrp="1"/>
          </p:cNvSpPr>
          <p:nvPr/>
        </p:nvSpPr>
        <p:spPr>
          <a:xfrm xmlns:a="http://schemas.openxmlformats.org/drawingml/2006/main">
            <a:off x="628650" y="460057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4</a:t>
            </a:r>
          </a:p>
        </p:txBody>
      </p:sp>
      <p:sp>
        <p:nvSpPr>
          <p:cNvPr id="12" name="">
            <a:extLst xmlns:a="http://schemas.openxmlformats.org/drawingml/2006/main">
              <a:ext uri="{FF2B5EF4-FFF2-40B4-BE49-F238E27FC236}">
                <a16:creationId xmlns:a16="http://schemas.microsoft.com/office/drawing/2014/main" id="{570725AE-95DB-44DF-A40B-5194B444D9D4}"/>
              </a:ext>
            </a:extLst>
          </p:cNvPr>
          <p:cNvSpPr>
            <a:spLocks xmlns:a="http://schemas.openxmlformats.org/drawingml/2006/main" noGrp="1"/>
          </p:cNvSpPr>
          <p:nvPr/>
        </p:nvSpPr>
        <p:spPr>
          <a:xfrm xmlns:a="http://schemas.openxmlformats.org/drawingml/2006/main">
            <a:off x="1285875" y="4600575"/>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정상 통과 기준은 현장 검증 후 적용</a:t>
            </a:r>
          </a:p>
        </p:txBody>
      </p:sp>
      <p:sp>
        <p:nvSpPr>
          <p:cNvPr id="13" name="">
            <a:extLst xmlns:a="http://schemas.openxmlformats.org/drawingml/2006/main">
              <a:ext uri="{FF2B5EF4-FFF2-40B4-BE49-F238E27FC236}">
                <a16:creationId xmlns:a16="http://schemas.microsoft.com/office/drawing/2014/main" id="{312702DF-32B0-44DE-83CF-95326E598838}"/>
              </a:ext>
            </a:extLst>
          </p:cNvPr>
          <p:cNvSpPr>
            <a:spLocks xmlns:a="http://schemas.openxmlformats.org/drawingml/2006/main" noGrp="1"/>
          </p:cNvSpPr>
          <p:nvPr/>
        </p:nvSpPr>
        <p:spPr>
          <a:xfrm xmlns:a="http://schemas.openxmlformats.org/drawingml/2006/main">
            <a:off x="1285875" y="50292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두 모델의 무검출만으로 정상 출하를 허용하지 않습니다.</a:t>
            </a:r>
          </a:p>
        </p:txBody>
      </p:sp>
      <p:sp>
        <p:nvSpPr>
          <p:cNvPr id="14" name="">
            <a:extLst xmlns:a="http://schemas.openxmlformats.org/drawingml/2006/main">
              <a:ext uri="{FF2B5EF4-FFF2-40B4-BE49-F238E27FC236}">
                <a16:creationId xmlns:a16="http://schemas.microsoft.com/office/drawing/2014/main" id="{1BD4CDA0-505F-4DD5-8539-46B9C8D69CEF}"/>
              </a:ext>
            </a:extLst>
          </p:cNvPr>
          <p:cNvSpPr>
            <a:spLocks xmlns:a="http://schemas.openxmlformats.org/drawingml/2006/main" noGrp="1"/>
          </p:cNvSpPr>
          <p:nvPr/>
        </p:nvSpPr>
        <p:spPr>
          <a:xfrm xmlns:a="http://schemas.openxmlformats.org/drawingml/2006/main">
            <a:off x="609600" y="5905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제품 추적·경고 보존·지연 상태의 단위 검사 7개를 통과했습니다.</a:t>
            </a:r>
          </a:p>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실제 PLC·배출기·정상 제품·GPU 장애 복구 검증은 남아 있습니다.</a:t>
            </a:r>
          </a:p>
        </p:txBody>
      </p:sp>
      <p:sp>
        <p:nvSpPr>
          <p:cNvPr id="15" name="">
            <a:extLst xmlns:a="http://schemas.openxmlformats.org/drawingml/2006/main">
              <a:ext uri="{FF2B5EF4-FFF2-40B4-BE49-F238E27FC236}">
                <a16:creationId xmlns:a16="http://schemas.microsoft.com/office/drawing/2014/main" id="{BF757C6B-784C-4CCE-BB6C-2E783E446F11}"/>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24</a:t>
            </a:r>
          </a:p>
        </p:txBody>
      </p:sp>
    </p:spTree>
    <p:extLst>
      <p:ext uri="{BB962C8B-B14F-4D97-AF65-F5344CB8AC3E}">
        <p14:creationId xmlns:p14="http://schemas.microsoft.com/office/powerpoint/2010/main" val="120971965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C6EF80-420A-4791-B6B9-CCF2B51BC7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현장 도입 전에 확인할 조건</a:t>
            </a:r>
          </a:p>
        </p:txBody>
      </p:sp>
      <p:sp>
        <p:nvSpPr>
          <p:cNvPr id="2" name="">
            <a:extLst xmlns:a="http://schemas.openxmlformats.org/drawingml/2006/main">
              <a:ext uri="{FF2B5EF4-FFF2-40B4-BE49-F238E27FC236}">
                <a16:creationId xmlns:a16="http://schemas.microsoft.com/office/drawing/2014/main" id="{D7204F79-393C-42C0-8823-76452C86F7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25</a:t>
            </a:r>
          </a:p>
        </p:txBody>
      </p:sp>
      <p:graphicFrame>
        <p:nvGraphicFramePr>
          <p:cNvPr id="9" name=""/>
          <p:cNvGraphicFramePr/>
          <p:nvPr/>
        </p:nvGraphicFramePr>
        <p:xfrm>
          <a:off xmlns:a="http://schemas.openxmlformats.org/drawingml/2006/main" x="609600" y="1581150"/>
          <a:ext xmlns:a="http://schemas.openxmlformats.org/drawingml/2006/main" cx="10972800" cy="3714750"/>
        </p:xfrm>
        <a:graphic xmlns:a="http://schemas.openxmlformats.org/drawingml/2006/main">
          <a:graphicData uri="http://schemas.openxmlformats.org/drawingml/2006/table">
            <a:tbl>
              <a:tblPr/>
              <a:tblGrid>
                <a:gridCol w="4143375"/>
                <a:gridCol w="6829425"/>
              </a:tblGrid>
              <a:tr h="742950">
                <a:tc>
                  <a:txBody>
                    <a:bodyPr lIns="133350" tIns="85725" rIns="114300" bIns="85725"/>
                    <a:lstStyle/>
                    <a:p>
                      <a:r>
                        <a:rPr sz="1875" b="1">
                          <a:solidFill>
                            <a:srgbClr val="FFFFFF"/>
                          </a:solidFill>
                          <a:latin typeface="Apple SD Gothic Neo"/>
                          <a:ea typeface="Apple SD Gothic Neo"/>
                          <a:cs typeface="Apple SD Gothic Neo"/>
                        </a:rPr>
                        <a:t>확인할 조건</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평가 방법</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미탐 위험</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사진에서 표시가 없는 수와 실제 제품 분리 여부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정상 오경보와 재검사 부담</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대표 정상 제품의 오경보율과 전체 재검사율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시간과 제품 추적</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촬영부터 조치까지 지연 및 제품 대응 확인</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장애 대응</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사진 누락·시간 초과·통신 및 분리 확인 실패 시험</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D1FE050-E4A1-4887-AF20-85C849D7EE2E}"/>
              </a:ext>
            </a:extLst>
          </p:cNvPr>
          <p:cNvSpPr>
            <a:spLocks xmlns:a="http://schemas.openxmlformats.org/drawingml/2006/main" noGrp="1"/>
          </p:cNvSpPr>
          <p:nvPr/>
        </p:nvSpPr>
        <p:spPr>
          <a:xfrm xmlns:a="http://schemas.openxmlformats.org/drawingml/2006/main">
            <a:off x="609600" y="5619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기대 효과는 재검사 지원과 오류 추적입니다.</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생산성 향상이나 미탐 감소는 실제 측정 후 보고합니다.</a:t>
            </a:r>
          </a:p>
        </p:txBody>
      </p:sp>
    </p:spTree>
    <p:extLst>
      <p:ext uri="{BB962C8B-B14F-4D97-AF65-F5344CB8AC3E}">
        <p14:creationId xmlns:p14="http://schemas.microsoft.com/office/powerpoint/2010/main" val="858334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6A81AA-D0CF-4D65-A6B7-F749DCABDF15}"/>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재현성과 제출 결과의 연결</a:t>
            </a:r>
          </a:p>
        </p:txBody>
      </p:sp>
      <p:sp>
        <p:nvSpPr>
          <p:cNvPr id="2" name="">
            <a:extLst xmlns:a="http://schemas.openxmlformats.org/drawingml/2006/main">
              <a:ext uri="{FF2B5EF4-FFF2-40B4-BE49-F238E27FC236}">
                <a16:creationId xmlns:a16="http://schemas.microsoft.com/office/drawing/2014/main" id="{43202B4B-14D8-4E78-9451-8F2AC82BA60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26</a:t>
            </a:r>
          </a:p>
        </p:txBody>
      </p:sp>
      <p:sp>
        <p:nvSpPr>
          <p:cNvPr id="3" name="">
            <a:extLst xmlns:a="http://schemas.openxmlformats.org/drawingml/2006/main">
              <a:ext uri="{FF2B5EF4-FFF2-40B4-BE49-F238E27FC236}">
                <a16:creationId xmlns:a16="http://schemas.microsoft.com/office/drawing/2014/main" id="{352F7F09-9E76-4590-976A-A3EB003ECB87}"/>
              </a:ext>
            </a:extLst>
          </p:cNvPr>
          <p:cNvSpPr>
            <a:spLocks xmlns:a="http://schemas.openxmlformats.org/drawingml/2006/main" noGrp="1"/>
          </p:cNvSpPr>
          <p:nvPr/>
        </p:nvSpPr>
        <p:spPr>
          <a:xfrm xmlns:a="http://schemas.openxmlformats.org/drawingml/2006/main">
            <a:off x="609600" y="16859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원본·공식 TXT·고정 분할을 보존합니다.</a:t>
            </a:r>
          </a:p>
        </p:txBody>
      </p:sp>
      <p:sp>
        <p:nvSpPr>
          <p:cNvPr id="4" name="">
            <a:extLst xmlns:a="http://schemas.openxmlformats.org/drawingml/2006/main">
              <a:ext uri="{FF2B5EF4-FFF2-40B4-BE49-F238E27FC236}">
                <a16:creationId xmlns:a16="http://schemas.microsoft.com/office/drawing/2014/main" id="{57BF4AD2-647E-4D70-BE74-853F357D6E8D}"/>
              </a:ext>
            </a:extLst>
          </p:cNvPr>
          <p:cNvSpPr>
            <a:spLocks xmlns:a="http://schemas.openxmlformats.org/drawingml/2006/main" noGrp="1"/>
          </p:cNvSpPr>
          <p:nvPr/>
        </p:nvSpPr>
        <p:spPr>
          <a:xfrm xmlns:a="http://schemas.openxmlformats.org/drawingml/2006/main">
            <a:off x="609600" y="26003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사진·변환 라벨·모델·예측 파일의 확인값을 남깁니다.</a:t>
            </a:r>
          </a:p>
        </p:txBody>
      </p:sp>
      <p:sp>
        <p:nvSpPr>
          <p:cNvPr id="5" name="">
            <a:extLst xmlns:a="http://schemas.openxmlformats.org/drawingml/2006/main">
              <a:ext uri="{FF2B5EF4-FFF2-40B4-BE49-F238E27FC236}">
                <a16:creationId xmlns:a16="http://schemas.microsoft.com/office/drawing/2014/main" id="{4E437815-10A7-4455-BB63-F593B1A1B77A}"/>
              </a:ext>
            </a:extLst>
          </p:cNvPr>
          <p:cNvSpPr>
            <a:spLocks xmlns:a="http://schemas.openxmlformats.org/drawingml/2006/main" noGrp="1"/>
          </p:cNvSpPr>
          <p:nvPr/>
        </p:nvSpPr>
        <p:spPr>
          <a:xfrm xmlns:a="http://schemas.openxmlformats.org/drawingml/2006/main">
            <a:off x="609600" y="35147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완료 epoch의 모델과 학습 상태를 저장하여 중단 후 재개합니다.</a:t>
            </a:r>
          </a:p>
        </p:txBody>
      </p:sp>
      <p:sp>
        <p:nvSpPr>
          <p:cNvPr id="6" name="">
            <a:extLst xmlns:a="http://schemas.openxmlformats.org/drawingml/2006/main">
              <a:ext uri="{FF2B5EF4-FFF2-40B4-BE49-F238E27FC236}">
                <a16:creationId xmlns:a16="http://schemas.microsoft.com/office/drawing/2014/main" id="{CFE22482-369E-4BE5-A861-8D6C24E957D7}"/>
              </a:ext>
            </a:extLst>
          </p:cNvPr>
          <p:cNvSpPr>
            <a:spLocks xmlns:a="http://schemas.openxmlformats.org/drawingml/2006/main" noGrp="1"/>
          </p:cNvSpPr>
          <p:nvPr/>
        </p:nvSpPr>
        <p:spPr>
          <a:xfrm xmlns:a="http://schemas.openxmlformats.org/drawingml/2006/main">
            <a:off x="609600" y="4429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제출 ZIP의 파일 해시·여섯 모델 재채점·확정 정책 재생을 확인했습니다.</a:t>
            </a:r>
          </a:p>
        </p:txBody>
      </p:sp>
      <p:sp>
        <p:nvSpPr>
          <p:cNvPr id="7" name="">
            <a:extLst xmlns:a="http://schemas.openxmlformats.org/drawingml/2006/main">
              <a:ext uri="{FF2B5EF4-FFF2-40B4-BE49-F238E27FC236}">
                <a16:creationId xmlns:a16="http://schemas.microsoft.com/office/drawing/2014/main" id="{D23EF1B1-C78F-47E7-B087-A84FDE81BC97}"/>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새 추출 폴더와 기존 Python 환경에서 확인했습니다. 새 환경 재학습·현장 검증·팀 승인은 남아 있습니다.</a:t>
            </a:r>
          </a:p>
        </p:txBody>
      </p:sp>
    </p:spTree>
    <p:extLst>
      <p:ext uri="{BB962C8B-B14F-4D97-AF65-F5344CB8AC3E}">
        <p14:creationId xmlns:p14="http://schemas.microsoft.com/office/powerpoint/2010/main" val="894423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2026-10-05T10:20:05.7650000Z</dcterms:created>
  <dcterms:modified xsi:type="dcterms:W3CDTF">2026-10-05T10:20:05.7650000Z</dcterms:modified>
</coreProperties>
</file>