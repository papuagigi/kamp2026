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2515dc8b2a47de" /><Relationship Type="http://schemas.openxmlformats.org/officeDocument/2006/relationships/extended-properties" Target="/docProps/app.xml" Id="Rcbf0e95500814cf9" /><Relationship Type="http://schemas.openxmlformats.org/officeDocument/2006/relationships/officeDocument" Target="/ppt/presentation.xml" Id="R2751f0e4efd94666" /></Relationships>
</file>

<file path=ppt/presentation.xml><?xml version="1.0" encoding="utf-8"?>
<p:presentation xmlns:p="http://schemas.openxmlformats.org/presentationml/2006/main">
  <p:sldMasterIdLst>
    <p:sldMasterId xmlns:r="http://schemas.openxmlformats.org/officeDocument/2006/relationships" id="2147483648" r:id="Rd0978dc565414977"/>
  </p:sldMasterIdLst>
  <p:notesMasterIdLst>
    <p:notesMasterId xmlns:r="http://schemas.openxmlformats.org/officeDocument/2006/relationships" r:id="Rd6c7baf479b24e18"/>
  </p:notesMasterIdLst>
  <p:sldIdLst>
    <p:sldId xmlns:r="http://schemas.openxmlformats.org/officeDocument/2006/relationships" id="256" r:id="R9165aa44637b4025"/>
    <p:sldId xmlns:r="http://schemas.openxmlformats.org/officeDocument/2006/relationships" id="257" r:id="R79cf5d73e1a84962"/>
    <p:sldId xmlns:r="http://schemas.openxmlformats.org/officeDocument/2006/relationships" id="258" r:id="Rf8890933c0ee436e"/>
    <p:sldId xmlns:r="http://schemas.openxmlformats.org/officeDocument/2006/relationships" id="259" r:id="Rd0b984779de7487b"/>
    <p:sldId xmlns:r="http://schemas.openxmlformats.org/officeDocument/2006/relationships" id="260" r:id="R19aaa646845c48e1"/>
    <p:sldId xmlns:r="http://schemas.openxmlformats.org/officeDocument/2006/relationships" id="261" r:id="Rfdfc4c7ae1854ab7"/>
    <p:sldId xmlns:r="http://schemas.openxmlformats.org/officeDocument/2006/relationships" id="262" r:id="R90694b1c41bb4167"/>
    <p:sldId xmlns:r="http://schemas.openxmlformats.org/officeDocument/2006/relationships" id="263" r:id="R90fd4303b83e4bf7"/>
    <p:sldId xmlns:r="http://schemas.openxmlformats.org/officeDocument/2006/relationships" id="264" r:id="Rafaec18217474289"/>
    <p:sldId xmlns:r="http://schemas.openxmlformats.org/officeDocument/2006/relationships" id="265" r:id="R8deedf18b4cf46d6"/>
    <p:sldId xmlns:r="http://schemas.openxmlformats.org/officeDocument/2006/relationships" id="266" r:id="R18f1e078b0cf44e2"/>
    <p:sldId xmlns:r="http://schemas.openxmlformats.org/officeDocument/2006/relationships" id="267" r:id="Rdbee37c82136483d"/>
    <p:sldId xmlns:r="http://schemas.openxmlformats.org/officeDocument/2006/relationships" id="268" r:id="Rd50a2c574c9643bd"/>
    <p:sldId xmlns:r="http://schemas.openxmlformats.org/officeDocument/2006/relationships" id="269" r:id="R17c20d450cf74152"/>
    <p:sldId xmlns:r="http://schemas.openxmlformats.org/officeDocument/2006/relationships" id="270" r:id="Rae783b9884284d1d"/>
    <p:sldId xmlns:r="http://schemas.openxmlformats.org/officeDocument/2006/relationships" id="271" r:id="Ra930e067cb5a4d6d"/>
    <p:sldId xmlns:r="http://schemas.openxmlformats.org/officeDocument/2006/relationships" id="272" r:id="Rfe3869f164bf4a0a"/>
    <p:sldId xmlns:r="http://schemas.openxmlformats.org/officeDocument/2006/relationships" id="273" r:id="Rcc30ca4ca3b44772"/>
    <p:sldId xmlns:r="http://schemas.openxmlformats.org/officeDocument/2006/relationships" id="274" r:id="R2e178427310d41aa"/>
    <p:sldId xmlns:r="http://schemas.openxmlformats.org/officeDocument/2006/relationships" id="275" r:id="Racde4290e36643da"/>
    <p:sldId xmlns:r="http://schemas.openxmlformats.org/officeDocument/2006/relationships" id="276" r:id="Re5fde87a2b2b4633"/>
    <p:sldId xmlns:r="http://schemas.openxmlformats.org/officeDocument/2006/relationships" id="277" r:id="Rce7fdfa60bff4bbe"/>
    <p:sldId xmlns:r="http://schemas.openxmlformats.org/officeDocument/2006/relationships" id="278" r:id="Rb85a543c261d4d47"/>
    <p:sldId xmlns:r="http://schemas.openxmlformats.org/officeDocument/2006/relationships" id="279" r:id="Rb875baf6771441d1"/>
    <p:sldId xmlns:r="http://schemas.openxmlformats.org/officeDocument/2006/relationships" id="280" r:id="R72436b270fd34d30"/>
    <p:sldId xmlns:r="http://schemas.openxmlformats.org/officeDocument/2006/relationships" id="281" r:id="Rdf7c8e9470d14f68"/>
    <p:sldId xmlns:r="http://schemas.openxmlformats.org/officeDocument/2006/relationships" id="282" r:id="Ra75076231f5142ae"/>
    <p:sldId xmlns:r="http://schemas.openxmlformats.org/officeDocument/2006/relationships" id="283" r:id="R2de1e35a76a8459d"/>
    <p:sldId xmlns:r="http://schemas.openxmlformats.org/officeDocument/2006/relationships" id="284" r:id="R2523f2d26f9544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d1e84e799c4b26" /><Relationship Type="http://schemas.openxmlformats.org/officeDocument/2006/relationships/slideMaster" Target="/ppt/slideMasters/slideMaster1.xml" Id="Rd0978dc565414977" /><Relationship Type="http://schemas.openxmlformats.org/officeDocument/2006/relationships/notesMaster" Target="/ppt/notesMasters/notesMaster1.xml" Id="Rd6c7baf479b24e18" /><Relationship Type="http://schemas.openxmlformats.org/officeDocument/2006/relationships/presProps" Target="/ppt/presProps.xml" Id="R014b85f9eb834816" /><Relationship Type="http://schemas.openxmlformats.org/officeDocument/2006/relationships/tableStyles" Target="/ppt/tableStyles.xml" Id="R4e80534ffe834868" /><Relationship Type="http://schemas.openxmlformats.org/officeDocument/2006/relationships/slide" Target="/ppt/slides/slide1.xml" Id="R9165aa44637b4025" /><Relationship Type="http://schemas.openxmlformats.org/officeDocument/2006/relationships/slide" Target="/ppt/slides/slide2.xml" Id="R79cf5d73e1a84962" /><Relationship Type="http://schemas.openxmlformats.org/officeDocument/2006/relationships/slide" Target="/ppt/slides/slide3.xml" Id="Rf8890933c0ee436e" /><Relationship Type="http://schemas.openxmlformats.org/officeDocument/2006/relationships/slide" Target="/ppt/slides/slide4.xml" Id="Rd0b984779de7487b" /><Relationship Type="http://schemas.openxmlformats.org/officeDocument/2006/relationships/slide" Target="/ppt/slides/slide5.xml" Id="R19aaa646845c48e1" /><Relationship Type="http://schemas.openxmlformats.org/officeDocument/2006/relationships/slide" Target="/ppt/slides/slide6.xml" Id="Rfdfc4c7ae1854ab7" /><Relationship Type="http://schemas.openxmlformats.org/officeDocument/2006/relationships/slide" Target="/ppt/slides/slide7.xml" Id="R90694b1c41bb4167" /><Relationship Type="http://schemas.openxmlformats.org/officeDocument/2006/relationships/slide" Target="/ppt/slides/slide8.xml" Id="R90fd4303b83e4bf7" /><Relationship Type="http://schemas.openxmlformats.org/officeDocument/2006/relationships/slide" Target="/ppt/slides/slide9.xml" Id="Rafaec18217474289" /><Relationship Type="http://schemas.openxmlformats.org/officeDocument/2006/relationships/slide" Target="/ppt/slides/slide10.xml" Id="R8deedf18b4cf46d6" /><Relationship Type="http://schemas.openxmlformats.org/officeDocument/2006/relationships/slide" Target="/ppt/slides/slide11.xml" Id="R18f1e078b0cf44e2" /><Relationship Type="http://schemas.openxmlformats.org/officeDocument/2006/relationships/slide" Target="/ppt/slides/slide12.xml" Id="Rdbee37c82136483d" /><Relationship Type="http://schemas.openxmlformats.org/officeDocument/2006/relationships/slide" Target="/ppt/slides/slide13.xml" Id="Rd50a2c574c9643bd" /><Relationship Type="http://schemas.openxmlformats.org/officeDocument/2006/relationships/slide" Target="/ppt/slides/slide14.xml" Id="R17c20d450cf74152" /><Relationship Type="http://schemas.openxmlformats.org/officeDocument/2006/relationships/slide" Target="/ppt/slides/slide15.xml" Id="Rae783b9884284d1d" /><Relationship Type="http://schemas.openxmlformats.org/officeDocument/2006/relationships/slide" Target="/ppt/slides/slide16.xml" Id="Ra930e067cb5a4d6d" /><Relationship Type="http://schemas.openxmlformats.org/officeDocument/2006/relationships/slide" Target="/ppt/slides/slide17.xml" Id="Rfe3869f164bf4a0a" /><Relationship Type="http://schemas.openxmlformats.org/officeDocument/2006/relationships/slide" Target="/ppt/slides/slide18.xml" Id="Rcc30ca4ca3b44772" /><Relationship Type="http://schemas.openxmlformats.org/officeDocument/2006/relationships/slide" Target="/ppt/slides/slide19.xml" Id="R2e178427310d41aa" /><Relationship Type="http://schemas.openxmlformats.org/officeDocument/2006/relationships/slide" Target="/ppt/slides/slide20.xml" Id="Racde4290e36643da" /><Relationship Type="http://schemas.openxmlformats.org/officeDocument/2006/relationships/slide" Target="/ppt/slides/slide21.xml" Id="Re5fde87a2b2b4633" /><Relationship Type="http://schemas.openxmlformats.org/officeDocument/2006/relationships/slide" Target="/ppt/slides/slide22.xml" Id="Rce7fdfa60bff4bbe" /><Relationship Type="http://schemas.openxmlformats.org/officeDocument/2006/relationships/slide" Target="/ppt/slides/slide23.xml" Id="Rb85a543c261d4d47" /><Relationship Type="http://schemas.openxmlformats.org/officeDocument/2006/relationships/slide" Target="/ppt/slides/slide24.xml" Id="Rb875baf6771441d1" /><Relationship Type="http://schemas.openxmlformats.org/officeDocument/2006/relationships/slide" Target="/ppt/slides/slide25.xml" Id="R72436b270fd34d30" /><Relationship Type="http://schemas.openxmlformats.org/officeDocument/2006/relationships/slide" Target="/ppt/slides/slide26.xml" Id="Rdf7c8e9470d14f68" /><Relationship Type="http://schemas.openxmlformats.org/officeDocument/2006/relationships/slide" Target="/ppt/slides/slide27.xml" Id="Ra75076231f5142ae" /><Relationship Type="http://schemas.openxmlformats.org/officeDocument/2006/relationships/slide" Target="/ppt/slides/slide28.xml" Id="R2de1e35a76a8459d" /><Relationship Type="http://schemas.openxmlformats.org/officeDocument/2006/relationships/slide" Target="/ppt/slides/slide29.xml" Id="R2523f2d26f9544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353de46ad54f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9fa4a250e14f43" /><Relationship Type="http://schemas.openxmlformats.org/officeDocument/2006/relationships/notesMaster" Target="/ppt/notesMasters/notesMaster1.xml" Id="Rac89eb69cec440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a8b7a0783543bd" /><Relationship Type="http://schemas.openxmlformats.org/officeDocument/2006/relationships/notesMaster" Target="/ppt/notesMasters/notesMaster1.xml" Id="R4d4fd674fe3248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7d30142a0c4094" /><Relationship Type="http://schemas.openxmlformats.org/officeDocument/2006/relationships/notesMaster" Target="/ppt/notesMasters/notesMaster1.xml" Id="R31d03e97dcd34a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c778ed4fd3416f" /><Relationship Type="http://schemas.openxmlformats.org/officeDocument/2006/relationships/notesMaster" Target="/ppt/notesMasters/notesMaster1.xml" Id="Rea279e4e026a43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c7e449b5c744a8" /><Relationship Type="http://schemas.openxmlformats.org/officeDocument/2006/relationships/notesMaster" Target="/ppt/notesMasters/notesMaster1.xml" Id="R4e6c11b896c943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a5a28f7d584158" /><Relationship Type="http://schemas.openxmlformats.org/officeDocument/2006/relationships/notesMaster" Target="/ppt/notesMasters/notesMaster1.xml" Id="Rc4a025b6d4a142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f8f7e6ebc2481c" /><Relationship Type="http://schemas.openxmlformats.org/officeDocument/2006/relationships/notesMaster" Target="/ppt/notesMasters/notesMaster1.xml" Id="R5a2ae7fb611a48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0e7b345236426b" /><Relationship Type="http://schemas.openxmlformats.org/officeDocument/2006/relationships/notesMaster" Target="/ppt/notesMasters/notesMaster1.xml" Id="R8a1e104ffaaa4d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c35cc98dcc4566" /><Relationship Type="http://schemas.openxmlformats.org/officeDocument/2006/relationships/notesMaster" Target="/ppt/notesMasters/notesMaster1.xml" Id="R0f8dd419b6ff4c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86d00062d148d3" /><Relationship Type="http://schemas.openxmlformats.org/officeDocument/2006/relationships/notesMaster" Target="/ppt/notesMasters/notesMaster1.xml" Id="Rcd6d5e00d81c43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f577c2c83ab4078" /><Relationship Type="http://schemas.openxmlformats.org/officeDocument/2006/relationships/notesMaster" Target="/ppt/notesMasters/notesMaster1.xml" Id="R98665d60a67c4e7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1506ef28a84cb3" /><Relationship Type="http://schemas.openxmlformats.org/officeDocument/2006/relationships/notesMaster" Target="/ppt/notesMasters/notesMaster1.xml" Id="R568c28fa16b84c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fb74bebcc5d41fe" /><Relationship Type="http://schemas.openxmlformats.org/officeDocument/2006/relationships/notesMaster" Target="/ppt/notesMasters/notesMaster1.xml" Id="R589806b2c4c143f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cdddaff143c4767" /><Relationship Type="http://schemas.openxmlformats.org/officeDocument/2006/relationships/notesMaster" Target="/ppt/notesMasters/notesMaster1.xml" Id="R4cd0e3b578a348d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c525c516b4c4dbf" /><Relationship Type="http://schemas.openxmlformats.org/officeDocument/2006/relationships/notesMaster" Target="/ppt/notesMasters/notesMaster1.xml" Id="R315f69eb857545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06c2caf4c8444ee" /><Relationship Type="http://schemas.openxmlformats.org/officeDocument/2006/relationships/notesMaster" Target="/ppt/notesMasters/notesMaster1.xml" Id="R37ab42af69d04fb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daabaa81b4345fe" /><Relationship Type="http://schemas.openxmlformats.org/officeDocument/2006/relationships/notesMaster" Target="/ppt/notesMasters/notesMaster1.xml" Id="R2219a68da1034ba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d3d6e26f25f40e9" /><Relationship Type="http://schemas.openxmlformats.org/officeDocument/2006/relationships/notesMaster" Target="/ppt/notesMasters/notesMaster1.xml" Id="Rcf7c298502d14dd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a270c4ce8154f1e" /><Relationship Type="http://schemas.openxmlformats.org/officeDocument/2006/relationships/notesMaster" Target="/ppt/notesMasters/notesMaster1.xml" Id="Rcf577ff760a54ff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4ed3d8dc69b4238" /><Relationship Type="http://schemas.openxmlformats.org/officeDocument/2006/relationships/notesMaster" Target="/ppt/notesMasters/notesMaster1.xml" Id="Ra6c6375016064b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24cbe7f845f43e8" /><Relationship Type="http://schemas.openxmlformats.org/officeDocument/2006/relationships/notesMaster" Target="/ppt/notesMasters/notesMaster1.xml" Id="R69516b6a69ff479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252b2ef964c4524" /><Relationship Type="http://schemas.openxmlformats.org/officeDocument/2006/relationships/notesMaster" Target="/ppt/notesMasters/notesMaster1.xml" Id="Rc024dc94fcc54ab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b0bc5d877534f8e" /><Relationship Type="http://schemas.openxmlformats.org/officeDocument/2006/relationships/notesMaster" Target="/ppt/notesMasters/notesMaster1.xml" Id="R5c1c7031b2834b5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1b1af9da35e4d02" /><Relationship Type="http://schemas.openxmlformats.org/officeDocument/2006/relationships/notesMaster" Target="/ppt/notesMasters/notesMaster1.xml" Id="Rcc1c5ec63e01477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3f9f1ea0adb46a6" /><Relationship Type="http://schemas.openxmlformats.org/officeDocument/2006/relationships/notesMaster" Target="/ppt/notesMasters/notesMaster1.xml" Id="R9f7080bc316c44a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56c6bde67174a93" /><Relationship Type="http://schemas.openxmlformats.org/officeDocument/2006/relationships/notesMaster" Target="/ppt/notesMasters/notesMaster1.xml" Id="R3341b85340194b9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f885f1a26aa4e26" /><Relationship Type="http://schemas.openxmlformats.org/officeDocument/2006/relationships/notesMaster" Target="/ppt/notesMasters/notesMaster1.xml" Id="R5f930f8f0e344ed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0c220c85e6a440c" /><Relationship Type="http://schemas.openxmlformats.org/officeDocument/2006/relationships/notesMaster" Target="/ppt/notesMasters/notesMaster1.xml" Id="R27f0367625e5457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9d0f705b02e4350" /><Relationship Type="http://schemas.openxmlformats.org/officeDocument/2006/relationships/notesMaster" Target="/ppt/notesMasters/notesMaster1.xml" Id="R8d93feda811749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제6회 K-인공지능 제조데이터 분석 경진대회. 팀명 미정. 실제 사진 출처: docs/examples/002_20200622_203053(2).png. 학습용 처리 사진이며 실제 공장 적용 결과를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data/xray_v2/manifest.csv, 원본 데이터 감사 결과, docs/19_데이터전처리_정리본.md 0~2절. 공식 TXT 이물 수 1147. 원본 BMP 파일은 2809개이며 중복 제외 사진은2532장.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reports/eda_review_20261004/summary.json, historical_comparison.json, docs/19 2.1~2.3절. 초기점검과 시제품 뒤9/28~29상세EDA,9/30현재전처리적용.10/4동일실행기재확인. 원본2809/고유2532/사본277, 라벨500/박스1147, 긴변중앙값11픽셀. 그림은 프로젝트의 실제 통계를 그린 원본 자료이며 실험 시점과 후속 오류 분석을 구분한다.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scripts/xray_prepare_v2.py mask_palette, docs/figures/19_색표시와_정답의_차이.png. 실제 학습 사진의 처리 전후. 파랑은 TXT 설명선으로 모델 입력에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docs/examples/002_20200622_203053(2).txt, 해당 PNG, docs/figures/19_TXT라벨_사진과_좌표.png. 공식 TXT 사본이며 3개의 정답이 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data/xray_v2/split.csv 및 manifest.csv. 같은 호기에서60초 이내 연속 촬영. 목표60:20:20. 호기와 시험편 구성 고려. 라벨누락 의심 묶음 학습고정. 분할 MD5 8e58184ae24dfd1b48da2e9dfd88fedc.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scripts/xray_prepare_roadmap.py, xray_refine_removal.py, docs/figures/19_실행한_전처리_사진예시.png. 실제 생성된 학습 사진. 변환 TXT는 설명선으로 표현했으며 입력 이미지에는 포함하지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합성의 참고: Kim et al., Real-Time Anomaly Detection in Packaged Food X-Ray Images Using Supervised Learning, 2021, https://doi.org/10.32604/cmc.2021.014642. 의사 라벨 품질 개념: Xu et al., Soft Teacher, ICCV 2021, https://arxiv.org/abs/2106.09018. 본 연구는 Soft Teacher 전체 알고리즘 구현이 아니다. 효과 수치는 자체 ablation_results.json으로 평가.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자체 근거: reports/roadmap_20261002/ablation_results.json, ablation_completion_check.json. IoU0.5, 검증 이물243개, 각 조건별 검증 최고F1 탐지임계값. 동일 실제optimizer740update 및학습률일정. 모든조건20epoch아님. 합성참고Kim2021, 의사라벨품질참고Xu2021. 개별처리효과와2453혼합20epoch최종모델비교를구분.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Ultralytics https://docs.ultralytics.com/models/yolov8/ ; Ren etal https://arxiv.org/abs/1506.01497 ; torchvision https://docs.pytorch.org/vision/0.23/models/generated/torchvision.models.detection.fasterrcnn_resnet50_fpn_v2.html ; RF-DETR https://github.com/roboflow/rf-detr ; D-FINE https://github.com/Peterande/D-FINE . D-FINE의 성능 향상은 가설이며 검증 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scripts/xray_eval.py, docs/figures/19_IoU와_중복예측_설명.png. 이 그림은 개념 설명이며 실제 예측사진이 아니다. 주지표 IoU&gt;=.5 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2026-10-04 보완: 공통 4모델 20epoch 학습과 테스트 완료. 위치 기준 FN과 표시 없는 이물 사진을 구분. 현장 작업자는 공장 품질 담당자를 뜻한다. 재검사는 의심 제품을 다시 확인하는 운영 제안이다. 실제 출하나 생산성 효과는 측정하지 않음. 근거: docs/19 9.9절, docs/20 18절, reports/common_epoch_20261004/evaluation/.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reports/common_epoch_20261004/evaluation/comparison.csv. 학습2453장, 검증107장243개, 테스트97장225개. 선택epoch 20/17/8/11. 검증에서 임계값 고정. 기존 테스트 열람 이력 있음. 모든 테스트 MPS. D-FINE CUDA→MPS 검증에서 경계 점수 한 개의 판정 차이가 있었고 임계값은 유지했다. 최종 모델 미확정.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테스트 사진 002_20200623_203040(4)의 가운데 이물. 공식 TXT9×5픽셀. IoU .469/.462/.472/.397. 9개의 실제 위치 오류 사진 시각 검토, 모델별FN14건에서TXT중심포함. 실제 픽셀 윤곽 정답은 없음. 원래 채점 보존. docs/19 9.8~9.9절.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docs/evidence/common_epoch_20261004/diagnostics/conditions.csv. test97장225이물. 크기는TXT긴변, 대비는21x21median-5x5min, 경계는근사제품마스크내부거리로막대경계와다름. q25/q75학습고정. 관련연구https://doi.org/10.1007/s10921-024-01091-8. POD곡선을검증한실험아님. 촬영묶음내상관과소표본으로탐색적연관에한정.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reports/common_epoch_20261004/evaluation/visual_review/results.json, policy.json, decisions.json. 검증12장사전점검후이미본테스트97장225이물899예측전체검토. 단일AI가이전결과를알고있어독립블라인드아님. 공신력검증과전문가일치도없음. 검은중심포함을판정했고픽셀윤곽정답아님. AP없음. 공식IoU와모델임계값보존.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2026-10-04 보완: 공통 4모델 20epoch 학습과 테스트 완료. 위치 기준 FN과 표시 없는 이물 사진을 구분. 현장 작업자는 공장 품질 담당자를 뜻한다. 재검사는 의심 제품을 다시 확인하는 운영 제안이다. 실제 출하나 생산성 효과는 측정하지 않음. 근거: docs/19 9.9절, docs/20 18절, reports/common_epoch_20261004/evaluation/.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산업 설계 참고: METTLER TOLEDO X-ray Inspection Guidance 5.3,6.3,17~21 https://www.mt.com/nz/en/home/library/know-how/product-inspection/PI-Guides/xray-inspection-guide/x-ray-inspection-wiki.html . 제품 분리 확인과 검사 기록의 산업 사례를 참고. 이 AI 적용안은 프로젝트 제안이며 실제 도입 성과가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reports/common_epoch_20261004/evaluation/cascade_live/{policy,execution,summary}.json. 실제 두 모델 상주 조건부 추론, 검증107장3반복. 원본/반전예측은정답없이IoU0.5일대일비교. 99첫탐지/7두모델대응/1충돌. 기본FP4FN3, 예측교체대조FP2FN2,F1.9917695. 운영정책은보류이므로대조F1을운영F1로부르지않음. 개발deadline1초는호출반환후검사하며hardwatchdog아님. 메모리는MPS스냅샷이므로진정peak아님.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cascade_live/visual_scope.json, visual/cases.json, visual_review.json. 모든routed사진과모든baselineIoU FP/FN사진10장28공식표적국소검토. L002YOLO extra box는흐린무늬여서실물이물여부불명확, 정상라벨로바꾸지않음. 검증전체시각F1산출안함. NoScope https://arxiv.org/abs/1703.02529 ; OHEM https://www.cv-foundation.org/openaccess/content_cvpr_2016/html/Shrivastava_Training_Region-Based_Object_CVPR_2016_paper.html ; SAHI https://arxiv.org/abs/2202.06934 ; 다중전문가 https://proceedings.mlr.press/v206/verma23a.html . 전문화시일반+어려운학습사진혼합,촬영묶음독립검증,검증테스트학습사용금지.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design_review_20261004/latest_validation_comparison.json, latest_test_descriptive.json, proposal_frozen.json. YOLO11 선택epoch5 threshold.48035392, YOLO26 epoch13 threshold.6521711. 24촬영묶음 pairedbootstrap2000seed0의95%범위는차이0포함. https://docs.ultralytics.com/models/yolo11/ ; https://docs.ultralytics.com/models/yolo26/ ; https://arxiv.org/abs/2606.03748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docs/evidence/approved_pair_20261005/evidence.json, live_summary.json; common_epoch_20261004/diagnostics/benchmark_mps.json. YOLO+RF mean36.5533873676 P9544.4887090016, 검증107장x3. 단일RF38.286196ms Faster1396.653765ms는별도실행. 상주상태 PNG읽기·추론·비교시간, 설비제외. RF는YOLOFN3개중2개보완, 공통IoUFN1개. 자동출하성능아님.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docs/evidence/fullframe_policy_20261005/audit.json. valfirstFN3 secondFN2 covered2/1shared1. testfirstFN3secondFN5covered1/3shared2. 고정탐지임계값. 테스트열람이력있음. 사진단위경고와이물단위IoUFN구분.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docs/evidence/fullframe_policy_20261005/policy.json. 사용자승인2026-10-05. 도식의분기는 입력의독립성을뜻하며 GPU동시실행속도를측정했다는뜻아님. 대응규칙IoU.5 일대일. 두모델일치는정답보장아님. 처리규칙은시제품, 실제설비연동미구현.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docs/evidence/review_roles_20261005/summary.json 및 summary.csv. 후보RF3epochTP231FP15FN12F1.9448;tile2epochTP241FP2FN2F1.9918. 검증107장모두YOLO후보있음. 타일전체강제진단. 최적전문모델성능아님.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docs/evidence/fullframe_policy_20261005/audit.json 및 image_states.csv. 정답IoU채점 xray_eval.py. 상태표는사진단위, IoUFN은이물단위. test 95HOLD_DETECTED_OBJECT,2HOLD_REINSPECTION. 매칭되는두모델예측도공통오류일수있음.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scripts/xray_inspection_gate.py, test_xray_inspection_gate.py. 구현은외부시계를받는상태기계이며실제GPU hardwatchdog/PLC아님. 미탐제품률 우선, 정상오경보·보류율·시간초과율함께측정. 실제정상제품0장이므로확률보정/자동PASS미검증. 전체검사처리량은현장대기및GPU병렬수로검토해야함.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제공: 현장 검사속도·재검사 가능량 정보 없음. 아래는 프로젝트가 제안하는 검증 계획. 실제 정상제품 평가, 전체라인처리지연과제품분리연결 검증은 아직 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2026-10-04 보완: 공통 4모델 20epoch 학습과 테스트 완료. 위치 기준 FN과 표시 없는 이물 사진을 구분. 현장 작업자는 공장 품질 담당자를 뜻한다. 재검사는 의심 제품을 다시 확인하는 운영 제안이다. 실제 출하나 생산성 효과는 측정하지 않음. 근거: docs/19 9.9절, docs/20 18절, reports/common_epoch_20261004/evaluation/.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0ae84d7aab45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dbaa1577af4b15" /><Relationship Type="http://schemas.openxmlformats.org/officeDocument/2006/relationships/slideLayout" Target="/ppt/slideLayouts/slideLayout1.xml" Id="R2f8cdfe1275947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8cdfe1275947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9e89526e644fbb" /><Relationship Type="http://schemas.openxmlformats.org/officeDocument/2006/relationships/image" Target="/ppt/media/image.png" Id="R350e326d734c4751" /><Relationship Type="http://schemas.openxmlformats.org/officeDocument/2006/relationships/notesSlide" Target="/ppt/notesSlides/notesSlide1.xml" Id="Re9ff9140bdd646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18657775794317" /><Relationship Type="http://schemas.openxmlformats.org/officeDocument/2006/relationships/notesSlide" Target="/ppt/notesSlides/notesSlide2.xml" Id="R0a5ec72de09449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4855fe59144f9c" /><Relationship Type="http://schemas.openxmlformats.org/officeDocument/2006/relationships/image" Target="/ppt/media/image2.png" Id="R9a8808b0f41b45b5" /><Relationship Type="http://schemas.openxmlformats.org/officeDocument/2006/relationships/notesSlide" Target="/ppt/notesSlides/notesSlide3.xml" Id="R326691ffb7c94f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7447d0153b64f7e" /><Relationship Type="http://schemas.openxmlformats.org/officeDocument/2006/relationships/image" Target="/ppt/media/image3.png" Id="R0e67edf316fb4911" /><Relationship Type="http://schemas.openxmlformats.org/officeDocument/2006/relationships/notesSlide" Target="/ppt/notesSlides/notesSlide4.xml" Id="Rb4cf910368a940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31db9174d046ec" /><Relationship Type="http://schemas.openxmlformats.org/officeDocument/2006/relationships/image" Target="/ppt/media/image4.png" Id="R5e929dddd3a245c5" /><Relationship Type="http://schemas.openxmlformats.org/officeDocument/2006/relationships/notesSlide" Target="/ppt/notesSlides/notesSlide5.xml" Id="R667081cbfed14c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acf8ce60534917" /><Relationship Type="http://schemas.openxmlformats.org/officeDocument/2006/relationships/image" Target="/ppt/media/image5.png" Id="R8ef070d63e65457f" /><Relationship Type="http://schemas.openxmlformats.org/officeDocument/2006/relationships/notesSlide" Target="/ppt/notesSlides/notesSlide6.xml" Id="R9821071984bb44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fc44ce219f4b08" /><Relationship Type="http://schemas.openxmlformats.org/officeDocument/2006/relationships/image" Target="/ppt/media/image6.png" Id="Reb827a75f857473d" /><Relationship Type="http://schemas.openxmlformats.org/officeDocument/2006/relationships/notesSlide" Target="/ppt/notesSlides/notesSlide7.xml" Id="R1abae311b53544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b7a4aeee70482f" /><Relationship Type="http://schemas.openxmlformats.org/officeDocument/2006/relationships/notesSlide" Target="/ppt/notesSlides/notesSlide8.xml" Id="R07dc257173f34f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d0250db6b1d45ff" /><Relationship Type="http://schemas.openxmlformats.org/officeDocument/2006/relationships/notesSlide" Target="/ppt/notesSlides/notesSlide9.xml" Id="R10b4c0514cc54c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5a59a4a4447489e" /><Relationship Type="http://schemas.openxmlformats.org/officeDocument/2006/relationships/notesSlide" Target="/ppt/notesSlides/notesSlide10.xml" Id="R6e674de0b9514e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da9f0430fdf4c69" /><Relationship Type="http://schemas.openxmlformats.org/officeDocument/2006/relationships/image" Target="/ppt/media/image7.png" Id="R4cf4467f1fec4864" /><Relationship Type="http://schemas.openxmlformats.org/officeDocument/2006/relationships/notesSlide" Target="/ppt/notesSlides/notesSlide11.xml" Id="R50dfacf23cbf4e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e8562c63b3f4c23" /><Relationship Type="http://schemas.openxmlformats.org/officeDocument/2006/relationships/notesSlide" Target="/ppt/notesSlides/notesSlide12.xml" Id="R19a0db2bd4d64da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0fa5377927f4895" /><Relationship Type="http://schemas.openxmlformats.org/officeDocument/2006/relationships/notesSlide" Target="/ppt/notesSlides/notesSlide13.xml" Id="R1292272061f44e6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224eb2c485f4a2d" /><Relationship Type="http://schemas.openxmlformats.org/officeDocument/2006/relationships/image" Target="/ppt/media/image8.png" Id="Rf3ccbdad4af1415b" /><Relationship Type="http://schemas.openxmlformats.org/officeDocument/2006/relationships/notesSlide" Target="/ppt/notesSlides/notesSlide14.xml" Id="R18366746415742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3bfa3a9762f4e52" /><Relationship Type="http://schemas.openxmlformats.org/officeDocument/2006/relationships/notesSlide" Target="/ppt/notesSlides/notesSlide15.xml" Id="R5997b66846174af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b732a8846a640c9" /><Relationship Type="http://schemas.openxmlformats.org/officeDocument/2006/relationships/notesSlide" Target="/ppt/notesSlides/notesSlide16.xml" Id="R1ca5bb4c2d25477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de17964700e4447" /><Relationship Type="http://schemas.openxmlformats.org/officeDocument/2006/relationships/notesSlide" Target="/ppt/notesSlides/notesSlide17.xml" Id="R3194fbbd697040a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6b0fa360b6d4eb9" /><Relationship Type="http://schemas.openxmlformats.org/officeDocument/2006/relationships/notesSlide" Target="/ppt/notesSlides/notesSlide18.xml" Id="R78b974b0351b420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4c3628e43054759" /><Relationship Type="http://schemas.openxmlformats.org/officeDocument/2006/relationships/notesSlide" Target="/ppt/notesSlides/notesSlide19.xml" Id="Rf162d8e418774a3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8a58177e8064b57" /><Relationship Type="http://schemas.openxmlformats.org/officeDocument/2006/relationships/image" Target="/ppt/media/image9.png" Id="R24d3e43383204116" /><Relationship Type="http://schemas.openxmlformats.org/officeDocument/2006/relationships/notesSlide" Target="/ppt/notesSlides/notesSlide20.xml" Id="R8243c329eccd42a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77f9207eff248ac" /><Relationship Type="http://schemas.openxmlformats.org/officeDocument/2006/relationships/notesSlide" Target="/ppt/notesSlides/notesSlide21.xml" Id="Rae9f23581dc6452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6ff9b35d7234b28" /><Relationship Type="http://schemas.openxmlformats.org/officeDocument/2006/relationships/notesSlide" Target="/ppt/notesSlides/notesSlide22.xml" Id="R705d7896d308443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60a4101f87a4588" /><Relationship Type="http://schemas.openxmlformats.org/officeDocument/2006/relationships/notesSlide" Target="/ppt/notesSlides/notesSlide23.xml" Id="R5fe3b9f5bf2041d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eb793c130284cd1" /><Relationship Type="http://schemas.openxmlformats.org/officeDocument/2006/relationships/notesSlide" Target="/ppt/notesSlides/notesSlide24.xml" Id="Ra14284c4b5ca4c5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70ef332af0540df" /><Relationship Type="http://schemas.openxmlformats.org/officeDocument/2006/relationships/notesSlide" Target="/ppt/notesSlides/notesSlide25.xml" Id="R67d94181d0bd41c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df5d81960cc43a9" /><Relationship Type="http://schemas.openxmlformats.org/officeDocument/2006/relationships/notesSlide" Target="/ppt/notesSlides/notesSlide26.xml" Id="Rc3585f0cfa3e49b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bb6bcd8f2b2435f" /><Relationship Type="http://schemas.openxmlformats.org/officeDocument/2006/relationships/notesSlide" Target="/ppt/notesSlides/notesSlide27.xml" Id="Rfdbb14b77456413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f4d7ed820624fca" /><Relationship Type="http://schemas.openxmlformats.org/officeDocument/2006/relationships/notesSlide" Target="/ppt/notesSlides/notesSlide28.xml" Id="Rf1cc8c5934e1437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68cacbe055144e9" /><Relationship Type="http://schemas.openxmlformats.org/officeDocument/2006/relationships/notesSlide" Target="/ppt/notesSlides/notesSlide29.xml" Id="Rfe54545ae91a402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63AC4D-B734-44A3-B73A-AEA459638FA8}"/>
              </a:ext>
            </a:extLst>
          </p:cNvPr>
          <p:cNvSpPr>
            <a:spLocks xmlns:a="http://schemas.openxmlformats.org/drawingml/2006/main" noGrp="1"/>
          </p:cNvSpPr>
          <p:nvPr/>
        </p:nvSpPr>
        <p:spPr>
          <a:xfrm xmlns:a="http://schemas.openxmlformats.org/drawingml/2006/main">
            <a:off x="609600" y="361950"/>
            <a:ext cx="10858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4200" b="1">
                <a:solidFill>
                  <a:srgbClr val="162832"/>
                </a:solidFill>
                <a:latin typeface="Apple SD Gothic Neo"/>
                <a:ea typeface="Apple SD Gothic Neo"/>
                <a:cs typeface="Apple SD Gothic Neo"/>
              </a:defRPr>
            </a:pPr>
            <a:r>
              <a:rPr sz="4200" b="1">
                <a:solidFill>
                  <a:srgbClr val="162832"/>
                </a:solidFill>
                <a:latin typeface="Apple SD Gothic Neo"/>
                <a:ea typeface="Apple SD Gothic Neo"/>
                <a:cs typeface="Apple SD Gothic Neo"/>
              </a:rPr>
              <a:t>X-ray 이물 탐지와</a:t>
            </a:r>
          </a:p>
          <a:p xmlns:a="http://schemas.openxmlformats.org/drawingml/2006/main">
            <a:pPr>
              <a:buNone/>
              <a:defRPr sz="4200" b="1">
                <a:solidFill>
                  <a:srgbClr val="162832"/>
                </a:solidFill>
                <a:latin typeface="Apple SD Gothic Neo"/>
                <a:ea typeface="Apple SD Gothic Neo"/>
                <a:cs typeface="Apple SD Gothic Neo"/>
              </a:defRPr>
            </a:pPr>
            <a:r>
              <a:rPr sz="4200" b="1">
                <a:solidFill>
                  <a:srgbClr val="162832"/>
                </a:solidFill>
                <a:latin typeface="Apple SD Gothic Neo"/>
                <a:ea typeface="Apple SD Gothic Neo"/>
                <a:cs typeface="Apple SD Gothic Neo"/>
              </a:rPr>
              <a:t>조건별 오류 분석 기반 재검사 설계</a:t>
            </a:r>
          </a:p>
        </p:txBody>
      </p:sp>
      <p:sp>
        <p:nvSpPr>
          <p:cNvPr id="2" name="">
            <a:extLst xmlns:a="http://schemas.openxmlformats.org/drawingml/2006/main">
              <a:ext uri="{FF2B5EF4-FFF2-40B4-BE49-F238E27FC236}">
                <a16:creationId xmlns:a16="http://schemas.microsoft.com/office/drawing/2014/main" id="{E1CAF826-FF80-4710-A738-F6793FDC26A9}"/>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a:t>
            </a:r>
          </a:p>
        </p:txBody>
      </p:sp>
      <p:sp>
        <p:nvSpPr>
          <p:cNvPr id="3" name="">
            <a:extLst xmlns:a="http://schemas.openxmlformats.org/drawingml/2006/main">
              <a:ext uri="{FF2B5EF4-FFF2-40B4-BE49-F238E27FC236}">
                <a16:creationId xmlns:a16="http://schemas.microsoft.com/office/drawing/2014/main" id="{11A0139E-0712-4916-9A5E-86EECA6F85D3}"/>
              </a:ext>
            </a:extLst>
          </p:cNvPr>
          <p:cNvSpPr>
            <a:spLocks xmlns:a="http://schemas.openxmlformats.org/drawingml/2006/main" noGrp="1"/>
          </p:cNvSpPr>
          <p:nvPr/>
        </p:nvSpPr>
        <p:spPr>
          <a:xfrm xmlns:a="http://schemas.openxmlformats.org/drawingml/2006/main">
            <a:off x="609600" y="278130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53616A"/>
                </a:solidFill>
                <a:latin typeface="Apple SD Gothic Neo"/>
                <a:ea typeface="Apple SD Gothic Neo"/>
                <a:cs typeface="Apple SD Gothic Neo"/>
              </a:defRPr>
            </a:pPr>
            <a:r>
              <a:rPr sz="1950" b="0">
                <a:solidFill>
                  <a:srgbClr val="53616A"/>
                </a:solidFill>
                <a:latin typeface="Apple SD Gothic Neo"/>
                <a:ea typeface="Apple SD Gothic Neo"/>
                <a:cs typeface="Apple SD Gothic Neo"/>
              </a:rPr>
              <a:t>제6회 K-인공지능 제조데이터 분석 경진대회</a:t>
            </a:r>
          </a:p>
        </p:txBody>
      </p:sp>
      <p:sp>
        <p:nvSpPr>
          <p:cNvPr id="4" name="">
            <a:extLst xmlns:a="http://schemas.openxmlformats.org/drawingml/2006/main">
              <a:ext uri="{FF2B5EF4-FFF2-40B4-BE49-F238E27FC236}">
                <a16:creationId xmlns:a16="http://schemas.microsoft.com/office/drawing/2014/main" id="{1D14D0A3-727C-4D80-8A62-97254EB1E8E0}"/>
              </a:ext>
            </a:extLst>
          </p:cNvPr>
          <p:cNvSpPr>
            <a:spLocks xmlns:a="http://schemas.openxmlformats.org/drawingml/2006/main" noGrp="1"/>
          </p:cNvSpPr>
          <p:nvPr/>
        </p:nvSpPr>
        <p:spPr>
          <a:xfrm xmlns:a="http://schemas.openxmlformats.org/drawingml/2006/main">
            <a:off x="609600" y="3638550"/>
            <a:ext cx="6238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검토본 2026.10.05</a:t>
            </a:r>
          </a:p>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전체 사진 이중 검사와 재검증 반영</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50e326d734c4751"/>
          <a:stretch xmlns:a="http://schemas.openxmlformats.org/drawingml/2006/main"/>
        </p:blipFill>
        <p:spPr>
          <a:xfrm xmlns:a="http://schemas.openxmlformats.org/drawingml/2006/main">
            <a:off x="8020624" y="2628900"/>
            <a:ext cx="3332602" cy="3143250"/>
          </a:xfrm>
          <a:prstGeom xmlns:a="http://schemas.openxmlformats.org/drawingml/2006/main" prst="rect">
            <a:avLst/>
          </a:prstGeom>
        </p:spPr>
      </p:pic>
    </p:spTree>
    <p:extLst>
      <p:ext uri="{BB962C8B-B14F-4D97-AF65-F5344CB8AC3E}">
        <p14:creationId xmlns:p14="http://schemas.microsoft.com/office/powerpoint/2010/main" val="3080822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AEDD68-C51B-4253-A2F9-924DB10EA89C}"/>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분석 대상과 데이터 구성</a:t>
            </a:r>
          </a:p>
        </p:txBody>
      </p:sp>
      <p:sp>
        <p:nvSpPr>
          <p:cNvPr id="2" name="">
            <a:extLst xmlns:a="http://schemas.openxmlformats.org/drawingml/2006/main">
              <a:ext uri="{FF2B5EF4-FFF2-40B4-BE49-F238E27FC236}">
                <a16:creationId xmlns:a16="http://schemas.microsoft.com/office/drawing/2014/main" id="{868B2617-469F-448D-885F-B849EEE890D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2</a:t>
            </a:r>
          </a:p>
        </p:txBody>
      </p:sp>
      <p:graphicFrame>
        <p:nvGraphicFramePr>
          <p:cNvPr id="9" name=""/>
          <p:cNvGraphicFramePr/>
          <p:nvPr/>
        </p:nvGraphicFramePr>
        <p:xfrm>
          <a:off xmlns:a="http://schemas.openxmlformats.org/drawingml/2006/main" x="609600" y="1552575"/>
          <a:ext xmlns:a="http://schemas.openxmlformats.org/drawingml/2006/main" cx="10972800" cy="2857500"/>
        </p:xfrm>
        <a:graphic xmlns:a="http://schemas.openxmlformats.org/drawingml/2006/main">
          <a:graphicData uri="http://schemas.openxmlformats.org/drawingml/2006/table">
            <a:tbl>
              <a:tblPr/>
              <a:tblGrid>
                <a:gridCol w="3810000"/>
                <a:gridCol w="1524000"/>
                <a:gridCol w="5638800"/>
              </a:tblGrid>
              <a:tr h="714375">
                <a:tc>
                  <a:txBody>
                    <a:bodyPr lIns="133350" tIns="85725" rIns="114300" bIns="85725"/>
                    <a:lstStyle/>
                    <a:p>
                      <a:r>
                        <a:rPr sz="1875" b="1">
                          <a:solidFill>
                            <a:srgbClr val="FFFFFF"/>
                          </a:solidFill>
                          <a:latin typeface="Apple SD Gothic Neo"/>
                          <a:ea typeface="Apple SD Gothic Neo"/>
                          <a:cs typeface="Apple SD Gothic Neo"/>
                        </a:rPr>
                        <a:t>자료</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사진 수</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뜻</a:t>
                      </a:r>
                    </a:p>
                  </a:txBody>
                  <a:tcPr marL="91440" marR="91440" marT="45720" marB="45720" anchor="ctr">
                    <a:solidFill>
                      <a:srgbClr val="193C4D"/>
                    </a:solidFill>
                  </a:tcPr>
                </a:tc>
              </a:tr>
              <a:tr h="714375">
                <a:tc>
                  <a:txBody>
                    <a:bodyPr lIns="133350" tIns="85725" rIns="114300" bIns="85725"/>
                    <a:lstStyle/>
                    <a:p>
                      <a:r>
                        <a:rPr sz="1875" b="0">
                          <a:solidFill>
                            <a:srgbClr val="162832"/>
                          </a:solidFill>
                          <a:latin typeface="Apple SD Gothic Neo"/>
                          <a:ea typeface="Apple SD Gothic Neo"/>
                          <a:cs typeface="Apple SD Gothic Neo"/>
                        </a:rPr>
                        <a:t>원본 데이터셋</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2,532</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중복을 제외한 고유 사진</a:t>
                      </a:r>
                    </a:p>
                  </a:txBody>
                  <a:tcPr marL="91440" marR="91440" marT="45720" marB="45720" anchor="ctr">
                    <a:solidFill>
                      <a:srgbClr val="FFFFFF"/>
                    </a:solidFill>
                  </a:tcPr>
                </a:tc>
              </a:tr>
              <a:tr h="714375">
                <a:tc>
                  <a:txBody>
                    <a:bodyPr lIns="133350" tIns="85725" rIns="114300" bIns="85725"/>
                    <a:lstStyle/>
                    <a:p>
                      <a:r>
                        <a:rPr sz="1875" b="0">
                          <a:solidFill>
                            <a:srgbClr val="162832"/>
                          </a:solidFill>
                          <a:latin typeface="Apple SD Gothic Neo"/>
                          <a:ea typeface="Apple SD Gothic Neo"/>
                          <a:cs typeface="Apple SD Gothic Neo"/>
                        </a:rPr>
                        <a:t>라벨 제공 데이터셋</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500</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공식 TXT가 있는 사진</a:t>
                      </a:r>
                    </a:p>
                  </a:txBody>
                  <a:tcPr marL="91440" marR="91440" marT="45720" marB="45720" anchor="ctr">
                    <a:solidFill>
                      <a:srgbClr val="F1F5F6"/>
                    </a:solidFill>
                  </a:tcPr>
                </a:tc>
              </a:tr>
              <a:tr h="714375">
                <a:tc>
                  <a:txBody>
                    <a:bodyPr lIns="133350" tIns="85725" rIns="114300" bIns="85725"/>
                    <a:lstStyle/>
                    <a:p>
                      <a:r>
                        <a:rPr sz="1875" b="0">
                          <a:solidFill>
                            <a:srgbClr val="162832"/>
                          </a:solidFill>
                          <a:latin typeface="Apple SD Gothic Neo"/>
                          <a:ea typeface="Apple SD Gothic Neo"/>
                          <a:cs typeface="Apple SD Gothic Neo"/>
                        </a:rPr>
                        <a:t>미라벨 데이터셋</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2,032</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TXT 없음. 정상이라는 뜻은 아님</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DF7DB2D-9847-4211-A5AE-165606A6FB74}"/>
              </a:ext>
            </a:extLst>
          </p:cNvPr>
          <p:cNvSpPr>
            <a:spLocks xmlns:a="http://schemas.openxmlformats.org/drawingml/2006/main" noGrp="1"/>
          </p:cNvSpPr>
          <p:nvPr/>
        </p:nvSpPr>
        <p:spPr>
          <a:xfrm xmlns:a="http://schemas.openxmlformats.org/drawingml/2006/main">
            <a:off x="609600" y="481012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라벨은 500장이고, 대부분 작은 이물을 포함한 시험편 사진입니다.</a:t>
            </a:r>
          </a:p>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추가 학습 자료의 효과와 조건별 오류를 확인하고 재검사 구조를 비교했습니다.</a:t>
            </a:r>
          </a:p>
        </p:txBody>
      </p:sp>
    </p:spTree>
    <p:extLst>
      <p:ext uri="{BB962C8B-B14F-4D97-AF65-F5344CB8AC3E}">
        <p14:creationId xmlns:p14="http://schemas.microsoft.com/office/powerpoint/2010/main" val="10752743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92117D-ACBB-4302-8FDB-2822230FB68A}"/>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EDA와 전처리 선택 근거</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a8808b0f41b45b5"/>
          <a:stretch xmlns:a="http://schemas.openxmlformats.org/drawingml/2006/main"/>
        </p:blipFill>
        <p:spPr>
          <a:xfrm xmlns:a="http://schemas.openxmlformats.org/drawingml/2006/main">
            <a:off x="2075564" y="1285875"/>
            <a:ext cx="8040872" cy="3143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BD180D2-5540-41FF-B3E9-5C37995F1FFA}"/>
              </a:ext>
            </a:extLst>
          </p:cNvPr>
          <p:cNvSpPr>
            <a:spLocks xmlns:a="http://schemas.openxmlformats.org/drawingml/2006/main" noGrp="1"/>
          </p:cNvSpPr>
          <p:nvPr/>
        </p:nvSpPr>
        <p:spPr>
          <a:xfrm xmlns:a="http://schemas.openxmlformats.org/drawingml/2006/main">
            <a:off x="609600" y="45434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중복 사본 277개를 확인해 고유 사진 2,532장을 구분했습니다.</a:t>
            </a:r>
          </a:p>
        </p:txBody>
      </p:sp>
      <p:sp>
        <p:nvSpPr>
          <p:cNvPr id="4" name="">
            <a:extLst xmlns:a="http://schemas.openxmlformats.org/drawingml/2006/main">
              <a:ext uri="{FF2B5EF4-FFF2-40B4-BE49-F238E27FC236}">
                <a16:creationId xmlns:a16="http://schemas.microsoft.com/office/drawing/2014/main" id="{E747FF03-B32F-45E2-9F6C-E978D54B1CFB}"/>
              </a:ext>
            </a:extLst>
          </p:cNvPr>
          <p:cNvSpPr>
            <a:spLocks xmlns:a="http://schemas.openxmlformats.org/drawingml/2006/main" noGrp="1"/>
          </p:cNvSpPr>
          <p:nvPr/>
        </p:nvSpPr>
        <p:spPr>
          <a:xfrm xmlns:a="http://schemas.openxmlformats.org/drawingml/2006/main">
            <a:off x="609600" y="4953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작은 박스가 많아 색 네모의 테두리 픽셀만 제거했습니다.</a:t>
            </a:r>
          </a:p>
        </p:txBody>
      </p:sp>
      <p:sp>
        <p:nvSpPr>
          <p:cNvPr id="5" name="">
            <a:extLst xmlns:a="http://schemas.openxmlformats.org/drawingml/2006/main">
              <a:ext uri="{FF2B5EF4-FFF2-40B4-BE49-F238E27FC236}">
                <a16:creationId xmlns:a16="http://schemas.microsoft.com/office/drawing/2014/main" id="{C8E80BE2-C39C-4B86-8DEA-24E1B481C62B}"/>
              </a:ext>
            </a:extLst>
          </p:cNvPr>
          <p:cNvSpPr>
            <a:spLocks xmlns:a="http://schemas.openxmlformats.org/drawingml/2006/main" noGrp="1"/>
          </p:cNvSpPr>
          <p:nvPr/>
        </p:nvSpPr>
        <p:spPr>
          <a:xfrm xmlns:a="http://schemas.openxmlformats.org/drawingml/2006/main">
            <a:off x="609600" y="53625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연속 촬영 구조를 확인해 촬영 묶음을 유지하며 분할했습니다.</a:t>
            </a:r>
          </a:p>
        </p:txBody>
      </p:sp>
      <p:sp>
        <p:nvSpPr>
          <p:cNvPr id="6" name="">
            <a:extLst xmlns:a="http://schemas.openxmlformats.org/drawingml/2006/main">
              <a:ext uri="{FF2B5EF4-FFF2-40B4-BE49-F238E27FC236}">
                <a16:creationId xmlns:a16="http://schemas.microsoft.com/office/drawing/2014/main" id="{02D652C7-AA5D-4786-B76B-D9B305E25E44}"/>
              </a:ext>
            </a:extLst>
          </p:cNvPr>
          <p:cNvSpPr>
            <a:spLocks xmlns:a="http://schemas.openxmlformats.org/drawingml/2006/main" noGrp="1"/>
          </p:cNvSpPr>
          <p:nvPr/>
        </p:nvSpPr>
        <p:spPr>
          <a:xfrm xmlns:a="http://schemas.openxmlformats.org/drawingml/2006/main">
            <a:off x="609600" y="57721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시험편 중심 자료입니다. 실제 정상 제품 평가 자료는 없습니다.</a:t>
            </a:r>
          </a:p>
        </p:txBody>
      </p:sp>
      <p:sp>
        <p:nvSpPr>
          <p:cNvPr id="7" name="">
            <a:extLst xmlns:a="http://schemas.openxmlformats.org/drawingml/2006/main">
              <a:ext uri="{FF2B5EF4-FFF2-40B4-BE49-F238E27FC236}">
                <a16:creationId xmlns:a16="http://schemas.microsoft.com/office/drawing/2014/main" id="{4C1C198B-94CC-4DA5-9AE6-C50F373C2647}"/>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3</a:t>
            </a:r>
          </a:p>
        </p:txBody>
      </p:sp>
    </p:spTree>
    <p:extLst>
      <p:ext uri="{BB962C8B-B14F-4D97-AF65-F5344CB8AC3E}">
        <p14:creationId xmlns:p14="http://schemas.microsoft.com/office/powerpoint/2010/main" val="1233303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0A831E-878B-4BB0-8305-E4F02DEF4BF2}"/>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색 네모만 제거하고 이물의 모습을 남김</a:t>
            </a:r>
          </a:p>
        </p:txBody>
      </p:sp>
      <p:sp>
        <p:nvSpPr>
          <p:cNvPr id="2" name="">
            <a:extLst xmlns:a="http://schemas.openxmlformats.org/drawingml/2006/main">
              <a:ext uri="{FF2B5EF4-FFF2-40B4-BE49-F238E27FC236}">
                <a16:creationId xmlns:a16="http://schemas.microsoft.com/office/drawing/2014/main" id="{997CA82F-6B63-4F66-9882-2AC40990E47B}"/>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e67edf316fb4911"/>
          <a:stretch xmlns:a="http://schemas.openxmlformats.org/drawingml/2006/main"/>
        </p:blipFill>
        <p:spPr>
          <a:xfrm xmlns:a="http://schemas.openxmlformats.org/drawingml/2006/main">
            <a:off x="1809750" y="1419225"/>
            <a:ext cx="8572500"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DE65697-B991-47C1-9FBE-C231FD2E0807}"/>
              </a:ext>
            </a:extLst>
          </p:cNvPr>
          <p:cNvSpPr>
            <a:spLocks xmlns:a="http://schemas.openxmlformats.org/drawingml/2006/main" noGrp="1"/>
          </p:cNvSpPr>
          <p:nvPr/>
        </p:nvSpPr>
        <p:spPr>
          <a:xfrm xmlns:a="http://schemas.openxmlformats.org/drawingml/2006/main">
            <a:off x="609600" y="5334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팔레트 244~255 픽셀만 선택하고 주변 영상으로 메웠습니다.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선 아래의 원래 밝기는 추정값입니다. 공식 TXT는 별도로 보존했습니다.</a:t>
            </a:r>
          </a:p>
        </p:txBody>
      </p:sp>
    </p:spTree>
    <p:extLst>
      <p:ext uri="{BB962C8B-B14F-4D97-AF65-F5344CB8AC3E}">
        <p14:creationId xmlns:p14="http://schemas.microsoft.com/office/powerpoint/2010/main" val="20649390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942818-7EBA-4B39-BC0E-35BCD7345C32}"/>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TXT 한 줄은 이물 하나의 위치</a:t>
            </a:r>
          </a:p>
        </p:txBody>
      </p:sp>
      <p:sp>
        <p:nvSpPr>
          <p:cNvPr id="2" name="">
            <a:extLst xmlns:a="http://schemas.openxmlformats.org/drawingml/2006/main">
              <a:ext uri="{FF2B5EF4-FFF2-40B4-BE49-F238E27FC236}">
                <a16:creationId xmlns:a16="http://schemas.microsoft.com/office/drawing/2014/main" id="{56832DEB-99DC-4F01-A2DC-B9F09EAE7585}"/>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e929dddd3a245c5"/>
          <a:stretch xmlns:a="http://schemas.openxmlformats.org/drawingml/2006/main"/>
        </p:blipFill>
        <p:spPr>
          <a:xfrm xmlns:a="http://schemas.openxmlformats.org/drawingml/2006/main">
            <a:off x="2197474" y="1314450"/>
            <a:ext cx="7797053" cy="47339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4920E5A-BFBA-4CD2-BFFD-8D4FF218E40C}"/>
              </a:ext>
            </a:extLst>
          </p:cNvPr>
          <p:cNvSpPr>
            <a:spLocks xmlns:a="http://schemas.openxmlformats.org/drawingml/2006/main" noGrp="1"/>
          </p:cNvSpPr>
          <p:nvPr/>
        </p:nvSpPr>
        <p:spPr>
          <a:xfrm xmlns:a="http://schemas.openxmlformats.org/drawingml/2006/main">
            <a:off x="609600" y="60483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종류 번호 0은 이물을 뜻합니다. 좌표는 사진 크기에 대한 비율입니다.</a:t>
            </a:r>
          </a:p>
        </p:txBody>
      </p:sp>
    </p:spTree>
    <p:extLst>
      <p:ext uri="{BB962C8B-B14F-4D97-AF65-F5344CB8AC3E}">
        <p14:creationId xmlns:p14="http://schemas.microsoft.com/office/powerpoint/2010/main" val="6928671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081DF8-AB73-4231-8601-08F7B132C54D}"/>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연속 사진은 같은 촬영 묶음에 배정</a:t>
            </a:r>
          </a:p>
        </p:txBody>
      </p:sp>
      <p:sp>
        <p:nvSpPr>
          <p:cNvPr id="2" name="">
            <a:extLst xmlns:a="http://schemas.openxmlformats.org/drawingml/2006/main">
              <a:ext uri="{FF2B5EF4-FFF2-40B4-BE49-F238E27FC236}">
                <a16:creationId xmlns:a16="http://schemas.microsoft.com/office/drawing/2014/main" id="{47F877AE-6090-435B-8D0B-87F0FB5C3A73}"/>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ef070d63e65457f"/>
          <a:stretch xmlns:a="http://schemas.openxmlformats.org/drawingml/2006/main"/>
        </p:blipFill>
        <p:spPr>
          <a:xfrm xmlns:a="http://schemas.openxmlformats.org/drawingml/2006/main">
            <a:off x="1524000" y="1467283"/>
            <a:ext cx="9144000" cy="399010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7A2460F-1DB0-4AF7-8D38-E7070096AE08}"/>
              </a:ext>
            </a:extLst>
          </p:cNvPr>
          <p:cNvSpPr>
            <a:spLocks xmlns:a="http://schemas.openxmlformats.org/drawingml/2006/main" noGrp="1"/>
          </p:cNvSpPr>
          <p:nvPr/>
        </p:nvSpPr>
        <p:spPr>
          <a:xfrm xmlns:a="http://schemas.openxmlformats.org/drawingml/2006/main">
            <a:off x="609600" y="55721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기본 학습 296장     검증 107장     테스트 97장</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비슷한 연속 사진이 학습과 평가에 함께 들어가는 것을 줄였습니다.</a:t>
            </a:r>
          </a:p>
        </p:txBody>
      </p:sp>
    </p:spTree>
    <p:extLst>
      <p:ext uri="{BB962C8B-B14F-4D97-AF65-F5344CB8AC3E}">
        <p14:creationId xmlns:p14="http://schemas.microsoft.com/office/powerpoint/2010/main" val="4613605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5E1E57-23F2-45A6-AEB5-2E48466F72F3}"/>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사진 전체 변형과 이물 합성 및 제거</a:t>
            </a:r>
          </a:p>
        </p:txBody>
      </p:sp>
      <p:sp>
        <p:nvSpPr>
          <p:cNvPr id="2" name="">
            <a:extLst xmlns:a="http://schemas.openxmlformats.org/drawingml/2006/main">
              <a:ext uri="{FF2B5EF4-FFF2-40B4-BE49-F238E27FC236}">
                <a16:creationId xmlns:a16="http://schemas.microsoft.com/office/drawing/2014/main" id="{D333E661-667A-4AA1-8957-F0D371DA8F95}"/>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b827a75f857473d"/>
          <a:stretch xmlns:a="http://schemas.openxmlformats.org/drawingml/2006/main"/>
        </p:blipFill>
        <p:spPr>
          <a:xfrm xmlns:a="http://schemas.openxmlformats.org/drawingml/2006/main">
            <a:off x="2622021" y="1304925"/>
            <a:ext cx="6947958" cy="4810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E25A9F2-7775-4852-A430-A988268157A9}"/>
              </a:ext>
            </a:extLst>
          </p:cNvPr>
          <p:cNvSpPr>
            <a:spLocks xmlns:a="http://schemas.openxmlformats.org/drawingml/2006/main" noGrp="1"/>
          </p:cNvSpPr>
          <p:nvPr/>
        </p:nvSpPr>
        <p:spPr>
          <a:xfrm xmlns:a="http://schemas.openxmlformats.org/drawingml/2006/main">
            <a:off x="609600" y="61436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증강은 기본 학습 데이터셋에서만 만들었습니다. 검증·테스트에는 추가하지 않았습니다.</a:t>
            </a:r>
          </a:p>
        </p:txBody>
      </p:sp>
    </p:spTree>
    <p:extLst>
      <p:ext uri="{BB962C8B-B14F-4D97-AF65-F5344CB8AC3E}">
        <p14:creationId xmlns:p14="http://schemas.microsoft.com/office/powerpoint/2010/main" val="8451225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A4EC49-3648-4C81-8E30-D7EEB6588471}"/>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전체 혼합 학습 자료 2,453장</a:t>
            </a:r>
          </a:p>
        </p:txBody>
      </p:sp>
      <p:sp>
        <p:nvSpPr>
          <p:cNvPr id="2" name="">
            <a:extLst xmlns:a="http://schemas.openxmlformats.org/drawingml/2006/main">
              <a:ext uri="{FF2B5EF4-FFF2-40B4-BE49-F238E27FC236}">
                <a16:creationId xmlns:a16="http://schemas.microsoft.com/office/drawing/2014/main" id="{C98A7843-7C36-426F-9F6D-EFF60B808AFD}"/>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8</a:t>
            </a:r>
          </a:p>
        </p:txBody>
      </p:sp>
      <p:graphicFrame>
        <p:nvGraphicFramePr>
          <p:cNvPr id="10" name=""/>
          <p:cNvGraphicFramePr/>
          <p:nvPr/>
        </p:nvGraphicFramePr>
        <p:xfrm>
          <a:off xmlns:a="http://schemas.openxmlformats.org/drawingml/2006/main" x="609600" y="1438275"/>
          <a:ext xmlns:a="http://schemas.openxmlformats.org/drawingml/2006/main" cx="5905500" cy="4467225"/>
        </p:xfrm>
        <a:graphic xmlns:a="http://schemas.openxmlformats.org/drawingml/2006/main">
          <a:graphicData uri="http://schemas.openxmlformats.org/drawingml/2006/table">
            <a:tbl>
              <a:tblPr/>
              <a:tblGrid>
                <a:gridCol w="4286250"/>
                <a:gridCol w="1619250"/>
              </a:tblGrid>
              <a:tr h="638175">
                <a:tc>
                  <a:txBody>
                    <a:bodyPr lIns="133350" tIns="85725" rIns="114300" bIns="85725"/>
                    <a:lstStyle/>
                    <a:p>
                      <a:r>
                        <a:rPr sz="1875" b="1">
                          <a:solidFill>
                            <a:srgbClr val="FFFFFF"/>
                          </a:solidFill>
                          <a:latin typeface="Apple SD Gothic Neo"/>
                          <a:ea typeface="Apple SD Gothic Neo"/>
                          <a:cs typeface="Apple SD Gothic Neo"/>
                        </a:rPr>
                        <a:t>학습 자료</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사진 수</a:t>
                      </a:r>
                    </a:p>
                  </a:txBody>
                  <a:tcPr marL="91440" marR="91440" marT="45720" marB="45720" anchor="ctr">
                    <a:solidFill>
                      <a:srgbClr val="193C4D"/>
                    </a:solidFill>
                  </a:tcPr>
                </a:tc>
              </a:tr>
              <a:tr h="638175">
                <a:tc>
                  <a:txBody>
                    <a:bodyPr lIns="133350" tIns="85725" rIns="114300" bIns="85725"/>
                    <a:lstStyle/>
                    <a:p>
                      <a:r>
                        <a:rPr sz="1875" b="0">
                          <a:solidFill>
                            <a:srgbClr val="162832"/>
                          </a:solidFill>
                          <a:latin typeface="Apple SD Gothic Neo"/>
                          <a:ea typeface="Apple SD Gothic Neo"/>
                          <a:cs typeface="Apple SD Gothic Neo"/>
                        </a:rPr>
                        <a:t>기본 학습</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296</a:t>
                      </a:r>
                    </a:p>
                  </a:txBody>
                  <a:tcPr marL="91440" marR="91440" marT="45720" marB="45720" anchor="ctr">
                    <a:solidFill>
                      <a:srgbClr val="FFFFFF"/>
                    </a:solidFill>
                  </a:tcPr>
                </a:tc>
              </a:tr>
              <a:tr h="638175">
                <a:tc>
                  <a:txBody>
                    <a:bodyPr lIns="133350" tIns="85725" rIns="114300" bIns="85725"/>
                    <a:lstStyle/>
                    <a:p>
                      <a:r>
                        <a:rPr sz="1875" b="0">
                          <a:solidFill>
                            <a:srgbClr val="162832"/>
                          </a:solidFill>
                          <a:latin typeface="Apple SD Gothic Neo"/>
                          <a:ea typeface="Apple SD Gothic Neo"/>
                          <a:cs typeface="Apple SD Gothic Neo"/>
                        </a:rPr>
                        <a:t>자르기와 전체 회전</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885</a:t>
                      </a:r>
                    </a:p>
                  </a:txBody>
                  <a:tcPr marL="91440" marR="91440" marT="45720" marB="45720" anchor="ctr">
                    <a:solidFill>
                      <a:srgbClr val="F1F5F6"/>
                    </a:solidFill>
                  </a:tcPr>
                </a:tc>
              </a:tr>
              <a:tr h="638175">
                <a:tc>
                  <a:txBody>
                    <a:bodyPr lIns="133350" tIns="85725" rIns="114300" bIns="85725"/>
                    <a:lstStyle/>
                    <a:p>
                      <a:r>
                        <a:rPr sz="1875" b="0">
                          <a:solidFill>
                            <a:srgbClr val="162832"/>
                          </a:solidFill>
                          <a:latin typeface="Apple SD Gothic Neo"/>
                          <a:ea typeface="Apple SD Gothic Neo"/>
                          <a:cs typeface="Apple SD Gothic Neo"/>
                        </a:rPr>
                        <a:t>이물 전부·일부 제거</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175</a:t>
                      </a:r>
                    </a:p>
                  </a:txBody>
                  <a:tcPr marL="91440" marR="91440" marT="45720" marB="45720" anchor="ctr">
                    <a:solidFill>
                      <a:srgbClr val="FFFFFF"/>
                    </a:solidFill>
                  </a:tcPr>
                </a:tc>
              </a:tr>
              <a:tr h="638175">
                <a:tc>
                  <a:txBody>
                    <a:bodyPr lIns="133350" tIns="85725" rIns="114300" bIns="85725"/>
                    <a:lstStyle/>
                    <a:p>
                      <a:r>
                        <a:rPr sz="1875" b="0">
                          <a:solidFill>
                            <a:srgbClr val="162832"/>
                          </a:solidFill>
                          <a:latin typeface="Apple SD Gothic Neo"/>
                          <a:ea typeface="Apple SD Gothic Neo"/>
                          <a:cs typeface="Apple SD Gothic Neo"/>
                        </a:rPr>
                        <a:t>막대 밖 이물 합성</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295</a:t>
                      </a:r>
                    </a:p>
                  </a:txBody>
                  <a:tcPr marL="91440" marR="91440" marT="45720" marB="45720" anchor="ctr">
                    <a:solidFill>
                      <a:srgbClr val="F1F5F6"/>
                    </a:solidFill>
                  </a:tcPr>
                </a:tc>
              </a:tr>
              <a:tr h="638175">
                <a:tc>
                  <a:txBody>
                    <a:bodyPr lIns="133350" tIns="85725" rIns="114300" bIns="85725"/>
                    <a:lstStyle/>
                    <a:p>
                      <a:r>
                        <a:rPr sz="1875" b="0">
                          <a:solidFill>
                            <a:srgbClr val="162832"/>
                          </a:solidFill>
                          <a:latin typeface="Apple SD Gothic Neo"/>
                          <a:ea typeface="Apple SD Gothic Neo"/>
                          <a:cs typeface="Apple SD Gothic Neo"/>
                        </a:rPr>
                        <a:t>자동 채택 의사 라벨</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802</a:t>
                      </a:r>
                    </a:p>
                  </a:txBody>
                  <a:tcPr marL="91440" marR="91440" marT="45720" marB="45720" anchor="ctr">
                    <a:solidFill>
                      <a:srgbClr val="FFFFFF"/>
                    </a:solidFill>
                  </a:tcPr>
                </a:tc>
              </a:tr>
              <a:tr h="638175">
                <a:tc>
                  <a:txBody>
                    <a:bodyPr lIns="133350" tIns="85725" rIns="114300" bIns="85725"/>
                    <a:lstStyle/>
                    <a:p>
                      <a:r>
                        <a:rPr sz="1875" b="0">
                          <a:solidFill>
                            <a:srgbClr val="162832"/>
                          </a:solidFill>
                          <a:latin typeface="Apple SD Gothic Neo"/>
                          <a:ea typeface="Apple SD Gothic Neo"/>
                          <a:cs typeface="Apple SD Gothic Neo"/>
                        </a:rPr>
                        <a:t>합계</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2,453</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C4B7CDD4-AC58-4DEE-9DBF-9E252BB3C30D}"/>
              </a:ext>
            </a:extLst>
          </p:cNvPr>
          <p:cNvSpPr>
            <a:spLocks xmlns:a="http://schemas.openxmlformats.org/drawingml/2006/main" noGrp="1"/>
          </p:cNvSpPr>
          <p:nvPr/>
        </p:nvSpPr>
        <p:spPr>
          <a:xfrm xmlns:a="http://schemas.openxmlformats.org/drawingml/2006/main">
            <a:off x="6991350" y="1762125"/>
            <a:ext cx="44291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추가 후보 1,900장 중</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네 예측의 합의와 영상 검사를</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통과한 802장만 사용했습니다.</a:t>
            </a:r>
          </a:p>
        </p:txBody>
      </p:sp>
      <p:sp>
        <p:nvSpPr>
          <p:cNvPr id="5" name="">
            <a:extLst xmlns:a="http://schemas.openxmlformats.org/drawingml/2006/main">
              <a:ext uri="{FF2B5EF4-FFF2-40B4-BE49-F238E27FC236}">
                <a16:creationId xmlns:a16="http://schemas.microsoft.com/office/drawing/2014/main" id="{E97135A8-7041-4CDE-A95C-475128A9D91B}"/>
              </a:ext>
            </a:extLst>
          </p:cNvPr>
          <p:cNvSpPr>
            <a:spLocks xmlns:a="http://schemas.openxmlformats.org/drawingml/2006/main" noGrp="1"/>
          </p:cNvSpPr>
          <p:nvPr/>
        </p:nvSpPr>
        <p:spPr>
          <a:xfrm xmlns:a="http://schemas.openxmlformats.org/drawingml/2006/main">
            <a:off x="6991350" y="3771900"/>
            <a:ext cx="4429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합성·의사 라벨은 자료 부족을</a:t>
            </a:r>
          </a:p>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보완하는 가설입니다.</a:t>
            </a:r>
          </a:p>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효과는 다음 비교에서 확인합니다.</a:t>
            </a:r>
          </a:p>
        </p:txBody>
      </p:sp>
    </p:spTree>
    <p:extLst>
      <p:ext uri="{BB962C8B-B14F-4D97-AF65-F5344CB8AC3E}">
        <p14:creationId xmlns:p14="http://schemas.microsoft.com/office/powerpoint/2010/main" val="5191688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9B8082-104A-433D-9CA8-C91F9172525B}"/>
              </a:ext>
            </a:extLst>
          </p:cNvPr>
          <p:cNvSpPr>
            <a:spLocks xmlns:a="http://schemas.openxmlformats.org/drawingml/2006/main" noGrp="1"/>
          </p:cNvSpPr>
          <p:nvPr/>
        </p:nvSpPr>
        <p:spPr>
          <a:xfrm xmlns:a="http://schemas.openxmlformats.org/drawingml/2006/main">
            <a:off x="609600" y="3619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62832"/>
                </a:solidFill>
                <a:latin typeface="Apple SD Gothic Neo"/>
                <a:ea typeface="Apple SD Gothic Neo"/>
                <a:cs typeface="Apple SD Gothic Neo"/>
              </a:defRPr>
            </a:pPr>
            <a:r>
              <a:rPr sz="3000" b="1">
                <a:solidFill>
                  <a:srgbClr val="162832"/>
                </a:solidFill>
                <a:latin typeface="Apple SD Gothic Neo"/>
                <a:ea typeface="Apple SD Gothic Neo"/>
                <a:cs typeface="Apple SD Gothic Neo"/>
              </a:rPr>
              <a:t>전처리 효과는 조건별로 달랐습니다</a:t>
            </a:r>
          </a:p>
        </p:txBody>
      </p:sp>
      <p:graphicFrame>
        <p:nvGraphicFramePr>
          <p:cNvPr id="7" name=""/>
          <p:cNvGraphicFramePr/>
          <p:nvPr/>
        </p:nvGraphicFramePr>
        <p:xfrm>
          <a:off xmlns:a="http://schemas.openxmlformats.org/drawingml/2006/main" x="609600" y="1371600"/>
          <a:ext xmlns:a="http://schemas.openxmlformats.org/drawingml/2006/main" cx="10972800" cy="3514725"/>
        </p:xfrm>
        <a:graphic xmlns:a="http://schemas.openxmlformats.org/drawingml/2006/main">
          <a:graphicData uri="http://schemas.openxmlformats.org/drawingml/2006/table">
            <a:tbl>
              <a:tblPr/>
              <a:tblGrid>
                <a:gridCol w="5524500"/>
                <a:gridCol w="1428750"/>
                <a:gridCol w="1714500"/>
                <a:gridCol w="1152525"/>
                <a:gridCol w="1152525"/>
              </a:tblGrid>
              <a:tr h="390525">
                <a:tc>
                  <a:txBody>
                    <a:bodyPr lIns="114300" tIns="57150" rIns="95250" bIns="57150"/>
                    <a:lstStyle/>
                    <a:p>
                      <a:r>
                        <a:rPr sz="1650" b="1">
                          <a:solidFill>
                            <a:srgbClr val="FFFFFF"/>
                          </a:solidFill>
                          <a:latin typeface="Apple SD Gothic Neo"/>
                          <a:ea typeface="Apple SD Gothic Neo"/>
                          <a:cs typeface="Apple SD Gothic Neo"/>
                        </a:rPr>
                        <a:t>별도 학습 조건</a:t>
                      </a:r>
                    </a:p>
                  </a:txBody>
                  <a:tcPr marL="91440" marR="91440" marT="45720" marB="45720" anchor="ctr">
                    <a:solidFill>
                      <a:srgbClr val="193C4D"/>
                    </a:solidFill>
                  </a:tcPr>
                </a:tc>
                <a:tc>
                  <a:txBody>
                    <a:bodyPr lIns="114300" tIns="57150" rIns="95250" bIns="57150"/>
                    <a:lstStyle/>
                    <a:p>
                      <a:r>
                        <a:rPr sz="1650" b="1">
                          <a:solidFill>
                            <a:srgbClr val="FFFFFF"/>
                          </a:solidFill>
                          <a:latin typeface="Apple SD Gothic Neo"/>
                          <a:ea typeface="Apple SD Gothic Neo"/>
                          <a:cs typeface="Apple SD Gothic Neo"/>
                        </a:rPr>
                        <a:t>사진 수</a:t>
                      </a:r>
                    </a:p>
                  </a:txBody>
                  <a:tcPr marL="91440" marR="91440" marT="45720" marB="45720" anchor="ctr">
                    <a:solidFill>
                      <a:srgbClr val="193C4D"/>
                    </a:solidFill>
                  </a:tcPr>
                </a:tc>
                <a:tc>
                  <a:txBody>
                    <a:bodyPr lIns="114300" tIns="57150" rIns="95250" bIns="57150"/>
                    <a:lstStyle/>
                    <a:p>
                      <a:r>
                        <a:rPr sz="1650" b="1">
                          <a:solidFill>
                            <a:srgbClr val="FFFFFF"/>
                          </a:solidFill>
                          <a:latin typeface="Apple SD Gothic Neo"/>
                          <a:ea typeface="Apple SD Gothic Neo"/>
                          <a:cs typeface="Apple SD Gothic Neo"/>
                        </a:rPr>
                        <a:t>검증 F1</a:t>
                      </a:r>
                    </a:p>
                  </a:txBody>
                  <a:tcPr marL="91440" marR="91440" marT="45720" marB="45720" anchor="ctr">
                    <a:solidFill>
                      <a:srgbClr val="193C4D"/>
                    </a:solidFill>
                  </a:tcPr>
                </a:tc>
                <a:tc>
                  <a:txBody>
                    <a:bodyPr lIns="114300" tIns="57150" rIns="95250" bIns="57150"/>
                    <a:lstStyle/>
                    <a:p>
                      <a:r>
                        <a:rPr sz="1650" b="1">
                          <a:solidFill>
                            <a:srgbClr val="FFFFFF"/>
                          </a:solidFill>
                          <a:latin typeface="Apple SD Gothic Neo"/>
                          <a:ea typeface="Apple SD Gothic Neo"/>
                          <a:cs typeface="Apple SD Gothic Neo"/>
                        </a:rPr>
                        <a:t>FP</a:t>
                      </a:r>
                    </a:p>
                  </a:txBody>
                  <a:tcPr marL="91440" marR="91440" marT="45720" marB="45720" anchor="ctr">
                    <a:solidFill>
                      <a:srgbClr val="193C4D"/>
                    </a:solidFill>
                  </a:tcPr>
                </a:tc>
                <a:tc>
                  <a:txBody>
                    <a:bodyPr lIns="114300" tIns="57150" rIns="95250" bIns="57150"/>
                    <a:lstStyle/>
                    <a:p>
                      <a:r>
                        <a:rPr sz="1650" b="1">
                          <a:solidFill>
                            <a:srgbClr val="FFFFFF"/>
                          </a:solidFill>
                          <a:latin typeface="Apple SD Gothic Neo"/>
                          <a:ea typeface="Apple SD Gothic Neo"/>
                          <a:cs typeface="Apple SD Gothic Neo"/>
                        </a:rPr>
                        <a:t>FN</a:t>
                      </a:r>
                    </a:p>
                  </a:txBody>
                  <a:tcPr marL="91440" marR="91440" marT="45720" marB="45720" anchor="ctr">
                    <a:solidFill>
                      <a:srgbClr val="193C4D"/>
                    </a:solidFill>
                  </a:tcPr>
                </a:tc>
              </a:tr>
              <a:tr h="390525">
                <a:tc>
                  <a:txBody>
                    <a:bodyPr lIns="114300" tIns="57150" rIns="95250" bIns="57150"/>
                    <a:lstStyle/>
                    <a:p>
                      <a:r>
                        <a:rPr sz="1650" b="0">
                          <a:solidFill>
                            <a:srgbClr val="162832"/>
                          </a:solidFill>
                          <a:latin typeface="Apple SD Gothic Neo"/>
                          <a:ea typeface="Apple SD Gothic Neo"/>
                          <a:cs typeface="Apple SD Gothic Neo"/>
                        </a:rPr>
                        <a:t>기본</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296</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0.9567</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10</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11</a:t>
                      </a:r>
                    </a:p>
                  </a:txBody>
                  <a:tcPr marL="91440" marR="91440" marT="45720" marB="45720" anchor="ctr">
                    <a:solidFill>
                      <a:srgbClr val="FFFFFF"/>
                    </a:solidFill>
                  </a:tcPr>
                </a:tc>
              </a:tr>
              <a:tr h="390525">
                <a:tc>
                  <a:txBody>
                    <a:bodyPr lIns="114300" tIns="57150" rIns="95250" bIns="57150"/>
                    <a:lstStyle/>
                    <a:p>
                      <a:r>
                        <a:rPr sz="1650" b="0">
                          <a:solidFill>
                            <a:srgbClr val="162832"/>
                          </a:solidFill>
                          <a:latin typeface="Apple SD Gothic Neo"/>
                          <a:ea typeface="Apple SD Gothic Neo"/>
                          <a:cs typeface="Apple SD Gothic Neo"/>
                        </a:rPr>
                        <a:t>자르기·회전</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1181</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0.9918</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2</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2</a:t>
                      </a:r>
                    </a:p>
                  </a:txBody>
                  <a:tcPr marL="91440" marR="91440" marT="45720" marB="45720" anchor="ctr">
                    <a:solidFill>
                      <a:srgbClr val="F1F5F6"/>
                    </a:solidFill>
                  </a:tcPr>
                </a:tc>
              </a:tr>
              <a:tr h="390525">
                <a:tc>
                  <a:txBody>
                    <a:bodyPr lIns="114300" tIns="57150" rIns="95250" bIns="57150"/>
                    <a:lstStyle/>
                    <a:p>
                      <a:r>
                        <a:rPr sz="1650" b="0">
                          <a:solidFill>
                            <a:srgbClr val="162832"/>
                          </a:solidFill>
                          <a:latin typeface="Apple SD Gothic Neo"/>
                          <a:ea typeface="Apple SD Gothic Neo"/>
                          <a:cs typeface="Apple SD Gothic Neo"/>
                        </a:rPr>
                        <a:t>이물 전부 제거 추가</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378</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0.9547</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11</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11</a:t>
                      </a:r>
                    </a:p>
                  </a:txBody>
                  <a:tcPr marL="91440" marR="91440" marT="45720" marB="45720" anchor="ctr">
                    <a:solidFill>
                      <a:srgbClr val="FFFFFF"/>
                    </a:solidFill>
                  </a:tcPr>
                </a:tc>
              </a:tr>
              <a:tr h="390525">
                <a:tc>
                  <a:txBody>
                    <a:bodyPr lIns="114300" tIns="57150" rIns="95250" bIns="57150"/>
                    <a:lstStyle/>
                    <a:p>
                      <a:r>
                        <a:rPr sz="1650" b="0">
                          <a:solidFill>
                            <a:srgbClr val="162832"/>
                          </a:solidFill>
                          <a:latin typeface="Apple SD Gothic Neo"/>
                          <a:ea typeface="Apple SD Gothic Neo"/>
                          <a:cs typeface="Apple SD Gothic Neo"/>
                        </a:rPr>
                        <a:t>이물 일부 제거 추가</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389</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0.9671</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8</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8</a:t>
                      </a:r>
                    </a:p>
                  </a:txBody>
                  <a:tcPr marL="91440" marR="91440" marT="45720" marB="45720" anchor="ctr">
                    <a:solidFill>
                      <a:srgbClr val="F1F5F6"/>
                    </a:solidFill>
                  </a:tcPr>
                </a:tc>
              </a:tr>
              <a:tr h="390525">
                <a:tc>
                  <a:txBody>
                    <a:bodyPr lIns="114300" tIns="57150" rIns="95250" bIns="57150"/>
                    <a:lstStyle/>
                    <a:p>
                      <a:r>
                        <a:rPr sz="1650" b="0">
                          <a:solidFill>
                            <a:srgbClr val="162832"/>
                          </a:solidFill>
                          <a:latin typeface="Apple SD Gothic Neo"/>
                          <a:ea typeface="Apple SD Gothic Neo"/>
                          <a:cs typeface="Apple SD Gothic Neo"/>
                        </a:rPr>
                        <a:t>자르기·회전·제거</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1356</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0.9877</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3</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3</a:t>
                      </a:r>
                    </a:p>
                  </a:txBody>
                  <a:tcPr marL="91440" marR="91440" marT="45720" marB="45720" anchor="ctr">
                    <a:solidFill>
                      <a:srgbClr val="FFFFFF"/>
                    </a:solidFill>
                  </a:tcPr>
                </a:tc>
              </a:tr>
              <a:tr h="390525">
                <a:tc>
                  <a:txBody>
                    <a:bodyPr lIns="114300" tIns="57150" rIns="95250" bIns="57150"/>
                    <a:lstStyle/>
                    <a:p>
                      <a:r>
                        <a:rPr sz="1650" b="0">
                          <a:solidFill>
                            <a:srgbClr val="162832"/>
                          </a:solidFill>
                          <a:latin typeface="Apple SD Gothic Neo"/>
                          <a:ea typeface="Apple SD Gothic Neo"/>
                          <a:cs typeface="Apple SD Gothic Neo"/>
                        </a:rPr>
                        <a:t>막대 밖 합성 추가</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591</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0.9773</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5</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6</a:t>
                      </a:r>
                    </a:p>
                  </a:txBody>
                  <a:tcPr marL="91440" marR="91440" marT="45720" marB="45720" anchor="ctr">
                    <a:solidFill>
                      <a:srgbClr val="F1F5F6"/>
                    </a:solidFill>
                  </a:tcPr>
                </a:tc>
              </a:tr>
              <a:tr h="390525">
                <a:tc>
                  <a:txBody>
                    <a:bodyPr lIns="114300" tIns="57150" rIns="95250" bIns="57150"/>
                    <a:lstStyle/>
                    <a:p>
                      <a:r>
                        <a:rPr sz="1650" b="0">
                          <a:solidFill>
                            <a:srgbClr val="162832"/>
                          </a:solidFill>
                          <a:latin typeface="Apple SD Gothic Neo"/>
                          <a:ea typeface="Apple SD Gothic Neo"/>
                          <a:cs typeface="Apple SD Gothic Neo"/>
                        </a:rPr>
                        <a:t>의사 라벨 추가</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1098</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0.9877</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3</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3</a:t>
                      </a:r>
                    </a:p>
                  </a:txBody>
                  <a:tcPr marL="91440" marR="91440" marT="45720" marB="45720" anchor="ctr">
                    <a:solidFill>
                      <a:srgbClr val="FFFFFF"/>
                    </a:solidFill>
                  </a:tcPr>
                </a:tc>
              </a:tr>
              <a:tr h="390525">
                <a:tc>
                  <a:txBody>
                    <a:bodyPr lIns="114300" tIns="57150" rIns="95250" bIns="57150"/>
                    <a:lstStyle/>
                    <a:p>
                      <a:r>
                        <a:rPr sz="1650" b="0">
                          <a:solidFill>
                            <a:srgbClr val="162832"/>
                          </a:solidFill>
                          <a:latin typeface="Apple SD Gothic Neo"/>
                          <a:ea typeface="Apple SD Gothic Neo"/>
                          <a:cs typeface="Apple SD Gothic Neo"/>
                        </a:rPr>
                        <a:t>자르기·회전·의사 라벨</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1983</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0.9794</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5</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5</a:t>
                      </a:r>
                    </a:p>
                  </a:txBody>
                  <a:tcPr marL="91440" marR="91440" marT="45720" marB="45720" anchor="ctr">
                    <a:solidFill>
                      <a:srgbClr val="F1F5F6"/>
                    </a:solidFill>
                  </a:tcPr>
                </a:tc>
              </a:tr>
            </a:tbl>
          </a:graphicData>
        </a:graphic>
      </p:graphicFrame>
      <p:sp>
        <p:nvSpPr>
          <p:cNvPr id="3" name="">
            <a:extLst xmlns:a="http://schemas.openxmlformats.org/drawingml/2006/main">
              <a:ext uri="{FF2B5EF4-FFF2-40B4-BE49-F238E27FC236}">
                <a16:creationId xmlns:a16="http://schemas.microsoft.com/office/drawing/2014/main" id="{A6FC14F8-34D1-4CB1-B4B0-0419FC921EA7}"/>
              </a:ext>
            </a:extLst>
          </p:cNvPr>
          <p:cNvSpPr>
            <a:spLocks xmlns:a="http://schemas.openxmlformats.org/drawingml/2006/main" noGrp="1"/>
          </p:cNvSpPr>
          <p:nvPr/>
        </p:nvSpPr>
        <p:spPr>
          <a:xfrm xmlns:a="http://schemas.openxmlformats.org/drawingml/2006/main">
            <a:off x="609600" y="5162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YOLOv8n · batch 8 · seed 0 · 740회 업데이트 · 검증 107장</a:t>
            </a:r>
          </a:p>
          <a:p xmlns:a="http://schemas.openxmlformats.org/drawingml/2006/main">
            <a:pPr>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각 행은 별도 학습입니다. 자료가 많으면 사진당 반복 학습은 적습니다.</a:t>
            </a:r>
          </a:p>
        </p:txBody>
      </p:sp>
      <p:sp>
        <p:nvSpPr>
          <p:cNvPr id="4" name="">
            <a:extLst xmlns:a="http://schemas.openxmlformats.org/drawingml/2006/main">
              <a:ext uri="{FF2B5EF4-FFF2-40B4-BE49-F238E27FC236}">
                <a16:creationId xmlns:a16="http://schemas.microsoft.com/office/drawing/2014/main" id="{14908FBE-B60B-4C14-A9AF-4580DA716B8E}"/>
              </a:ext>
            </a:extLst>
          </p:cNvPr>
          <p:cNvSpPr>
            <a:spLocks xmlns:a="http://schemas.openxmlformats.org/drawingml/2006/main" noGrp="1"/>
          </p:cNvSpPr>
          <p:nvPr/>
        </p:nvSpPr>
        <p:spPr>
          <a:xfrm xmlns:a="http://schemas.openxmlformats.org/drawingml/2006/main">
            <a:off x="609600" y="60102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162832"/>
                </a:solidFill>
                <a:latin typeface="Apple SD Gothic Neo"/>
                <a:ea typeface="Apple SD Gothic Neo"/>
                <a:cs typeface="Apple SD Gothic Neo"/>
              </a:defRPr>
            </a:pPr>
            <a:r>
              <a:rPr sz="1650" b="0">
                <a:solidFill>
                  <a:srgbClr val="162832"/>
                </a:solidFill>
                <a:latin typeface="Apple SD Gothic Neo"/>
                <a:ea typeface="Apple SD Gothic Neo"/>
                <a:cs typeface="Apple SD Gothic Neo"/>
              </a:rPr>
              <a:t>단일 seed의 단기 비교입니다. 전체 혼합 2,453장이 최적이라는 증명은 아닙니다.</a:t>
            </a:r>
          </a:p>
        </p:txBody>
      </p:sp>
      <p:sp>
        <p:nvSpPr>
          <p:cNvPr id="5" name="">
            <a:extLst xmlns:a="http://schemas.openxmlformats.org/drawingml/2006/main">
              <a:ext uri="{FF2B5EF4-FFF2-40B4-BE49-F238E27FC236}">
                <a16:creationId xmlns:a16="http://schemas.microsoft.com/office/drawing/2014/main" id="{CFDFA02F-1D6F-4984-9771-181651154AA9}"/>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9</a:t>
            </a:r>
          </a:p>
        </p:txBody>
      </p:sp>
    </p:spTree>
    <p:extLst>
      <p:ext uri="{BB962C8B-B14F-4D97-AF65-F5344CB8AC3E}">
        <p14:creationId xmlns:p14="http://schemas.microsoft.com/office/powerpoint/2010/main" val="6388980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E282BF-FF87-409B-B58E-AC21710675DE}"/>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구조가 다른 네 모델의 비교 목적</a:t>
            </a:r>
          </a:p>
        </p:txBody>
      </p:sp>
      <p:sp>
        <p:nvSpPr>
          <p:cNvPr id="2" name="">
            <a:extLst xmlns:a="http://schemas.openxmlformats.org/drawingml/2006/main">
              <a:ext uri="{FF2B5EF4-FFF2-40B4-BE49-F238E27FC236}">
                <a16:creationId xmlns:a16="http://schemas.microsoft.com/office/drawing/2014/main" id="{D7E5723C-614D-4194-8401-AFD4FBDB7412}"/>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10</a:t>
            </a:r>
          </a:p>
        </p:txBody>
      </p:sp>
      <p:graphicFrame>
        <p:nvGraphicFramePr>
          <p:cNvPr id="9" name=""/>
          <p:cNvGraphicFramePr/>
          <p:nvPr/>
        </p:nvGraphicFramePr>
        <p:xfrm>
          <a:off xmlns:a="http://schemas.openxmlformats.org/drawingml/2006/main" x="609600" y="1514475"/>
          <a:ext xmlns:a="http://schemas.openxmlformats.org/drawingml/2006/main" cx="10972800" cy="3714750"/>
        </p:xfrm>
        <a:graphic xmlns:a="http://schemas.openxmlformats.org/drawingml/2006/main">
          <a:graphicData uri="http://schemas.openxmlformats.org/drawingml/2006/table">
            <a:tbl>
              <a:tblPr/>
              <a:tblGrid>
                <a:gridCol w="3524250"/>
                <a:gridCol w="3143250"/>
                <a:gridCol w="4305300"/>
              </a:tblGrid>
              <a:tr h="742950">
                <a:tc>
                  <a:txBody>
                    <a:bodyPr lIns="133350" tIns="85725" rIns="114300" bIns="85725"/>
                    <a:lstStyle/>
                    <a:p>
                      <a:r>
                        <a:rPr sz="1875"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구조</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비교 목적</a:t>
                      </a:r>
                    </a:p>
                  </a:txBody>
                  <a:tcPr marL="91440" marR="91440" marT="45720" marB="45720" anchor="ctr">
                    <a:solidFill>
                      <a:srgbClr val="193C4D"/>
                    </a:solidFill>
                  </a:tcPr>
                </a:tc>
              </a:tr>
              <a:tr h="742950">
                <a:tc>
                  <a:txBody>
                    <a:bodyPr lIns="133350" tIns="85725" rIns="114300" bIns="85725"/>
                    <a:lstStyle/>
                    <a:p>
                      <a:r>
                        <a:rPr sz="1875"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CNN 한 단계 탐지</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가벼운 비교 기준</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Faster R-CNN</a:t>
                      </a:r>
                    </a:p>
                    <a:p>
                      <a:r>
                        <a:rPr sz="1875" b="0">
                          <a:solidFill>
                            <a:srgbClr val="162832"/>
                          </a:solidFill>
                          <a:latin typeface="Apple SD Gothic Neo"/>
                          <a:ea typeface="Apple SD Gothic Neo"/>
                          <a:cs typeface="Apple SD Gothic Neo"/>
                        </a:rPr>
                        <a:t>ResNet50-FPN v2</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CNN 두 단계 탐지</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후보 영역을 찾아 다시 판단</a:t>
                      </a:r>
                    </a:p>
                  </a:txBody>
                  <a:tcPr marL="91440" marR="91440" marT="45720" marB="45720" anchor="ctr">
                    <a:solidFill>
                      <a:srgbClr val="F1F5F6"/>
                    </a:solidFill>
                  </a:tcPr>
                </a:tc>
              </a:tr>
              <a:tr h="742950">
                <a:tc>
                  <a:txBody>
                    <a:bodyPr lIns="133350" tIns="85725" rIns="114300" bIns="85725"/>
                    <a:lstStyle/>
                    <a:p>
                      <a:r>
                        <a:rPr sz="1875" b="0">
                          <a:solidFill>
                            <a:srgbClr val="162832"/>
                          </a:solidFill>
                          <a:latin typeface="Apple SD Gothic Neo"/>
                          <a:ea typeface="Apple SD Gothic Neo"/>
                          <a:cs typeface="Apple SD Gothic Neo"/>
                        </a:rPr>
                        <a:t>RF-DETR-S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Vision Transformer</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영역 사이의 관계를 이용</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D-FINE-S</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CNN과 Transformer</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박스 경계를 단계적으로 보정</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6842C66A-E00B-45C1-A50B-E9AB1174AB47}"/>
              </a:ext>
            </a:extLst>
          </p:cNvPr>
          <p:cNvSpPr>
            <a:spLocks xmlns:a="http://schemas.openxmlformats.org/drawingml/2006/main" noGrp="1"/>
          </p:cNvSpPr>
          <p:nvPr/>
        </p:nvSpPr>
        <p:spPr>
          <a:xfrm xmlns:a="http://schemas.openxmlformats.org/drawingml/2006/main">
            <a:off x="609600" y="55626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기본 학습 정답 박스의 긴 변 중앙값은 11픽셀입니다.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작은 이물의 위치를 맞추는 능력과 처리 시간을 함께 비교합니다.</a:t>
            </a:r>
          </a:p>
        </p:txBody>
      </p:sp>
    </p:spTree>
    <p:extLst>
      <p:ext uri="{BB962C8B-B14F-4D97-AF65-F5344CB8AC3E}">
        <p14:creationId xmlns:p14="http://schemas.microsoft.com/office/powerpoint/2010/main" val="5130374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DC0795-3873-48FE-BAEA-5A4C360E2DDC}"/>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탐지 점수와 박스 겹침은 다른 기준</a:t>
            </a:r>
          </a:p>
        </p:txBody>
      </p:sp>
      <p:sp>
        <p:nvSpPr>
          <p:cNvPr id="2" name="">
            <a:extLst xmlns:a="http://schemas.openxmlformats.org/drawingml/2006/main">
              <a:ext uri="{FF2B5EF4-FFF2-40B4-BE49-F238E27FC236}">
                <a16:creationId xmlns:a16="http://schemas.microsoft.com/office/drawing/2014/main" id="{B666FC32-25A7-49A3-8832-B61D48E27F71}"/>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cf4467f1fec4864"/>
          <a:stretch xmlns:a="http://schemas.openxmlformats.org/drawingml/2006/main"/>
        </p:blipFill>
        <p:spPr>
          <a:xfrm xmlns:a="http://schemas.openxmlformats.org/drawingml/2006/main">
            <a:off x="609600" y="1438275"/>
            <a:ext cx="7429500" cy="4705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EA7B9BF-23D8-4BF6-8097-A3C0EAE3292C}"/>
              </a:ext>
            </a:extLst>
          </p:cNvPr>
          <p:cNvSpPr>
            <a:spLocks xmlns:a="http://schemas.openxmlformats.org/drawingml/2006/main" noGrp="1"/>
          </p:cNvSpPr>
          <p:nvPr/>
        </p:nvSpPr>
        <p:spPr>
          <a:xfrm xmlns:a="http://schemas.openxmlformats.org/drawingml/2006/main">
            <a:off x="8410575" y="1800225"/>
            <a:ext cx="31718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탐지 임계값</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점수가 기준 이상인</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예측 박스를 채택합니다.</a:t>
            </a:r>
          </a:p>
        </p:txBody>
      </p:sp>
      <p:sp>
        <p:nvSpPr>
          <p:cNvPr id="5" name="">
            <a:extLst xmlns:a="http://schemas.openxmlformats.org/drawingml/2006/main">
              <a:ext uri="{FF2B5EF4-FFF2-40B4-BE49-F238E27FC236}">
                <a16:creationId xmlns:a16="http://schemas.microsoft.com/office/drawing/2014/main" id="{3556030F-9975-4B12-A52C-955173780101}"/>
              </a:ext>
            </a:extLst>
          </p:cNvPr>
          <p:cNvSpPr>
            <a:spLocks xmlns:a="http://schemas.openxmlformats.org/drawingml/2006/main" noGrp="1"/>
          </p:cNvSpPr>
          <p:nvPr/>
        </p:nvSpPr>
        <p:spPr>
          <a:xfrm xmlns:a="http://schemas.openxmlformats.org/drawingml/2006/main">
            <a:off x="8410575" y="3810000"/>
            <a:ext cx="31718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IoU 0.5</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정답과 충분히 겹쳐야</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탐지 성공으로 셉니다.</a:t>
            </a:r>
          </a:p>
        </p:txBody>
      </p:sp>
    </p:spTree>
    <p:extLst>
      <p:ext uri="{BB962C8B-B14F-4D97-AF65-F5344CB8AC3E}">
        <p14:creationId xmlns:p14="http://schemas.microsoft.com/office/powerpoint/2010/main" val="28957315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57A201-71DB-462D-BCE6-71EDA0583F7D}"/>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모든 epoch를 같은 검증 기준으로 비교</a:t>
            </a:r>
          </a:p>
        </p:txBody>
      </p:sp>
      <p:sp>
        <p:nvSpPr>
          <p:cNvPr id="2" name="">
            <a:extLst xmlns:a="http://schemas.openxmlformats.org/drawingml/2006/main">
              <a:ext uri="{FF2B5EF4-FFF2-40B4-BE49-F238E27FC236}">
                <a16:creationId xmlns:a16="http://schemas.microsoft.com/office/drawing/2014/main" id="{5E14DEE5-417B-456B-95CF-F8BCC54AEF24}"/>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12</a:t>
            </a:r>
          </a:p>
        </p:txBody>
      </p:sp>
      <p:sp>
        <p:nvSpPr>
          <p:cNvPr id="3" name="">
            <a:extLst xmlns:a="http://schemas.openxmlformats.org/drawingml/2006/main">
              <a:ext uri="{FF2B5EF4-FFF2-40B4-BE49-F238E27FC236}">
                <a16:creationId xmlns:a16="http://schemas.microsoft.com/office/drawing/2014/main" id="{C06574BC-58D3-46B8-B3FC-C7F5A5767333}"/>
              </a:ext>
            </a:extLst>
          </p:cNvPr>
          <p:cNvSpPr>
            <a:spLocks xmlns:a="http://schemas.openxmlformats.org/drawingml/2006/main" noGrp="1"/>
          </p:cNvSpPr>
          <p:nvPr/>
        </p:nvSpPr>
        <p:spPr>
          <a:xfrm xmlns:a="http://schemas.openxmlformats.org/drawingml/2006/main">
            <a:off x="609600" y="16764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1. 같은 학습 2,453장과 검증 107장을 사용했습니다.</a:t>
            </a:r>
          </a:p>
        </p:txBody>
      </p:sp>
      <p:sp>
        <p:nvSpPr>
          <p:cNvPr id="4" name="">
            <a:extLst xmlns:a="http://schemas.openxmlformats.org/drawingml/2006/main">
              <a:ext uri="{FF2B5EF4-FFF2-40B4-BE49-F238E27FC236}">
                <a16:creationId xmlns:a16="http://schemas.microsoft.com/office/drawing/2014/main" id="{2328F838-250D-4D37-B591-2016B48905EE}"/>
              </a:ext>
            </a:extLst>
          </p:cNvPr>
          <p:cNvSpPr>
            <a:spLocks xmlns:a="http://schemas.openxmlformats.org/drawingml/2006/main" noGrp="1"/>
          </p:cNvSpPr>
          <p:nvPr/>
        </p:nvSpPr>
        <p:spPr>
          <a:xfrm xmlns:a="http://schemas.openxmlformats.org/drawingml/2006/main">
            <a:off x="609600" y="26098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2. 매 epoch 저장본을 공통 채점기로 평가했습니다.</a:t>
            </a:r>
          </a:p>
        </p:txBody>
      </p:sp>
      <p:sp>
        <p:nvSpPr>
          <p:cNvPr id="5" name="">
            <a:extLst xmlns:a="http://schemas.openxmlformats.org/drawingml/2006/main">
              <a:ext uri="{FF2B5EF4-FFF2-40B4-BE49-F238E27FC236}">
                <a16:creationId xmlns:a16="http://schemas.microsoft.com/office/drawing/2014/main" id="{E2FA1099-3DAB-43B6-92DE-290054C7B3F7}"/>
              </a:ext>
            </a:extLst>
          </p:cNvPr>
          <p:cNvSpPr>
            <a:spLocks xmlns:a="http://schemas.openxmlformats.org/drawingml/2006/main" noGrp="1"/>
          </p:cNvSpPr>
          <p:nvPr/>
        </p:nvSpPr>
        <p:spPr>
          <a:xfrm xmlns:a="http://schemas.openxmlformats.org/drawingml/2006/main">
            <a:off x="609600" y="35433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3. 검증 F1로 저장본을 고르고 탐지 임계값을 고정했습니다.</a:t>
            </a:r>
          </a:p>
        </p:txBody>
      </p:sp>
      <p:sp>
        <p:nvSpPr>
          <p:cNvPr id="6" name="">
            <a:extLst xmlns:a="http://schemas.openxmlformats.org/drawingml/2006/main">
              <a:ext uri="{FF2B5EF4-FFF2-40B4-BE49-F238E27FC236}">
                <a16:creationId xmlns:a16="http://schemas.microsoft.com/office/drawing/2014/main" id="{95764F9F-A10D-4DF4-B951-2EC6757ECF84}"/>
              </a:ext>
            </a:extLst>
          </p:cNvPr>
          <p:cNvSpPr>
            <a:spLocks xmlns:a="http://schemas.openxmlformats.org/drawingml/2006/main" noGrp="1"/>
          </p:cNvSpPr>
          <p:nvPr/>
        </p:nvSpPr>
        <p:spPr>
          <a:xfrm xmlns:a="http://schemas.openxmlformats.org/drawingml/2006/main">
            <a:off x="609600" y="44767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4. 고정한 모델과 임계값으로 테스트 결과를 확인했습니다.</a:t>
            </a:r>
          </a:p>
        </p:txBody>
      </p:sp>
      <p:sp>
        <p:nvSpPr>
          <p:cNvPr id="7" name="">
            <a:extLst xmlns:a="http://schemas.openxmlformats.org/drawingml/2006/main">
              <a:ext uri="{FF2B5EF4-FFF2-40B4-BE49-F238E27FC236}">
                <a16:creationId xmlns:a16="http://schemas.microsoft.com/office/drawing/2014/main" id="{B3963521-F618-4A5A-9888-90CC1B14E366}"/>
              </a:ext>
            </a:extLst>
          </p:cNvPr>
          <p:cNvSpPr>
            <a:spLocks xmlns:a="http://schemas.openxmlformats.org/drawingml/2006/main" noGrp="1"/>
          </p:cNvSpPr>
          <p:nvPr/>
        </p:nvSpPr>
        <p:spPr>
          <a:xfrm xmlns:a="http://schemas.openxmlformats.org/drawingml/2006/main">
            <a:off x="609600" y="5848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53616A"/>
                </a:solidFill>
                <a:latin typeface="Apple SD Gothic Neo"/>
                <a:ea typeface="Apple SD Gothic Neo"/>
                <a:cs typeface="Apple SD Gothic Neo"/>
              </a:defRPr>
            </a:pPr>
            <a:r>
              <a:rPr sz="1800" b="0">
                <a:solidFill>
                  <a:srgbClr val="53616A"/>
                </a:solidFill>
                <a:latin typeface="Apple SD Gothic Neo"/>
                <a:ea typeface="Apple SD Gothic Neo"/>
                <a:cs typeface="Apple SD Gothic Neo"/>
              </a:rPr>
              <a:t>20epoch 예산, 해상도 512, seed 0. 동점은 재현율·AP@0.75·이른 epoch 순서로 처리합니다.</a:t>
            </a:r>
          </a:p>
        </p:txBody>
      </p:sp>
    </p:spTree>
    <p:extLst>
      <p:ext uri="{BB962C8B-B14F-4D97-AF65-F5344CB8AC3E}">
        <p14:creationId xmlns:p14="http://schemas.microsoft.com/office/powerpoint/2010/main" val="12456966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68CE25-AE1D-4544-BFD4-619EC2DCAFA6}"/>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공통 검증에서 선택한 네 모델의 결과</a:t>
            </a:r>
          </a:p>
        </p:txBody>
      </p:sp>
      <p:sp>
        <p:nvSpPr>
          <p:cNvPr id="2" name="">
            <a:extLst xmlns:a="http://schemas.openxmlformats.org/drawingml/2006/main">
              <a:ext uri="{FF2B5EF4-FFF2-40B4-BE49-F238E27FC236}">
                <a16:creationId xmlns:a16="http://schemas.microsoft.com/office/drawing/2014/main" id="{44731B9B-C3B2-4E97-9350-43EAF423044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13</a:t>
            </a:r>
          </a:p>
        </p:txBody>
      </p:sp>
      <p:sp>
        <p:nvSpPr>
          <p:cNvPr id="4" name="">
            <a:extLst xmlns:a="http://schemas.openxmlformats.org/drawingml/2006/main">
              <a:ext uri="{FF2B5EF4-FFF2-40B4-BE49-F238E27FC236}">
                <a16:creationId xmlns:a16="http://schemas.microsoft.com/office/drawing/2014/main" id="{E849713A-57AC-436E-9474-560A2D0FA19D}"/>
              </a:ext>
            </a:extLst>
          </p:cNvPr>
          <p:cNvSpPr>
            <a:spLocks xmlns:a="http://schemas.openxmlformats.org/drawingml/2006/main" noGrp="1"/>
          </p:cNvSpPr>
          <p:nvPr/>
        </p:nvSpPr>
        <p:spPr>
          <a:xfrm xmlns:a="http://schemas.openxmlformats.org/drawingml/2006/main">
            <a:off x="609600" y="47910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선택 epoch는 YOLO 20, Faster 17, RF-DETR 8, D-FINE 11입니다.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모델과 탐지 임계값을 검증에서 고정한 뒤 테스트했습니다.</a:t>
            </a:r>
          </a:p>
        </p:txBody>
      </p:sp>
      <p:sp>
        <p:nvSpPr>
          <p:cNvPr id="5" name="">
            <a:extLst xmlns:a="http://schemas.openxmlformats.org/drawingml/2006/main">
              <a:ext uri="{FF2B5EF4-FFF2-40B4-BE49-F238E27FC236}">
                <a16:creationId xmlns:a16="http://schemas.microsoft.com/office/drawing/2014/main" id="{C14DD1B1-EA1B-4205-9A59-987AF7079813}"/>
              </a:ext>
            </a:extLst>
          </p:cNvPr>
          <p:cNvSpPr>
            <a:spLocks xmlns:a="http://schemas.openxmlformats.org/drawingml/2006/main" noGrp="1"/>
          </p:cNvSpPr>
          <p:nvPr/>
        </p:nvSpPr>
        <p:spPr>
          <a:xfrm xmlns:a="http://schemas.openxmlformats.org/drawingml/2006/main">
            <a:off x="609600" y="5953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IoU 0.5 기준. D-FINE 검증 F1: 선택 당시 CUDA 0.9856, 후속 MPS 0.9835. 정상 제품의 오경보율은 미검증입니다.</a:t>
            </a:r>
          </a:p>
        </p:txBody>
      </p:sp>
      <p:graphicFrame>
        <p:nvGraphicFramePr>
          <p:cNvPr id="12" name=""/>
          <p:cNvGraphicFramePr/>
          <p:nvPr/>
        </p:nvGraphicFramePr>
        <p:xfrm>
          <a:off xmlns:a="http://schemas.openxmlformats.org/drawingml/2006/main" x="609600" y="1562100"/>
          <a:ext xmlns:a="http://schemas.openxmlformats.org/drawingml/2006/main" cx="10972800" cy="2924175"/>
        </p:xfrm>
        <a:graphic xmlns:a="http://schemas.openxmlformats.org/drawingml/2006/main">
          <a:graphicData uri="http://schemas.openxmlformats.org/drawingml/2006/table">
            <a:tbl>
              <a:tblPr/>
              <a:tblGrid>
                <a:gridCol w="3429000"/>
                <a:gridCol w="2190750"/>
                <a:gridCol w="2190750"/>
                <a:gridCol w="3162300"/>
              </a:tblGrid>
              <a:tr h="584835">
                <a:tc>
                  <a:txBody>
                    <a:bodyPr lIns="133350" tIns="85725" rIns="114300" bIns="85725"/>
                    <a:lstStyle/>
                    <a:p>
                      <a:r>
                        <a:rPr sz="1875"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검증 F1</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테스트 F1</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테스트 TP / FP / FN</a:t>
                      </a:r>
                    </a:p>
                  </a:txBody>
                  <a:tcPr marL="91440" marR="91440" marT="45720" marB="45720" anchor="ctr">
                    <a:solidFill>
                      <a:srgbClr val="193C4D"/>
                    </a:solidFill>
                  </a:tcPr>
                </a:tc>
              </a:tr>
              <a:tr h="584835">
                <a:tc>
                  <a:txBody>
                    <a:bodyPr lIns="133350" tIns="85725" rIns="114300" bIns="85725"/>
                    <a:lstStyle/>
                    <a:p>
                      <a:r>
                        <a:rPr sz="1875"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0.9856</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0.9889</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222 / 2 / 3</a:t>
                      </a:r>
                    </a:p>
                  </a:txBody>
                  <a:tcPr marL="91440" marR="91440" marT="45720" marB="45720" anchor="ctr">
                    <a:solidFill>
                      <a:srgbClr val="FFFFFF"/>
                    </a:solidFill>
                  </a:tcPr>
                </a:tc>
              </a:tr>
              <a:tr h="584835">
                <a:tc>
                  <a:txBody>
                    <a:bodyPr lIns="133350" tIns="85725" rIns="114300" bIns="85725"/>
                    <a:lstStyle/>
                    <a:p>
                      <a:r>
                        <a:rPr sz="1875" b="0">
                          <a:solidFill>
                            <a:srgbClr val="162832"/>
                          </a:solidFill>
                          <a:latin typeface="Apple SD Gothic Neo"/>
                          <a:ea typeface="Apple SD Gothic Neo"/>
                          <a:cs typeface="Apple SD Gothic Neo"/>
                        </a:rPr>
                        <a:t>Faster R-CNN</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0.9918</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0.9867</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222 / 3 / 3</a:t>
                      </a:r>
                    </a:p>
                  </a:txBody>
                  <a:tcPr marL="91440" marR="91440" marT="45720" marB="45720" anchor="ctr">
                    <a:solidFill>
                      <a:srgbClr val="F1F5F6"/>
                    </a:solidFill>
                  </a:tcPr>
                </a:tc>
              </a:tr>
              <a:tr h="584835">
                <a:tc>
                  <a:txBody>
                    <a:bodyPr lIns="133350" tIns="85725" rIns="114300" bIns="85725"/>
                    <a:lstStyle/>
                    <a:p>
                      <a:r>
                        <a:rPr sz="1875" b="0">
                          <a:solidFill>
                            <a:srgbClr val="162832"/>
                          </a:solidFill>
                          <a:latin typeface="Apple SD Gothic Neo"/>
                          <a:ea typeface="Apple SD Gothic Neo"/>
                          <a:cs typeface="Apple SD Gothic Neo"/>
                        </a:rPr>
                        <a:t>RF-DETR-S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0.9918</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0.9800</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220 / 4 / 5</a:t>
                      </a:r>
                    </a:p>
                  </a:txBody>
                  <a:tcPr marL="91440" marR="91440" marT="45720" marB="45720" anchor="ctr">
                    <a:solidFill>
                      <a:srgbClr val="FFFFFF"/>
                    </a:solidFill>
                  </a:tcPr>
                </a:tc>
              </a:tr>
              <a:tr h="584835">
                <a:tc>
                  <a:txBody>
                    <a:bodyPr lIns="133350" tIns="85725" rIns="114300" bIns="85725"/>
                    <a:lstStyle/>
                    <a:p>
                      <a:r>
                        <a:rPr sz="1875" b="0">
                          <a:solidFill>
                            <a:srgbClr val="162832"/>
                          </a:solidFill>
                          <a:latin typeface="Apple SD Gothic Neo"/>
                          <a:ea typeface="Apple SD Gothic Neo"/>
                          <a:cs typeface="Apple SD Gothic Neo"/>
                        </a:rPr>
                        <a:t>D-FINE-S</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0.9856</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0.9756</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220 / 6 / 5</a:t>
                      </a:r>
                    </a:p>
                  </a:txBody>
                  <a:tcPr marL="91440" marR="91440" marT="45720" marB="45720" anchor="ctr">
                    <a:solidFill>
                      <a:srgbClr val="F1F5F6"/>
                    </a:solidFill>
                  </a:tcPr>
                </a:tc>
              </a:tr>
            </a:tbl>
          </a:graphicData>
        </a:graphic>
      </p:graphicFrame>
    </p:spTree>
    <p:extLst>
      <p:ext uri="{BB962C8B-B14F-4D97-AF65-F5344CB8AC3E}">
        <p14:creationId xmlns:p14="http://schemas.microsoft.com/office/powerpoint/2010/main" val="152871603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6F96D1-DB39-4C33-8B6F-3AAB9FB2940D}"/>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이물을 찾은 표시와 박스 위치 채점</a:t>
            </a:r>
          </a:p>
        </p:txBody>
      </p:sp>
      <p:sp>
        <p:nvSpPr>
          <p:cNvPr id="2" name="">
            <a:extLst xmlns:a="http://schemas.openxmlformats.org/drawingml/2006/main">
              <a:ext uri="{FF2B5EF4-FFF2-40B4-BE49-F238E27FC236}">
                <a16:creationId xmlns:a16="http://schemas.microsoft.com/office/drawing/2014/main" id="{C5CE5AB0-7276-4431-AFB0-E961FB2CDED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3ccbdad4af1415b"/>
          <a:stretch xmlns:a="http://schemas.openxmlformats.org/drawingml/2006/main"/>
        </p:blipFill>
        <p:spPr>
          <a:xfrm xmlns:a="http://schemas.openxmlformats.org/drawingml/2006/main">
            <a:off x="2043545" y="1628775"/>
            <a:ext cx="8104909" cy="27432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5594385-4462-4AAE-8224-F5ED8C17C676}"/>
              </a:ext>
            </a:extLst>
          </p:cNvPr>
          <p:cNvSpPr>
            <a:spLocks xmlns:a="http://schemas.openxmlformats.org/drawingml/2006/main" noGrp="1"/>
          </p:cNvSpPr>
          <p:nvPr/>
        </p:nvSpPr>
        <p:spPr>
          <a:xfrm xmlns:a="http://schemas.openxmlformats.org/drawingml/2006/main">
            <a:off x="609600" y="4648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네 모델 모두 검은 점을 표시했지만 IoU는 0.5 미만입니다.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위치 기준 FN과 이물을 전혀 표시하지 못한 경우를 구분합니다.</a:t>
            </a:r>
          </a:p>
        </p:txBody>
      </p:sp>
      <p:sp>
        <p:nvSpPr>
          <p:cNvPr id="5" name="">
            <a:extLst xmlns:a="http://schemas.openxmlformats.org/drawingml/2006/main">
              <a:ext uri="{FF2B5EF4-FFF2-40B4-BE49-F238E27FC236}">
                <a16:creationId xmlns:a16="http://schemas.microsoft.com/office/drawing/2014/main" id="{48F32546-7CEC-4301-914E-3D548D04BDC3}"/>
              </a:ext>
            </a:extLst>
          </p:cNvPr>
          <p:cNvSpPr>
            <a:spLocks xmlns:a="http://schemas.openxmlformats.org/drawingml/2006/main" noGrp="1"/>
          </p:cNvSpPr>
          <p:nvPr/>
        </p:nvSpPr>
        <p:spPr>
          <a:xfrm xmlns:a="http://schemas.openxmlformats.org/drawingml/2006/main">
            <a:off x="609600" y="5876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모델별 FN 총 16건 중 14건이 근처 박스 사례입니다. 서로 다른 이물은 9개입니다.</a:t>
            </a:r>
          </a:p>
        </p:txBody>
      </p:sp>
    </p:spTree>
    <p:extLst>
      <p:ext uri="{BB962C8B-B14F-4D97-AF65-F5344CB8AC3E}">
        <p14:creationId xmlns:p14="http://schemas.microsoft.com/office/powerpoint/2010/main" val="3703142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8545D9-0E55-4390-9003-1C04ED5204C6}"/>
              </a:ext>
            </a:extLst>
          </p:cNvPr>
          <p:cNvSpPr>
            <a:spLocks xmlns:a="http://schemas.openxmlformats.org/drawingml/2006/main" noGrp="1"/>
          </p:cNvSpPr>
          <p:nvPr/>
        </p:nvSpPr>
        <p:spPr>
          <a:xfrm xmlns:a="http://schemas.openxmlformats.org/drawingml/2006/main">
            <a:off x="609600" y="3619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62832"/>
                </a:solidFill>
                <a:latin typeface="Apple SD Gothic Neo"/>
                <a:ea typeface="Apple SD Gothic Neo"/>
                <a:cs typeface="Apple SD Gothic Neo"/>
              </a:defRPr>
            </a:pPr>
            <a:r>
              <a:rPr sz="3000" b="1">
                <a:solidFill>
                  <a:srgbClr val="162832"/>
                </a:solidFill>
                <a:latin typeface="Apple SD Gothic Neo"/>
                <a:ea typeface="Apple SD Gothic Neo"/>
                <a:cs typeface="Apple SD Gothic Neo"/>
              </a:rPr>
              <a:t>조건별 미탐과 표본 수</a:t>
            </a:r>
          </a:p>
        </p:txBody>
      </p:sp>
      <p:graphicFrame>
        <p:nvGraphicFramePr>
          <p:cNvPr id="7" name=""/>
          <p:cNvGraphicFramePr/>
          <p:nvPr/>
        </p:nvGraphicFramePr>
        <p:xfrm>
          <a:off xmlns:a="http://schemas.openxmlformats.org/drawingml/2006/main" x="609600" y="1381125"/>
          <a:ext xmlns:a="http://schemas.openxmlformats.org/drawingml/2006/main" cx="10972800" cy="3143250"/>
        </p:xfrm>
        <a:graphic xmlns:a="http://schemas.openxmlformats.org/drawingml/2006/main">
          <a:graphicData uri="http://schemas.openxmlformats.org/drawingml/2006/table">
            <a:tbl>
              <a:tblPr/>
              <a:tblGrid>
                <a:gridCol w="4038600"/>
                <a:gridCol w="1733550"/>
                <a:gridCol w="1733550"/>
                <a:gridCol w="1733550"/>
                <a:gridCol w="1733550"/>
              </a:tblGrid>
              <a:tr h="449036">
                <a:tc>
                  <a:txBody>
                    <a:bodyPr lIns="114300" tIns="57150" rIns="95250" bIns="57150"/>
                    <a:lstStyle/>
                    <a:p>
                      <a:r>
                        <a:rPr sz="1650" b="1">
                          <a:solidFill>
                            <a:srgbClr val="FFFFFF"/>
                          </a:solidFill>
                          <a:latin typeface="Apple SD Gothic Neo"/>
                          <a:ea typeface="Apple SD Gothic Neo"/>
                          <a:cs typeface="Apple SD Gothic Neo"/>
                        </a:rPr>
                        <a:t>테스트 조건</a:t>
                      </a:r>
                    </a:p>
                  </a:txBody>
                  <a:tcPr marL="91440" marR="91440" marT="45720" marB="45720" anchor="ctr">
                    <a:solidFill>
                      <a:srgbClr val="193C4D"/>
                    </a:solidFill>
                  </a:tcPr>
                </a:tc>
                <a:tc>
                  <a:txBody>
                    <a:bodyPr lIns="114300" tIns="57150" rIns="95250" bIns="57150"/>
                    <a:lstStyle/>
                    <a:p>
                      <a:r>
                        <a:rPr sz="1650" b="1">
                          <a:solidFill>
                            <a:srgbClr val="FFFFFF"/>
                          </a:solidFill>
                          <a:latin typeface="Apple SD Gothic Neo"/>
                          <a:ea typeface="Apple SD Gothic Neo"/>
                          <a:cs typeface="Apple SD Gothic Neo"/>
                        </a:rPr>
                        <a:t>YOLOv8n</a:t>
                      </a:r>
                    </a:p>
                  </a:txBody>
                  <a:tcPr marL="91440" marR="91440" marT="45720" marB="45720" anchor="ctr">
                    <a:solidFill>
                      <a:srgbClr val="193C4D"/>
                    </a:solidFill>
                  </a:tcPr>
                </a:tc>
                <a:tc>
                  <a:txBody>
                    <a:bodyPr lIns="114300" tIns="57150" rIns="95250" bIns="57150"/>
                    <a:lstStyle/>
                    <a:p>
                      <a:r>
                        <a:rPr sz="1650" b="1">
                          <a:solidFill>
                            <a:srgbClr val="FFFFFF"/>
                          </a:solidFill>
                          <a:latin typeface="Apple SD Gothic Neo"/>
                          <a:ea typeface="Apple SD Gothic Neo"/>
                          <a:cs typeface="Apple SD Gothic Neo"/>
                        </a:rPr>
                        <a:t>Faster R-CNN</a:t>
                      </a:r>
                    </a:p>
                  </a:txBody>
                  <a:tcPr marL="91440" marR="91440" marT="45720" marB="45720" anchor="ctr">
                    <a:solidFill>
                      <a:srgbClr val="193C4D"/>
                    </a:solidFill>
                  </a:tcPr>
                </a:tc>
                <a:tc>
                  <a:txBody>
                    <a:bodyPr lIns="114300" tIns="57150" rIns="95250" bIns="57150"/>
                    <a:lstStyle/>
                    <a:p>
                      <a:r>
                        <a:rPr sz="1650" b="1">
                          <a:solidFill>
                            <a:srgbClr val="FFFFFF"/>
                          </a:solidFill>
                          <a:latin typeface="Apple SD Gothic Neo"/>
                          <a:ea typeface="Apple SD Gothic Neo"/>
                          <a:cs typeface="Apple SD Gothic Neo"/>
                        </a:rPr>
                        <a:t>RF-DETR-S</a:t>
                      </a:r>
                    </a:p>
                  </a:txBody>
                  <a:tcPr marL="91440" marR="91440" marT="45720" marB="45720" anchor="ctr">
                    <a:solidFill>
                      <a:srgbClr val="193C4D"/>
                    </a:solidFill>
                  </a:tcPr>
                </a:tc>
                <a:tc>
                  <a:txBody>
                    <a:bodyPr lIns="114300" tIns="57150" rIns="95250" bIns="57150"/>
                    <a:lstStyle/>
                    <a:p>
                      <a:r>
                        <a:rPr sz="1650" b="1">
                          <a:solidFill>
                            <a:srgbClr val="FFFFFF"/>
                          </a:solidFill>
                          <a:latin typeface="Apple SD Gothic Neo"/>
                          <a:ea typeface="Apple SD Gothic Neo"/>
                          <a:cs typeface="Apple SD Gothic Neo"/>
                        </a:rPr>
                        <a:t>D-FINE-S</a:t>
                      </a:r>
                    </a:p>
                  </a:txBody>
                  <a:tcPr marL="91440" marR="91440" marT="45720" marB="45720" anchor="ctr">
                    <a:solidFill>
                      <a:srgbClr val="193C4D"/>
                    </a:solidFill>
                  </a:tcPr>
                </a:tc>
              </a:tr>
              <a:tr h="449036">
                <a:tc>
                  <a:txBody>
                    <a:bodyPr lIns="114300" tIns="57150" rIns="95250" bIns="57150"/>
                    <a:lstStyle/>
                    <a:p>
                      <a:r>
                        <a:rPr sz="1650" b="0">
                          <a:solidFill>
                            <a:srgbClr val="162832"/>
                          </a:solidFill>
                          <a:latin typeface="Apple SD Gothic Neo"/>
                          <a:ea typeface="Apple SD Gothic Neo"/>
                          <a:cs typeface="Apple SD Gothic Neo"/>
                        </a:rPr>
                        <a:t>작은 박스 ≤10px</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2 / 71</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1 / 71</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3 / 71</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2 / 71</a:t>
                      </a:r>
                    </a:p>
                  </a:txBody>
                  <a:tcPr marL="91440" marR="91440" marT="45720" marB="45720" anchor="ctr">
                    <a:solidFill>
                      <a:srgbClr val="FFFFFF"/>
                    </a:solidFill>
                  </a:tcPr>
                </a:tc>
              </a:tr>
              <a:tr h="449036">
                <a:tc>
                  <a:txBody>
                    <a:bodyPr lIns="114300" tIns="57150" rIns="95250" bIns="57150"/>
                    <a:lstStyle/>
                    <a:p>
                      <a:r>
                        <a:rPr sz="1650" b="0">
                          <a:solidFill>
                            <a:srgbClr val="162832"/>
                          </a:solidFill>
                          <a:latin typeface="Apple SD Gothic Neo"/>
                          <a:ea typeface="Apple SD Gothic Neo"/>
                          <a:cs typeface="Apple SD Gothic Neo"/>
                        </a:rPr>
                        <a:t>큰 박스 &gt;13px</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0 / 40</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1 / 40</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1 / 40</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0 / 40</a:t>
                      </a:r>
                    </a:p>
                  </a:txBody>
                  <a:tcPr marL="91440" marR="91440" marT="45720" marB="45720" anchor="ctr">
                    <a:solidFill>
                      <a:srgbClr val="F1F5F6"/>
                    </a:solidFill>
                  </a:tcPr>
                </a:tc>
              </a:tr>
              <a:tr h="449036">
                <a:tc>
                  <a:txBody>
                    <a:bodyPr lIns="114300" tIns="57150" rIns="95250" bIns="57150"/>
                    <a:lstStyle/>
                    <a:p>
                      <a:r>
                        <a:rPr sz="1650" b="0">
                          <a:solidFill>
                            <a:srgbClr val="162832"/>
                          </a:solidFill>
                          <a:latin typeface="Apple SD Gothic Neo"/>
                          <a:ea typeface="Apple SD Gothic Neo"/>
                          <a:cs typeface="Apple SD Gothic Neo"/>
                        </a:rPr>
                        <a:t>낮은 대비 ≤42.5</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1 / 59</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1 / 59</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1 / 59</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2 / 59</a:t>
                      </a:r>
                    </a:p>
                  </a:txBody>
                  <a:tcPr marL="91440" marR="91440" marT="45720" marB="45720" anchor="ctr">
                    <a:solidFill>
                      <a:srgbClr val="FFFFFF"/>
                    </a:solidFill>
                  </a:tcPr>
                </a:tc>
              </a:tr>
              <a:tr h="449036">
                <a:tc>
                  <a:txBody>
                    <a:bodyPr lIns="114300" tIns="57150" rIns="95250" bIns="57150"/>
                    <a:lstStyle/>
                    <a:p>
                      <a:r>
                        <a:rPr sz="1650" b="0">
                          <a:solidFill>
                            <a:srgbClr val="162832"/>
                          </a:solidFill>
                          <a:latin typeface="Apple SD Gothic Neo"/>
                          <a:ea typeface="Apple SD Gothic Neo"/>
                          <a:cs typeface="Apple SD Gothic Neo"/>
                        </a:rPr>
                        <a:t>높은 대비 &gt;57</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0 / 54</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0 / 54</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1 / 54</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0 / 54</a:t>
                      </a:r>
                    </a:p>
                  </a:txBody>
                  <a:tcPr marL="91440" marR="91440" marT="45720" marB="45720" anchor="ctr">
                    <a:solidFill>
                      <a:srgbClr val="F1F5F6"/>
                    </a:solidFill>
                  </a:tcPr>
                </a:tc>
              </a:tr>
              <a:tr h="449036">
                <a:tc>
                  <a:txBody>
                    <a:bodyPr lIns="114300" tIns="57150" rIns="95250" bIns="57150"/>
                    <a:lstStyle/>
                    <a:p>
                      <a:r>
                        <a:rPr sz="1650" b="0">
                          <a:solidFill>
                            <a:srgbClr val="162832"/>
                          </a:solidFill>
                          <a:latin typeface="Apple SD Gothic Neo"/>
                          <a:ea typeface="Apple SD Gothic Neo"/>
                          <a:cs typeface="Apple SD Gothic Neo"/>
                        </a:rPr>
                        <a:t>경계 근접 ≤45.84px</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0 / 65</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1 / 65</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2 / 65</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0 / 65</a:t>
                      </a:r>
                    </a:p>
                  </a:txBody>
                  <a:tcPr marL="91440" marR="91440" marT="45720" marB="45720" anchor="ctr">
                    <a:solidFill>
                      <a:srgbClr val="FFFFFF"/>
                    </a:solidFill>
                  </a:tcPr>
                </a:tc>
              </a:tr>
              <a:tr h="449036">
                <a:tc>
                  <a:txBody>
                    <a:bodyPr lIns="114300" tIns="57150" rIns="95250" bIns="57150"/>
                    <a:lstStyle/>
                    <a:p>
                      <a:r>
                        <a:rPr sz="1650" b="0">
                          <a:solidFill>
                            <a:srgbClr val="162832"/>
                          </a:solidFill>
                          <a:latin typeface="Apple SD Gothic Neo"/>
                          <a:ea typeface="Apple SD Gothic Neo"/>
                          <a:cs typeface="Apple SD Gothic Neo"/>
                        </a:rPr>
                        <a:t>경계 안쪽 &gt;60.17px</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1 / 41</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1 / 41</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0 / 41</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2 / 41</a:t>
                      </a:r>
                    </a:p>
                  </a:txBody>
                  <a:tcPr marL="91440" marR="91440" marT="45720" marB="45720" anchor="ctr">
                    <a:solidFill>
                      <a:srgbClr val="F1F5F6"/>
                    </a:solidFill>
                  </a:tcPr>
                </a:tc>
              </a:tr>
            </a:tbl>
          </a:graphicData>
        </a:graphic>
      </p:graphicFrame>
      <p:sp>
        <p:nvSpPr>
          <p:cNvPr id="3" name="">
            <a:extLst xmlns:a="http://schemas.openxmlformats.org/drawingml/2006/main">
              <a:ext uri="{FF2B5EF4-FFF2-40B4-BE49-F238E27FC236}">
                <a16:creationId xmlns:a16="http://schemas.microsoft.com/office/drawing/2014/main" id="{355B70A1-3B8F-4B28-93DF-BA041D525200}"/>
              </a:ext>
            </a:extLst>
          </p:cNvPr>
          <p:cNvSpPr>
            <a:spLocks xmlns:a="http://schemas.openxmlformats.org/drawingml/2006/main" noGrp="1"/>
          </p:cNvSpPr>
          <p:nvPr/>
        </p:nvSpPr>
        <p:spPr>
          <a:xfrm xmlns:a="http://schemas.openxmlformats.org/drawingml/2006/main">
            <a:off x="609600" y="47625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셀은 FN 수 / 조건에 해당하는 이물 수입니다. 구간은 학습 자료에서 정했습니다.</a:t>
            </a:r>
          </a:p>
          <a:p xmlns:a="http://schemas.openxmlformats.org/drawingml/2006/main">
            <a:pPr>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작은 박스에서 오류가 관찰됐지만, 모든 모델이 경계에서 더 약하지는 않았습니다.</a:t>
            </a:r>
          </a:p>
        </p:txBody>
      </p:sp>
      <p:sp>
        <p:nvSpPr>
          <p:cNvPr id="4" name="">
            <a:extLst xmlns:a="http://schemas.openxmlformats.org/drawingml/2006/main">
              <a:ext uri="{FF2B5EF4-FFF2-40B4-BE49-F238E27FC236}">
                <a16:creationId xmlns:a16="http://schemas.microsoft.com/office/drawing/2014/main" id="{0C72DA4F-7094-4DF7-BF02-A6B0C49729EF}"/>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162832"/>
                </a:solidFill>
                <a:latin typeface="Apple SD Gothic Neo"/>
                <a:ea typeface="Apple SD Gothic Neo"/>
                <a:cs typeface="Apple SD Gothic Neo"/>
              </a:defRPr>
            </a:pPr>
            <a:r>
              <a:rPr sz="1575" b="0">
                <a:solidFill>
                  <a:srgbClr val="162832"/>
                </a:solidFill>
                <a:latin typeface="Apple SD Gothic Neo"/>
                <a:ea typeface="Apple SD Gothic Neo"/>
                <a:cs typeface="Apple SD Gothic Neo"/>
              </a:rPr>
              <a:t>IoU 0.5 위치 FN입니다. 대비·경계는 영상 대리 지표이며 조건은 서로 겹칩니다.</a:t>
            </a:r>
          </a:p>
          <a:p xmlns:a="http://schemas.openxmlformats.org/drawingml/2006/main">
            <a:pPr>
              <a:defRPr sz="1575" b="0">
                <a:solidFill>
                  <a:srgbClr val="162832"/>
                </a:solidFill>
                <a:latin typeface="Apple SD Gothic Neo"/>
                <a:ea typeface="Apple SD Gothic Neo"/>
                <a:cs typeface="Apple SD Gothic Neo"/>
              </a:defRPr>
            </a:pPr>
            <a:r>
              <a:rPr sz="1575" b="0">
                <a:solidFill>
                  <a:srgbClr val="162832"/>
                </a:solidFill>
                <a:latin typeface="Apple SD Gothic Neo"/>
                <a:ea typeface="Apple SD Gothic Neo"/>
                <a:cs typeface="Apple SD Gothic Neo"/>
              </a:rPr>
              <a:t>조건별 검출 성능 분석 참고: Andriiashen 등, 2024. 인과관계나 현장 안전성의 증명은 아닙니다.</a:t>
            </a:r>
          </a:p>
        </p:txBody>
      </p:sp>
      <p:sp>
        <p:nvSpPr>
          <p:cNvPr id="5" name="">
            <a:extLst xmlns:a="http://schemas.openxmlformats.org/drawingml/2006/main">
              <a:ext uri="{FF2B5EF4-FFF2-40B4-BE49-F238E27FC236}">
                <a16:creationId xmlns:a16="http://schemas.microsoft.com/office/drawing/2014/main" id="{42A1068E-7C83-44EC-89FD-9316372B1250}"/>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15</a:t>
            </a:r>
          </a:p>
        </p:txBody>
      </p:sp>
    </p:spTree>
    <p:extLst>
      <p:ext uri="{BB962C8B-B14F-4D97-AF65-F5344CB8AC3E}">
        <p14:creationId xmlns:p14="http://schemas.microsoft.com/office/powerpoint/2010/main" val="206781031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FC7FF3-D1B0-4122-9F47-09BE74BFFDA1}"/>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AI 보조 시각 평가</a:t>
            </a:r>
          </a:p>
        </p:txBody>
      </p:sp>
      <p:graphicFrame>
        <p:nvGraphicFramePr>
          <p:cNvPr id="9" name=""/>
          <p:cNvGraphicFramePr/>
          <p:nvPr/>
        </p:nvGraphicFramePr>
        <p:xfrm>
          <a:off xmlns:a="http://schemas.openxmlformats.org/drawingml/2006/main" x="609600" y="1543050"/>
          <a:ext xmlns:a="http://schemas.openxmlformats.org/drawingml/2006/main" cx="10972800" cy="2905125"/>
        </p:xfrm>
        <a:graphic xmlns:a="http://schemas.openxmlformats.org/drawingml/2006/main">
          <a:graphicData uri="http://schemas.openxmlformats.org/drawingml/2006/table">
            <a:tbl>
              <a:tblPr/>
              <a:tblGrid>
                <a:gridCol w="4095750"/>
                <a:gridCol w="3714750"/>
                <a:gridCol w="3162300"/>
              </a:tblGrid>
              <a:tr h="581025">
                <a:tc>
                  <a:txBody>
                    <a:bodyPr lIns="133350" tIns="85725" rIns="114300" bIns="85725"/>
                    <a:lstStyle/>
                    <a:p>
                      <a:r>
                        <a:rPr sz="1875"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TP / FP / FN</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AI 보조 F1</a:t>
                      </a:r>
                    </a:p>
                  </a:txBody>
                  <a:tcPr marL="91440" marR="91440" marT="45720" marB="45720" anchor="ctr">
                    <a:solidFill>
                      <a:srgbClr val="193C4D"/>
                    </a:solidFill>
                  </a:tcPr>
                </a:tc>
              </a:tr>
              <a:tr h="581025">
                <a:tc>
                  <a:txBody>
                    <a:bodyPr lIns="133350" tIns="85725" rIns="114300" bIns="85725"/>
                    <a:lstStyle/>
                    <a:p>
                      <a:r>
                        <a:rPr sz="1875"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224 / 0 / 1</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0.9978</a:t>
                      </a:r>
                    </a:p>
                  </a:txBody>
                  <a:tcPr marL="91440" marR="91440" marT="45720" marB="45720" anchor="ctr">
                    <a:solidFill>
                      <a:srgbClr val="FFFFFF"/>
                    </a:solidFill>
                  </a:tcPr>
                </a:tc>
              </a:tr>
              <a:tr h="581025">
                <a:tc>
                  <a:txBody>
                    <a:bodyPr lIns="133350" tIns="85725" rIns="114300" bIns="85725"/>
                    <a:lstStyle/>
                    <a:p>
                      <a:r>
                        <a:rPr sz="1875" b="0">
                          <a:solidFill>
                            <a:srgbClr val="162832"/>
                          </a:solidFill>
                          <a:latin typeface="Apple SD Gothic Neo"/>
                          <a:ea typeface="Apple SD Gothic Neo"/>
                          <a:cs typeface="Apple SD Gothic Neo"/>
                        </a:rPr>
                        <a:t>Faster R-CNN</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225 / 0 / 0</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1.0000</a:t>
                      </a:r>
                    </a:p>
                  </a:txBody>
                  <a:tcPr marL="91440" marR="91440" marT="45720" marB="45720" anchor="ctr">
                    <a:solidFill>
                      <a:srgbClr val="F1F5F6"/>
                    </a:solidFill>
                  </a:tcPr>
                </a:tc>
              </a:tr>
              <a:tr h="581025">
                <a:tc>
                  <a:txBody>
                    <a:bodyPr lIns="133350" tIns="85725" rIns="114300" bIns="85725"/>
                    <a:lstStyle/>
                    <a:p>
                      <a:r>
                        <a:rPr sz="1875" b="0">
                          <a:solidFill>
                            <a:srgbClr val="162832"/>
                          </a:solidFill>
                          <a:latin typeface="Apple SD Gothic Neo"/>
                          <a:ea typeface="Apple SD Gothic Neo"/>
                          <a:cs typeface="Apple SD Gothic Neo"/>
                        </a:rPr>
                        <a:t>RF-DETR-S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224 / 0 / 1</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0.9978</a:t>
                      </a:r>
                    </a:p>
                  </a:txBody>
                  <a:tcPr marL="91440" marR="91440" marT="45720" marB="45720" anchor="ctr">
                    <a:solidFill>
                      <a:srgbClr val="FFFFFF"/>
                    </a:solidFill>
                  </a:tcPr>
                </a:tc>
              </a:tr>
              <a:tr h="581025">
                <a:tc>
                  <a:txBody>
                    <a:bodyPr lIns="133350" tIns="85725" rIns="114300" bIns="85725"/>
                    <a:lstStyle/>
                    <a:p>
                      <a:r>
                        <a:rPr sz="1875" b="0">
                          <a:solidFill>
                            <a:srgbClr val="162832"/>
                          </a:solidFill>
                          <a:latin typeface="Apple SD Gothic Neo"/>
                          <a:ea typeface="Apple SD Gothic Neo"/>
                          <a:cs typeface="Apple SD Gothic Neo"/>
                        </a:rPr>
                        <a:t>D-FINE-S</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225 / 1 / 0</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0.9978</a:t>
                      </a:r>
                    </a:p>
                  </a:txBody>
                  <a:tcPr marL="91440" marR="91440" marT="45720" marB="45720" anchor="ctr">
                    <a:solidFill>
                      <a:srgbClr val="F1F5F6"/>
                    </a:solidFill>
                  </a:tcPr>
                </a:tc>
              </a:tr>
            </a:tbl>
          </a:graphicData>
        </a:graphic>
      </p:graphicFrame>
      <p:sp>
        <p:nvSpPr>
          <p:cNvPr id="3" name="">
            <a:extLst xmlns:a="http://schemas.openxmlformats.org/drawingml/2006/main">
              <a:ext uri="{FF2B5EF4-FFF2-40B4-BE49-F238E27FC236}">
                <a16:creationId xmlns:a16="http://schemas.microsoft.com/office/drawing/2014/main" id="{889026F8-A664-4EDC-B469-6EF52A946CDE}"/>
              </a:ext>
            </a:extLst>
          </p:cNvPr>
          <p:cNvSpPr>
            <a:spLocks xmlns:a="http://schemas.openxmlformats.org/drawingml/2006/main" noGrp="1"/>
          </p:cNvSpPr>
          <p:nvPr/>
        </p:nvSpPr>
        <p:spPr>
          <a:xfrm xmlns:a="http://schemas.openxmlformats.org/drawingml/2006/main">
            <a:off x="609600" y="47815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테스트 97장·공식 이물 225개에서 검은 중심 표시와 중복을 확인했습니다.</a:t>
            </a:r>
          </a:p>
        </p:txBody>
      </p:sp>
      <p:sp>
        <p:nvSpPr>
          <p:cNvPr id="4" name="">
            <a:extLst xmlns:a="http://schemas.openxmlformats.org/drawingml/2006/main">
              <a:ext uri="{FF2B5EF4-FFF2-40B4-BE49-F238E27FC236}">
                <a16:creationId xmlns:a16="http://schemas.microsoft.com/office/drawing/2014/main" id="{C2EDCEA8-3661-4326-9839-F50A75E25C3D}"/>
              </a:ext>
            </a:extLst>
          </p:cNvPr>
          <p:cNvSpPr>
            <a:spLocks xmlns:a="http://schemas.openxmlformats.org/drawingml/2006/main" noGrp="1"/>
          </p:cNvSpPr>
          <p:nvPr/>
        </p:nvSpPr>
        <p:spPr>
          <a:xfrm xmlns:a="http://schemas.openxmlformats.org/drawingml/2006/main">
            <a:off x="609600" y="5381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단일 AI 검토의 탐색적 결과입니다. 전문가 일치도와 평가자 오류율은 미검증입니다.</a:t>
            </a:r>
          </a:p>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공식 IoU 결과를 보존하며 공장 무결점 성능으로 해석하지 않습니다.</a:t>
            </a:r>
          </a:p>
        </p:txBody>
      </p:sp>
      <p:sp>
        <p:nvSpPr>
          <p:cNvPr id="5" name="">
            <a:extLst xmlns:a="http://schemas.openxmlformats.org/drawingml/2006/main">
              <a:ext uri="{FF2B5EF4-FFF2-40B4-BE49-F238E27FC236}">
                <a16:creationId xmlns:a16="http://schemas.microsoft.com/office/drawing/2014/main" id="{503F932F-8F55-4559-8AD8-1DBDFCE130FA}"/>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16</a:t>
            </a:r>
          </a:p>
        </p:txBody>
      </p:sp>
    </p:spTree>
    <p:extLst>
      <p:ext uri="{BB962C8B-B14F-4D97-AF65-F5344CB8AC3E}">
        <p14:creationId xmlns:p14="http://schemas.microsoft.com/office/powerpoint/2010/main" val="197717768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1B615B-DFA6-4901-8C73-F51FD3896933}"/>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사진에 표시가 없는 경우와 현장 재검사</a:t>
            </a:r>
          </a:p>
        </p:txBody>
      </p:sp>
      <p:sp>
        <p:nvSpPr>
          <p:cNvPr id="2" name="">
            <a:extLst xmlns:a="http://schemas.openxmlformats.org/drawingml/2006/main">
              <a:ext uri="{FF2B5EF4-FFF2-40B4-BE49-F238E27FC236}">
                <a16:creationId xmlns:a16="http://schemas.microsoft.com/office/drawing/2014/main" id="{3DEA511F-A446-4D54-B749-2FEB14AD809E}"/>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17</a:t>
            </a:r>
          </a:p>
        </p:txBody>
      </p:sp>
      <p:graphicFrame>
        <p:nvGraphicFramePr>
          <p:cNvPr id="9" name=""/>
          <p:cNvGraphicFramePr/>
          <p:nvPr/>
        </p:nvGraphicFramePr>
        <p:xfrm>
          <a:off xmlns:a="http://schemas.openxmlformats.org/drawingml/2006/main" x="609600" y="1628775"/>
          <a:ext xmlns:a="http://schemas.openxmlformats.org/drawingml/2006/main" cx="10972800" cy="3105150"/>
        </p:xfrm>
        <a:graphic xmlns:a="http://schemas.openxmlformats.org/drawingml/2006/main">
          <a:graphicData uri="http://schemas.openxmlformats.org/drawingml/2006/table">
            <a:tbl>
              <a:tblPr/>
              <a:tblGrid>
                <a:gridCol w="3429000"/>
                <a:gridCol w="7543800"/>
              </a:tblGrid>
              <a:tr h="776288">
                <a:tc>
                  <a:txBody>
                    <a:bodyPr lIns="133350" tIns="85725" rIns="114300" bIns="85725"/>
                    <a:lstStyle/>
                    <a:p>
                      <a:r>
                        <a:rPr sz="1875" b="1">
                          <a:solidFill>
                            <a:srgbClr val="FFFFFF"/>
                          </a:solidFill>
                          <a:latin typeface="Apple SD Gothic Neo"/>
                          <a:ea typeface="Apple SD Gothic Neo"/>
                          <a:cs typeface="Apple SD Gothic Neo"/>
                        </a:rPr>
                        <a:t>판정</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처리 원칙</a:t>
                      </a:r>
                    </a:p>
                  </a:txBody>
                  <a:tcPr marL="91440" marR="91440" marT="45720" marB="45720" anchor="ctr">
                    <a:solidFill>
                      <a:srgbClr val="193C4D"/>
                    </a:solidFill>
                  </a:tcPr>
                </a:tc>
              </a:tr>
              <a:tr h="776288">
                <a:tc>
                  <a:txBody>
                    <a:bodyPr lIns="133350" tIns="85725" rIns="114300" bIns="85725"/>
                    <a:lstStyle/>
                    <a:p>
                      <a:r>
                        <a:rPr sz="1875" b="0">
                          <a:solidFill>
                            <a:srgbClr val="162832"/>
                          </a:solidFill>
                          <a:latin typeface="Apple SD Gothic Neo"/>
                          <a:ea typeface="Apple SD Gothic Neo"/>
                          <a:cs typeface="Apple SD Gothic Neo"/>
                        </a:rPr>
                        <a:t>REJECT</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이물 의심이 큰 제품을 분리</a:t>
                      </a:r>
                    </a:p>
                  </a:txBody>
                  <a:tcPr marL="91440" marR="91440" marT="45720" marB="45720" anchor="ctr">
                    <a:solidFill>
                      <a:srgbClr val="FFFFFF"/>
                    </a:solidFill>
                  </a:tcPr>
                </a:tc>
              </a:tr>
              <a:tr h="776288">
                <a:tc>
                  <a:txBody>
                    <a:bodyPr lIns="133350" tIns="85725" rIns="114300" bIns="85725"/>
                    <a:lstStyle/>
                    <a:p>
                      <a:r>
                        <a:rPr sz="1875" b="0">
                          <a:solidFill>
                            <a:srgbClr val="162832"/>
                          </a:solidFill>
                          <a:latin typeface="Apple SD Gothic Neo"/>
                          <a:ea typeface="Apple SD Gothic Neo"/>
                          <a:cs typeface="Apple SD Gothic Neo"/>
                        </a:rPr>
                        <a:t>RE-INSPECTION</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애매한 점수·입력 문제·무검출은 재검사 또는 보류</a:t>
                      </a:r>
                    </a:p>
                  </a:txBody>
                  <a:tcPr marL="91440" marR="91440" marT="45720" marB="45720" anchor="ctr">
                    <a:solidFill>
                      <a:srgbClr val="F1F5F6"/>
                    </a:solidFill>
                  </a:tcPr>
                </a:tc>
              </a:tr>
              <a:tr h="776288">
                <a:tc>
                  <a:txBody>
                    <a:bodyPr lIns="133350" tIns="85725" rIns="114300" bIns="85725"/>
                    <a:lstStyle/>
                    <a:p>
                      <a:r>
                        <a:rPr sz="1875" b="0">
                          <a:solidFill>
                            <a:srgbClr val="162832"/>
                          </a:solidFill>
                          <a:latin typeface="Apple SD Gothic Neo"/>
                          <a:ea typeface="Apple SD Gothic Neo"/>
                          <a:cs typeface="Apple SD Gothic Neo"/>
                        </a:rPr>
                        <a:t>PASS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대표 정상·이상 제품 검증 후 도입. 현재 비활성</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E47CE52-439E-471E-91C4-64ED2D466EEF}"/>
              </a:ext>
            </a:extLst>
          </p:cNvPr>
          <p:cNvSpPr>
            <a:spLocks xmlns:a="http://schemas.openxmlformats.org/drawingml/2006/main" noGrp="1"/>
          </p:cNvSpPr>
          <p:nvPr/>
        </p:nvSpPr>
        <p:spPr>
          <a:xfrm xmlns:a="http://schemas.openxmlformats.org/drawingml/2006/main">
            <a:off x="609600" y="51244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표시 없는 이물 사진: YOLO·RF-DETR 각 1장, Faster·D-FINE 각 0장.</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실제 제품 출하 시험은 아니며, 정상 제품 오경보율은 미검증입니다.</a:t>
            </a:r>
          </a:p>
        </p:txBody>
      </p:sp>
    </p:spTree>
    <p:extLst>
      <p:ext uri="{BB962C8B-B14F-4D97-AF65-F5344CB8AC3E}">
        <p14:creationId xmlns:p14="http://schemas.microsoft.com/office/powerpoint/2010/main" val="167443746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249F72-873B-4CB6-AE5C-A03BB29D9F19}"/>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식품 공장의 AI 보조검사 적용안</a:t>
            </a:r>
          </a:p>
        </p:txBody>
      </p:sp>
      <p:sp>
        <p:nvSpPr>
          <p:cNvPr id="2" name="">
            <a:extLst xmlns:a="http://schemas.openxmlformats.org/drawingml/2006/main">
              <a:ext uri="{FF2B5EF4-FFF2-40B4-BE49-F238E27FC236}">
                <a16:creationId xmlns:a16="http://schemas.microsoft.com/office/drawing/2014/main" id="{6A65B12D-01D8-487A-AECE-F6EF875BEA0D}"/>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18</a:t>
            </a:r>
          </a:p>
        </p:txBody>
      </p:sp>
      <p:sp>
        <p:nvSpPr>
          <p:cNvPr id="3" name="">
            <a:extLst xmlns:a="http://schemas.openxmlformats.org/drawingml/2006/main">
              <a:ext uri="{FF2B5EF4-FFF2-40B4-BE49-F238E27FC236}">
                <a16:creationId xmlns:a16="http://schemas.microsoft.com/office/drawing/2014/main" id="{77D6F10C-7B54-4635-BC11-5C5718812226}"/>
              </a:ext>
            </a:extLst>
          </p:cNvPr>
          <p:cNvSpPr>
            <a:spLocks xmlns:a="http://schemas.openxmlformats.org/drawingml/2006/main" noGrp="1"/>
          </p:cNvSpPr>
          <p:nvPr/>
        </p:nvSpPr>
        <p:spPr>
          <a:xfrm xmlns:a="http://schemas.openxmlformats.org/drawingml/2006/main">
            <a:off x="609600" y="16764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촬영 사진과 제품 식별자·시각·호기를 연결합니다.</a:t>
            </a:r>
          </a:p>
        </p:txBody>
      </p:sp>
      <p:sp>
        <p:nvSpPr>
          <p:cNvPr id="4" name="">
            <a:extLst xmlns:a="http://schemas.openxmlformats.org/drawingml/2006/main">
              <a:ext uri="{FF2B5EF4-FFF2-40B4-BE49-F238E27FC236}">
                <a16:creationId xmlns:a16="http://schemas.microsoft.com/office/drawing/2014/main" id="{089BA926-338B-4356-A4C7-A7DA45FF6A16}"/>
              </a:ext>
            </a:extLst>
          </p:cNvPr>
          <p:cNvSpPr>
            <a:spLocks xmlns:a="http://schemas.openxmlformats.org/drawingml/2006/main" noGrp="1"/>
          </p:cNvSpPr>
          <p:nvPr/>
        </p:nvSpPr>
        <p:spPr>
          <a:xfrm xmlns:a="http://schemas.openxmlformats.org/drawingml/2006/main">
            <a:off x="609600" y="25717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현장 PC가 의심 위치와 점수를 계산하여 작업자에게 보여 줍니다.</a:t>
            </a:r>
          </a:p>
        </p:txBody>
      </p:sp>
      <p:sp>
        <p:nvSpPr>
          <p:cNvPr id="5" name="">
            <a:extLst xmlns:a="http://schemas.openxmlformats.org/drawingml/2006/main">
              <a:ext uri="{FF2B5EF4-FFF2-40B4-BE49-F238E27FC236}">
                <a16:creationId xmlns:a16="http://schemas.microsoft.com/office/drawing/2014/main" id="{3AA67269-E598-4895-BFDB-48C7759CC345}"/>
              </a:ext>
            </a:extLst>
          </p:cNvPr>
          <p:cNvSpPr>
            <a:spLocks xmlns:a="http://schemas.openxmlformats.org/drawingml/2006/main" noGrp="1"/>
          </p:cNvSpPr>
          <p:nvPr/>
        </p:nvSpPr>
        <p:spPr>
          <a:xfrm xmlns:a="http://schemas.openxmlformats.org/drawingml/2006/main">
            <a:off x="609600" y="3467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작업자는 의심 제품을 분리하고 재검사 결과를 기록합니다.</a:t>
            </a:r>
          </a:p>
        </p:txBody>
      </p:sp>
      <p:sp>
        <p:nvSpPr>
          <p:cNvPr id="6" name="">
            <a:extLst xmlns:a="http://schemas.openxmlformats.org/drawingml/2006/main">
              <a:ext uri="{FF2B5EF4-FFF2-40B4-BE49-F238E27FC236}">
                <a16:creationId xmlns:a16="http://schemas.microsoft.com/office/drawing/2014/main" id="{4DCB7C08-6811-4B26-B7C8-60072C61BAF7}"/>
              </a:ext>
            </a:extLst>
          </p:cNvPr>
          <p:cNvSpPr>
            <a:spLocks xmlns:a="http://schemas.openxmlformats.org/drawingml/2006/main" noGrp="1"/>
          </p:cNvSpPr>
          <p:nvPr/>
        </p:nvSpPr>
        <p:spPr>
          <a:xfrm xmlns:a="http://schemas.openxmlformats.org/drawingml/2006/main">
            <a:off x="609600" y="43624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검증 후 설비 제어기와 연결하고 실제 분리 여부를 확인합니다.</a:t>
            </a:r>
          </a:p>
        </p:txBody>
      </p:sp>
      <p:sp>
        <p:nvSpPr>
          <p:cNvPr id="7" name="">
            <a:extLst xmlns:a="http://schemas.openxmlformats.org/drawingml/2006/main">
              <a:ext uri="{FF2B5EF4-FFF2-40B4-BE49-F238E27FC236}">
                <a16:creationId xmlns:a16="http://schemas.microsoft.com/office/drawing/2014/main" id="{7077BC36-E69C-4D03-8D50-793E6DA5D22B}"/>
              </a:ext>
            </a:extLst>
          </p:cNvPr>
          <p:cNvSpPr>
            <a:spLocks xmlns:a="http://schemas.openxmlformats.org/drawingml/2006/main" noGrp="1"/>
          </p:cNvSpPr>
          <p:nvPr/>
        </p:nvSpPr>
        <p:spPr>
          <a:xfrm xmlns:a="http://schemas.openxmlformats.org/drawingml/2006/main">
            <a:off x="609600" y="57816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53616A"/>
                </a:solidFill>
                <a:latin typeface="Apple SD Gothic Neo"/>
                <a:ea typeface="Apple SD Gothic Neo"/>
                <a:cs typeface="Apple SD Gothic Neo"/>
              </a:defRPr>
            </a:pPr>
            <a:r>
              <a:rPr sz="1875" b="0">
                <a:solidFill>
                  <a:srgbClr val="53616A"/>
                </a:solidFill>
                <a:latin typeface="Apple SD Gothic Neo"/>
                <a:ea typeface="Apple SD Gothic Neo"/>
                <a:cs typeface="Apple SD Gothic Neo"/>
              </a:rPr>
              <a:t>초기에는 기존 검사와 병행합니다. AI가 기존 경보를 취소하거나 출하를 승인하지 않습니다.</a:t>
            </a:r>
          </a:p>
        </p:txBody>
      </p:sp>
    </p:spTree>
    <p:extLst>
      <p:ext uri="{BB962C8B-B14F-4D97-AF65-F5344CB8AC3E}">
        <p14:creationId xmlns:p14="http://schemas.microsoft.com/office/powerpoint/2010/main" val="18160515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EACF22-E9C0-453B-939C-E76DD761E7C9}"/>
              </a:ext>
            </a:extLst>
          </p:cNvPr>
          <p:cNvSpPr>
            <a:spLocks xmlns:a="http://schemas.openxmlformats.org/drawingml/2006/main" noGrp="1"/>
          </p:cNvSpPr>
          <p:nvPr/>
        </p:nvSpPr>
        <p:spPr>
          <a:xfrm xmlns:a="http://schemas.openxmlformats.org/drawingml/2006/main">
            <a:off x="609600" y="3619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925" b="1">
                <a:solidFill>
                  <a:srgbClr val="162832"/>
                </a:solidFill>
                <a:latin typeface="Apple SD Gothic Neo"/>
                <a:ea typeface="Apple SD Gothic Neo"/>
                <a:cs typeface="Apple SD Gothic Neo"/>
              </a:defRPr>
            </a:pPr>
            <a:r>
              <a:rPr sz="2925" b="1">
                <a:solidFill>
                  <a:srgbClr val="162832"/>
                </a:solidFill>
                <a:latin typeface="Apple SD Gothic Neo"/>
                <a:ea typeface="Apple SD Gothic Neo"/>
                <a:cs typeface="Apple SD Gothic Neo"/>
              </a:rPr>
              <a:t>선택 검사에서 전체 사진 검사로 바꾼 근거</a:t>
            </a:r>
          </a:p>
        </p:txBody>
      </p:sp>
      <p:sp>
        <p:nvSpPr>
          <p:cNvPr id="2" name="">
            <a:extLst xmlns:a="http://schemas.openxmlformats.org/drawingml/2006/main">
              <a:ext uri="{FF2B5EF4-FFF2-40B4-BE49-F238E27FC236}">
                <a16:creationId xmlns:a16="http://schemas.microsoft.com/office/drawing/2014/main" id="{302C3A70-FCEA-4966-AAEC-70CDA6745D42}"/>
              </a:ext>
            </a:extLst>
          </p:cNvPr>
          <p:cNvSpPr>
            <a:spLocks xmlns:a="http://schemas.openxmlformats.org/drawingml/2006/main" noGrp="1"/>
          </p:cNvSpPr>
          <p:nvPr/>
        </p:nvSpPr>
        <p:spPr>
          <a:xfrm xmlns:a="http://schemas.openxmlformats.org/drawingml/2006/main">
            <a:off x="609600" y="13811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초기 방식은 원래·반전 예측이 같은 사진의 추가 검사를 생략했습니다.</a:t>
            </a:r>
          </a:p>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그중 공통 위치 FN이 남아, 현재는 두 모델이 모든 사진을 각각 검사합니다.</a:t>
            </a:r>
          </a:p>
        </p:txBody>
      </p:sp>
      <p:graphicFrame>
        <p:nvGraphicFramePr>
          <p:cNvPr id="10" name=""/>
          <p:cNvGraphicFramePr/>
          <p:nvPr/>
        </p:nvGraphicFramePr>
        <p:xfrm>
          <a:off xmlns:a="http://schemas.openxmlformats.org/drawingml/2006/main" x="609600" y="2447925"/>
          <a:ext xmlns:a="http://schemas.openxmlformats.org/drawingml/2006/main" cx="10972800" cy="2619375"/>
        </p:xfrm>
        <a:graphic xmlns:a="http://schemas.openxmlformats.org/drawingml/2006/main">
          <a:graphicData uri="http://schemas.openxmlformats.org/drawingml/2006/table">
            <a:tbl>
              <a:tblPr/>
              <a:tblGrid>
                <a:gridCol w="4048125"/>
                <a:gridCol w="6924675"/>
              </a:tblGrid>
              <a:tr h="523875">
                <a:tc>
                  <a:txBody>
                    <a:bodyPr lIns="133350" tIns="85725" rIns="114300" bIns="85725"/>
                    <a:lstStyle/>
                    <a:p>
                      <a:r>
                        <a:rPr sz="1875" b="1">
                          <a:solidFill>
                            <a:srgbClr val="FFFFFF"/>
                          </a:solidFill>
                          <a:latin typeface="Apple SD Gothic Neo"/>
                          <a:ea typeface="Apple SD Gothic Neo"/>
                          <a:cs typeface="Apple SD Gothic Neo"/>
                        </a:rPr>
                        <a:t>측정 항목</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검증 107장, 맥북 MPS, 3회 반복</a:t>
                      </a:r>
                    </a:p>
                  </a:txBody>
                  <a:tcPr marL="91440" marR="91440" marT="45720" marB="45720" anchor="ctr">
                    <a:solidFill>
                      <a:srgbClr val="193C4D"/>
                    </a:solidFill>
                  </a:tcPr>
                </a:tc>
              </a:tr>
              <a:tr h="523875">
                <a:tc>
                  <a:txBody>
                    <a:bodyPr lIns="133350" tIns="85725" rIns="114300" bIns="85725"/>
                    <a:lstStyle/>
                    <a:p>
                      <a:r>
                        <a:rPr sz="1875" b="0">
                          <a:solidFill>
                            <a:srgbClr val="162832"/>
                          </a:solidFill>
                          <a:latin typeface="Apple SD Gothic Neo"/>
                          <a:ea typeface="Apple SD Gothic Neo"/>
                          <a:cs typeface="Apple SD Gothic Neo"/>
                        </a:rPr>
                        <a:t>두 번째 모델 실행</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회당 8장</a:t>
                      </a:r>
                    </a:p>
                  </a:txBody>
                  <a:tcPr marL="91440" marR="91440" marT="45720" marB="45720" anchor="ctr">
                    <a:solidFill>
                      <a:srgbClr val="FFFFFF"/>
                    </a:solidFill>
                  </a:tcPr>
                </a:tc>
              </a:tr>
              <a:tr h="523875">
                <a:tc>
                  <a:txBody>
                    <a:bodyPr lIns="133350" tIns="85725" rIns="114300" bIns="85725"/>
                    <a:lstStyle/>
                    <a:p>
                      <a:r>
                        <a:rPr sz="1875" b="0">
                          <a:solidFill>
                            <a:srgbClr val="162832"/>
                          </a:solidFill>
                          <a:latin typeface="Apple SD Gothic Neo"/>
                          <a:ea typeface="Apple SD Gothic Neo"/>
                          <a:cs typeface="Apple SD Gothic Neo"/>
                        </a:rPr>
                        <a:t>모델 간 의견 충돌</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회당 1장, 두 결과를 보존하고 재검사</a:t>
                      </a:r>
                    </a:p>
                  </a:txBody>
                  <a:tcPr marL="91440" marR="91440" marT="45720" marB="45720" anchor="ctr">
                    <a:solidFill>
                      <a:srgbClr val="F1F5F6"/>
                    </a:solidFill>
                  </a:tcPr>
                </a:tc>
              </a:tr>
              <a:tr h="523875">
                <a:tc>
                  <a:txBody>
                    <a:bodyPr lIns="133350" tIns="85725" rIns="114300" bIns="85725"/>
                    <a:lstStyle/>
                    <a:p>
                      <a:r>
                        <a:rPr sz="1875" b="0">
                          <a:solidFill>
                            <a:srgbClr val="162832"/>
                          </a:solidFill>
                          <a:latin typeface="Apple SD Gothic Neo"/>
                          <a:ea typeface="Apple SD Gothic Neo"/>
                          <a:cs typeface="Apple SD Gothic Neo"/>
                        </a:rPr>
                        <a:t>평균 / P95 지연</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19.03 / 43.56 ms</a:t>
                      </a:r>
                    </a:p>
                  </a:txBody>
                  <a:tcPr marL="91440" marR="91440" marT="45720" marB="45720" anchor="ctr">
                    <a:solidFill>
                      <a:srgbClr val="FFFFFF"/>
                    </a:solidFill>
                  </a:tcPr>
                </a:tc>
              </a:tr>
              <a:tr h="523875">
                <a:tc>
                  <a:txBody>
                    <a:bodyPr lIns="133350" tIns="85725" rIns="114300" bIns="85725"/>
                    <a:lstStyle/>
                    <a:p>
                      <a:r>
                        <a:rPr sz="1875" b="0">
                          <a:solidFill>
                            <a:srgbClr val="162832"/>
                          </a:solidFill>
                          <a:latin typeface="Apple SD Gothic Neo"/>
                          <a:ea typeface="Apple SD Gothic Neo"/>
                          <a:cs typeface="Apple SD Gothic Neo"/>
                        </a:rPr>
                        <a:t>실행 오류 / 시간 초과</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321회 검사에서 0회 / 0회</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1570C421-F21B-4711-85C8-75D49EB69DE4}"/>
              </a:ext>
            </a:extLst>
          </p:cNvPr>
          <p:cNvSpPr>
            <a:spLocks xmlns:a="http://schemas.openxmlformats.org/drawingml/2006/main" noGrp="1"/>
          </p:cNvSpPr>
          <p:nvPr/>
        </p:nvSpPr>
        <p:spPr>
          <a:xfrm xmlns:a="http://schemas.openxmlformats.org/drawingml/2006/main">
            <a:off x="609600" y="5381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표는 초기 선택 검사의 시간 기록입니다. 현재 전체 사진 검사와 구분합니다.</a:t>
            </a:r>
          </a:p>
          <a:p xmlns:a="http://schemas.openxmlformats.org/drawingml/2006/main">
            <a:pPr>
              <a:buNone/>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반전 결과의 일치는 정답 보장이 아니며, 촬영·설비·대기 시간은 제외한 측정입니다.</a:t>
            </a:r>
          </a:p>
        </p:txBody>
      </p:sp>
      <p:sp>
        <p:nvSpPr>
          <p:cNvPr id="5" name="">
            <a:extLst xmlns:a="http://schemas.openxmlformats.org/drawingml/2006/main">
              <a:ext uri="{FF2B5EF4-FFF2-40B4-BE49-F238E27FC236}">
                <a16:creationId xmlns:a16="http://schemas.microsoft.com/office/drawing/2014/main" id="{E72B02DD-E28B-401D-9FA5-8F7CE34FD78A}"/>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19</a:t>
            </a:r>
          </a:p>
        </p:txBody>
      </p:sp>
    </p:spTree>
    <p:extLst>
      <p:ext uri="{BB962C8B-B14F-4D97-AF65-F5344CB8AC3E}">
        <p14:creationId xmlns:p14="http://schemas.microsoft.com/office/powerpoint/2010/main" val="194833499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3815CF-BDAF-433D-84D5-CDC0E6CBE11B}"/>
              </a:ext>
            </a:extLst>
          </p:cNvPr>
          <p:cNvSpPr>
            <a:spLocks xmlns:a="http://schemas.openxmlformats.org/drawingml/2006/main" noGrp="1"/>
          </p:cNvSpPr>
          <p:nvPr/>
        </p:nvSpPr>
        <p:spPr>
          <a:xfrm xmlns:a="http://schemas.openxmlformats.org/drawingml/2006/main">
            <a:off x="609600" y="3619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판단 충돌과 추가 학습 결정</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4d3e43383204116"/>
          <a:stretch xmlns:a="http://schemas.openxmlformats.org/drawingml/2006/main"/>
        </p:blipFill>
        <p:spPr>
          <a:xfrm xmlns:a="http://schemas.openxmlformats.org/drawingml/2006/main">
            <a:off x="2130217" y="1381125"/>
            <a:ext cx="7931565" cy="3143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C96AC61-CC4E-4429-8B85-B9A4BCBB94F7}"/>
              </a:ext>
            </a:extLst>
          </p:cNvPr>
          <p:cNvSpPr>
            <a:spLocks xmlns:a="http://schemas.openxmlformats.org/drawingml/2006/main" noGrp="1"/>
          </p:cNvSpPr>
          <p:nvPr/>
        </p:nvSpPr>
        <p:spPr>
          <a:xfrm xmlns:a="http://schemas.openxmlformats.org/drawingml/2006/main">
            <a:off x="609600" y="4629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추가 박스의 실제 이물 여부는 불명확합니다. 두 결과를 보존하고 재검사합니다.</a:t>
            </a:r>
          </a:p>
        </p:txBody>
      </p:sp>
      <p:sp>
        <p:nvSpPr>
          <p:cNvPr id="4" name="">
            <a:extLst xmlns:a="http://schemas.openxmlformats.org/drawingml/2006/main">
              <a:ext uri="{FF2B5EF4-FFF2-40B4-BE49-F238E27FC236}">
                <a16:creationId xmlns:a16="http://schemas.microsoft.com/office/drawing/2014/main" id="{6BF07447-31D9-47E0-B184-64136FE5EAF1}"/>
              </a:ext>
            </a:extLst>
          </p:cNvPr>
          <p:cNvSpPr>
            <a:spLocks xmlns:a="http://schemas.openxmlformats.org/drawingml/2006/main" noGrp="1"/>
          </p:cNvSpPr>
          <p:nvPr/>
        </p:nvSpPr>
        <p:spPr>
          <a:xfrm xmlns:a="http://schemas.openxmlformats.org/drawingml/2006/main">
            <a:off x="609600" y="52197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초기 검토 10장·공식 이물 28개에서 중심 표시 누락은 확인되지 않았습니다.</a:t>
            </a:r>
          </a:p>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이후 확대·분할 입력 적응을 각각 3epoch 시험했습니다. 뒤에서 결과를 비교합니다.</a:t>
            </a:r>
          </a:p>
        </p:txBody>
      </p:sp>
      <p:sp>
        <p:nvSpPr>
          <p:cNvPr id="5" name="">
            <a:extLst xmlns:a="http://schemas.openxmlformats.org/drawingml/2006/main">
              <a:ext uri="{FF2B5EF4-FFF2-40B4-BE49-F238E27FC236}">
                <a16:creationId xmlns:a16="http://schemas.microsoft.com/office/drawing/2014/main" id="{6D8931A1-D0FD-4443-9681-F1A622254B38}"/>
              </a:ext>
            </a:extLst>
          </p:cNvPr>
          <p:cNvSpPr>
            <a:spLocks xmlns:a="http://schemas.openxmlformats.org/drawingml/2006/main" noGrp="1"/>
          </p:cNvSpPr>
          <p:nvPr/>
        </p:nvSpPr>
        <p:spPr>
          <a:xfrm xmlns:a="http://schemas.openxmlformats.org/drawingml/2006/main">
            <a:off x="609600" y="61245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500" b="0">
                <a:solidFill>
                  <a:srgbClr val="162832"/>
                </a:solidFill>
                <a:latin typeface="Apple SD Gothic Neo"/>
                <a:ea typeface="Apple SD Gothic Neo"/>
                <a:cs typeface="Apple SD Gothic Neo"/>
              </a:defRPr>
            </a:pPr>
            <a:r>
              <a:rPr sz="1500" b="0">
                <a:solidFill>
                  <a:srgbClr val="162832"/>
                </a:solidFill>
                <a:latin typeface="Apple SD Gothic Neo"/>
                <a:ea typeface="Apple SD Gothic Neo"/>
                <a:cs typeface="Apple SD Gothic Neo"/>
              </a:rPr>
              <a:t>이물 한 곳 주변의 박스만 표시한 예시입니다. 전체 검증·정상 제품 평가 결과는 아닙니다.</a:t>
            </a:r>
          </a:p>
        </p:txBody>
      </p:sp>
      <p:sp>
        <p:nvSpPr>
          <p:cNvPr id="6" name="">
            <a:extLst xmlns:a="http://schemas.openxmlformats.org/drawingml/2006/main">
              <a:ext uri="{FF2B5EF4-FFF2-40B4-BE49-F238E27FC236}">
                <a16:creationId xmlns:a16="http://schemas.microsoft.com/office/drawing/2014/main" id="{08F6A220-DFBD-42B8-90C8-D1F1B6010C1E}"/>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20</a:t>
            </a:r>
          </a:p>
        </p:txBody>
      </p:sp>
    </p:spTree>
    <p:extLst>
      <p:ext uri="{BB962C8B-B14F-4D97-AF65-F5344CB8AC3E}">
        <p14:creationId xmlns:p14="http://schemas.microsoft.com/office/powerpoint/2010/main" val="176327214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5027B5-8FC5-4962-A428-5843417E1D08}"/>
              </a:ext>
            </a:extLst>
          </p:cNvPr>
          <p:cNvSpPr>
            <a:spLocks xmlns:a="http://schemas.openxmlformats.org/drawingml/2006/main" noGrp="1"/>
          </p:cNvSpPr>
          <p:nvPr/>
        </p:nvSpPr>
        <p:spPr>
          <a:xfrm xmlns:a="http://schemas.openxmlformats.org/drawingml/2006/main">
            <a:off x="609600" y="3619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075" b="1">
                <a:solidFill>
                  <a:srgbClr val="162832"/>
                </a:solidFill>
                <a:latin typeface="Apple SD Gothic Neo"/>
                <a:ea typeface="Apple SD Gothic Neo"/>
                <a:cs typeface="Apple SD Gothic Neo"/>
              </a:defRPr>
            </a:pPr>
            <a:r>
              <a:rPr sz="3075" b="1">
                <a:solidFill>
                  <a:srgbClr val="162832"/>
                </a:solidFill>
                <a:latin typeface="Apple SD Gothic Neo"/>
                <a:ea typeface="Apple SD Gothic Neo"/>
                <a:cs typeface="Apple SD Gothic Neo"/>
              </a:rPr>
              <a:t>최신 모델도 같은 조건으로 비교했습니다</a:t>
            </a:r>
          </a:p>
        </p:txBody>
      </p:sp>
      <p:graphicFrame>
        <p:nvGraphicFramePr>
          <p:cNvPr id="10" name=""/>
          <p:cNvGraphicFramePr/>
          <p:nvPr/>
        </p:nvGraphicFramePr>
        <p:xfrm>
          <a:off xmlns:a="http://schemas.openxmlformats.org/drawingml/2006/main" x="609600" y="1457325"/>
          <a:ext xmlns:a="http://schemas.openxmlformats.org/drawingml/2006/main" cx="10972800" cy="2305050"/>
        </p:xfrm>
        <a:graphic xmlns:a="http://schemas.openxmlformats.org/drawingml/2006/main">
          <a:graphicData uri="http://schemas.openxmlformats.org/drawingml/2006/table">
            <a:tbl>
              <a:tblPr/>
              <a:tblGrid>
                <a:gridCol w="3333750"/>
                <a:gridCol w="2476500"/>
                <a:gridCol w="2667000"/>
                <a:gridCol w="2495550"/>
              </a:tblGrid>
              <a:tr h="576263">
                <a:tc>
                  <a:txBody>
                    <a:bodyPr lIns="133350" tIns="76200" rIns="114300" bIns="76200"/>
                    <a:lstStyle/>
                    <a:p>
                      <a:r>
                        <a:rPr sz="1800"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검증 F1</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검증 FP / FN</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테스트 F1</a:t>
                      </a:r>
                    </a:p>
                  </a:txBody>
                  <a:tcPr marL="91440" marR="91440" marT="45720" marB="45720" anchor="ctr">
                    <a:solidFill>
                      <a:srgbClr val="193C4D"/>
                    </a:solidFill>
                  </a:tcPr>
                </a:tc>
              </a:tr>
              <a:tr h="576263">
                <a:tc>
                  <a:txBody>
                    <a:bodyPr lIns="133350" tIns="76200" rIns="114300" bIns="76200"/>
                    <a:lstStyle/>
                    <a:p>
                      <a:r>
                        <a:rPr sz="1800"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0.9856</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4 / 3</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0.9889</a:t>
                      </a:r>
                    </a:p>
                  </a:txBody>
                  <a:tcPr marL="91440" marR="91440" marT="45720" marB="45720" anchor="ctr">
                    <a:solidFill>
                      <a:srgbClr val="FFFFFF"/>
                    </a:solidFill>
                  </a:tcPr>
                </a:tc>
              </a:tr>
              <a:tr h="576263">
                <a:tc>
                  <a:txBody>
                    <a:bodyPr lIns="133350" tIns="76200" rIns="114300" bIns="76200"/>
                    <a:lstStyle/>
                    <a:p>
                      <a:r>
                        <a:rPr sz="1800" b="0">
                          <a:solidFill>
                            <a:srgbClr val="162832"/>
                          </a:solidFill>
                          <a:latin typeface="Apple SD Gothic Neo"/>
                          <a:ea typeface="Apple SD Gothic Neo"/>
                          <a:cs typeface="Apple SD Gothic Neo"/>
                        </a:rPr>
                        <a:t>YOLO11n</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0.9877</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3 / 3</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0.9643</a:t>
                      </a:r>
                    </a:p>
                  </a:txBody>
                  <a:tcPr marL="91440" marR="91440" marT="45720" marB="45720" anchor="ctr">
                    <a:solidFill>
                      <a:srgbClr val="F1F5F6"/>
                    </a:solidFill>
                  </a:tcPr>
                </a:tc>
              </a:tr>
              <a:tr h="576263">
                <a:tc>
                  <a:txBody>
                    <a:bodyPr lIns="133350" tIns="76200" rIns="114300" bIns="76200"/>
                    <a:lstStyle/>
                    <a:p>
                      <a:r>
                        <a:rPr sz="1800" b="0">
                          <a:solidFill>
                            <a:srgbClr val="162832"/>
                          </a:solidFill>
                          <a:latin typeface="Apple SD Gothic Neo"/>
                          <a:ea typeface="Apple SD Gothic Neo"/>
                          <a:cs typeface="Apple SD Gothic Neo"/>
                        </a:rPr>
                        <a:t>YOLO26n</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0.9877</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3 / 3</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0.9733</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2463221-EE12-4DCC-8ED0-7D1931152717}"/>
              </a:ext>
            </a:extLst>
          </p:cNvPr>
          <p:cNvSpPr>
            <a:spLocks xmlns:a="http://schemas.openxmlformats.org/drawingml/2006/main" noGrp="1"/>
          </p:cNvSpPr>
          <p:nvPr/>
        </p:nvSpPr>
        <p:spPr>
          <a:xfrm xmlns:a="http://schemas.openxmlformats.org/drawingml/2006/main">
            <a:off x="609600" y="4048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학습 2453장 · 20epoch · batch 8 · 512픽셀 · AdamW · seed 0</a:t>
            </a:r>
          </a:p>
        </p:txBody>
      </p:sp>
      <p:sp>
        <p:nvSpPr>
          <p:cNvPr id="4" name="">
            <a:extLst xmlns:a="http://schemas.openxmlformats.org/drawingml/2006/main">
              <a:ext uri="{FF2B5EF4-FFF2-40B4-BE49-F238E27FC236}">
                <a16:creationId xmlns:a16="http://schemas.microsoft.com/office/drawing/2014/main" id="{A103A98A-F8EB-4605-87B7-159F0F2F7386}"/>
              </a:ext>
            </a:extLst>
          </p:cNvPr>
          <p:cNvSpPr>
            <a:spLocks xmlns:a="http://schemas.openxmlformats.org/drawingml/2006/main" noGrp="1"/>
          </p:cNvSpPr>
          <p:nvPr/>
        </p:nvSpPr>
        <p:spPr>
          <a:xfrm xmlns:a="http://schemas.openxmlformats.org/drawingml/2006/main">
            <a:off x="609600" y="47148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검증의 작은 차이는 안정적인 우월성을 입증하지 못했습니다.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테스트에서 최신 모델의 성능 향상은 확인되지 않았습니다.</a:t>
            </a:r>
          </a:p>
        </p:txBody>
      </p:sp>
      <p:sp>
        <p:nvSpPr>
          <p:cNvPr id="5" name="">
            <a:extLst xmlns:a="http://schemas.openxmlformats.org/drawingml/2006/main">
              <a:ext uri="{FF2B5EF4-FFF2-40B4-BE49-F238E27FC236}">
                <a16:creationId xmlns:a16="http://schemas.microsoft.com/office/drawing/2014/main" id="{A16A58DC-192F-4FF1-B98A-96967D0C93CA}"/>
              </a:ext>
            </a:extLst>
          </p:cNvPr>
          <p:cNvSpPr>
            <a:spLocks xmlns:a="http://schemas.openxmlformats.org/drawingml/2006/main" noGrp="1"/>
          </p:cNvSpPr>
          <p:nvPr/>
        </p:nvSpPr>
        <p:spPr>
          <a:xfrm xmlns:a="http://schemas.openxmlformats.org/drawingml/2006/main">
            <a:off x="609600" y="57435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650" b="0">
                <a:solidFill>
                  <a:srgbClr val="162832"/>
                </a:solidFill>
                <a:latin typeface="Apple SD Gothic Neo"/>
                <a:ea typeface="Apple SD Gothic Neo"/>
                <a:cs typeface="Apple SD Gothic Neo"/>
              </a:defRPr>
            </a:pPr>
            <a:r>
              <a:rPr sz="1650" b="0">
                <a:solidFill>
                  <a:srgbClr val="162832"/>
                </a:solidFill>
                <a:latin typeface="Apple SD Gothic Neo"/>
                <a:ea typeface="Apple SD Gothic Neo"/>
                <a:cs typeface="Apple SD Gothic Neo"/>
              </a:rPr>
              <a:t>검증에서 저장본·임계값을 고정했습니다. 이미 본 테스트이며 새 독립 시험은 아닙니다.</a:t>
            </a:r>
          </a:p>
          <a:p xmlns:a="http://schemas.openxmlformats.org/drawingml/2006/main">
            <a:pPr>
              <a:buNone/>
              <a:defRPr sz="1650" b="0">
                <a:solidFill>
                  <a:srgbClr val="162832"/>
                </a:solidFill>
                <a:latin typeface="Apple SD Gothic Neo"/>
                <a:ea typeface="Apple SD Gothic Neo"/>
                <a:cs typeface="Apple SD Gothic Neo"/>
              </a:defRPr>
            </a:pPr>
            <a:r>
              <a:rPr sz="1650" b="0">
                <a:solidFill>
                  <a:srgbClr val="162832"/>
                </a:solidFill>
                <a:latin typeface="Apple SD Gothic Neo"/>
                <a:ea typeface="Apple SD Gothic Neo"/>
                <a:cs typeface="Apple SD Gothic Neo"/>
              </a:rPr>
              <a:t>YOLO26은 end2end=false 경로입니다. 각 모델의 최적 기본 학습법 비교는 아닙니다.</a:t>
            </a:r>
          </a:p>
        </p:txBody>
      </p:sp>
      <p:sp>
        <p:nvSpPr>
          <p:cNvPr id="6" name="">
            <a:extLst xmlns:a="http://schemas.openxmlformats.org/drawingml/2006/main">
              <a:ext uri="{FF2B5EF4-FFF2-40B4-BE49-F238E27FC236}">
                <a16:creationId xmlns:a16="http://schemas.microsoft.com/office/drawing/2014/main" id="{E3281E1A-9028-43C8-8043-036FB71E50DB}"/>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21</a:t>
            </a:r>
          </a:p>
        </p:txBody>
      </p:sp>
    </p:spTree>
    <p:extLst>
      <p:ext uri="{BB962C8B-B14F-4D97-AF65-F5344CB8AC3E}">
        <p14:creationId xmlns:p14="http://schemas.microsoft.com/office/powerpoint/2010/main" val="209783056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62B5EB-563F-483A-B1A8-7D1A309DB092}"/>
              </a:ext>
            </a:extLst>
          </p:cNvPr>
          <p:cNvSpPr>
            <a:spLocks xmlns:a="http://schemas.openxmlformats.org/drawingml/2006/main" noGrp="1"/>
          </p:cNvSpPr>
          <p:nvPr/>
        </p:nvSpPr>
        <p:spPr>
          <a:xfrm xmlns:a="http://schemas.openxmlformats.org/drawingml/2006/main">
            <a:off x="609600" y="3619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075" b="1">
                <a:solidFill>
                  <a:srgbClr val="162832"/>
                </a:solidFill>
                <a:latin typeface="Apple SD Gothic Neo"/>
                <a:ea typeface="Apple SD Gothic Neo"/>
                <a:cs typeface="Apple SD Gothic Neo"/>
              </a:defRPr>
            </a:pPr>
            <a:r>
              <a:rPr sz="3075" b="1">
                <a:solidFill>
                  <a:srgbClr val="162832"/>
                </a:solidFill>
                <a:latin typeface="Apple SD Gothic Neo"/>
                <a:ea typeface="Apple SD Gothic Neo"/>
                <a:cs typeface="Apple SD Gothic Neo"/>
              </a:rPr>
              <a:t>추가 모델은 공통 오류로 비교했습니다</a:t>
            </a:r>
          </a:p>
        </p:txBody>
      </p:sp>
      <p:graphicFrame>
        <p:nvGraphicFramePr>
          <p:cNvPr id="10" name=""/>
          <p:cNvGraphicFramePr/>
          <p:nvPr/>
        </p:nvGraphicFramePr>
        <p:xfrm>
          <a:off xmlns:a="http://schemas.openxmlformats.org/drawingml/2006/main" x="609600" y="1381125"/>
          <a:ext xmlns:a="http://schemas.openxmlformats.org/drawingml/2006/main" cx="10972800" cy="2381250"/>
        </p:xfrm>
        <a:graphic xmlns:a="http://schemas.openxmlformats.org/drawingml/2006/main">
          <a:graphicData uri="http://schemas.openxmlformats.org/drawingml/2006/table">
            <a:tbl>
              <a:tblPr/>
              <a:tblGrid>
                <a:gridCol w="4286250"/>
                <a:gridCol w="3476625"/>
                <a:gridCol w="3209925"/>
              </a:tblGrid>
              <a:tr h="595313">
                <a:tc>
                  <a:txBody>
                    <a:bodyPr lIns="133350" tIns="76200" rIns="114300" bIns="76200"/>
                    <a:lstStyle/>
                    <a:p>
                      <a:r>
                        <a:rPr sz="1800" b="1">
                          <a:solidFill>
                            <a:srgbClr val="FFFFFF"/>
                          </a:solidFill>
                          <a:latin typeface="Apple SD Gothic Neo"/>
                          <a:ea typeface="Apple SD Gothic Neo"/>
                          <a:cs typeface="Apple SD Gothic Neo"/>
                        </a:rPr>
                        <a:t>YOLOv8n의 추가 모델</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두 모델의 공통 위치 FN</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추가 모델 자체 FP / FN</a:t>
                      </a:r>
                    </a:p>
                  </a:txBody>
                  <a:tcPr marL="91440" marR="91440" marT="45720" marB="45720" anchor="ctr">
                    <a:solidFill>
                      <a:srgbClr val="193C4D"/>
                    </a:solidFill>
                  </a:tcPr>
                </a:tc>
              </a:tr>
              <a:tr h="595313">
                <a:tc>
                  <a:txBody>
                    <a:bodyPr lIns="133350" tIns="76200" rIns="114300" bIns="76200"/>
                    <a:lstStyle/>
                    <a:p>
                      <a:r>
                        <a:rPr sz="1800" b="0">
                          <a:solidFill>
                            <a:srgbClr val="162832"/>
                          </a:solidFill>
                          <a:latin typeface="Apple SD Gothic Neo"/>
                          <a:ea typeface="Apple SD Gothic Neo"/>
                          <a:cs typeface="Apple SD Gothic Neo"/>
                        </a:rPr>
                        <a:t>Faster R-CNN</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2 / 2</a:t>
                      </a:r>
                    </a:p>
                  </a:txBody>
                  <a:tcPr marL="91440" marR="91440" marT="45720" marB="45720" anchor="ctr">
                    <a:solidFill>
                      <a:srgbClr val="FFFFFF"/>
                    </a:solidFill>
                  </a:tcPr>
                </a:tc>
              </a:tr>
              <a:tr h="595313">
                <a:tc>
                  <a:txBody>
                    <a:bodyPr lIns="133350" tIns="76200" rIns="114300" bIns="76200"/>
                    <a:lstStyle/>
                    <a:p>
                      <a:r>
                        <a:rPr sz="1800" b="0">
                          <a:solidFill>
                            <a:srgbClr val="162832"/>
                          </a:solidFill>
                          <a:latin typeface="Apple SD Gothic Neo"/>
                          <a:ea typeface="Apple SD Gothic Neo"/>
                          <a:cs typeface="Apple SD Gothic Neo"/>
                        </a:rPr>
                        <a:t>RF-DETR-S</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1</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2 / 2</a:t>
                      </a:r>
                    </a:p>
                  </a:txBody>
                  <a:tcPr marL="91440" marR="91440" marT="45720" marB="45720" anchor="ctr">
                    <a:solidFill>
                      <a:srgbClr val="F1F5F6"/>
                    </a:solidFill>
                  </a:tcPr>
                </a:tc>
              </a:tr>
              <a:tr h="595313">
                <a:tc>
                  <a:txBody>
                    <a:bodyPr lIns="133350" tIns="76200" rIns="114300" bIns="76200"/>
                    <a:lstStyle/>
                    <a:p>
                      <a:r>
                        <a:rPr sz="1800" b="0">
                          <a:solidFill>
                            <a:srgbClr val="162832"/>
                          </a:solidFill>
                          <a:latin typeface="Apple SD Gothic Neo"/>
                          <a:ea typeface="Apple SD Gothic Neo"/>
                          <a:cs typeface="Apple SD Gothic Neo"/>
                        </a:rPr>
                        <a:t>D-FINE-S</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4 / 4</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EA82B5B-0DA9-4F09-98EE-379EDF028BCF}"/>
              </a:ext>
            </a:extLst>
          </p:cNvPr>
          <p:cNvSpPr>
            <a:spLocks xmlns:a="http://schemas.openxmlformats.org/drawingml/2006/main" noGrp="1"/>
          </p:cNvSpPr>
          <p:nvPr/>
        </p:nvSpPr>
        <p:spPr>
          <a:xfrm xmlns:a="http://schemas.openxmlformats.org/drawingml/2006/main">
            <a:off x="609600" y="40576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개발 선택: YOLOv8n + RF-DETR-S 전체 사진 검사</a:t>
            </a:r>
          </a:p>
        </p:txBody>
      </p:sp>
      <p:sp>
        <p:nvSpPr>
          <p:cNvPr id="4" name="">
            <a:extLst xmlns:a="http://schemas.openxmlformats.org/drawingml/2006/main">
              <a:ext uri="{FF2B5EF4-FFF2-40B4-BE49-F238E27FC236}">
                <a16:creationId xmlns:a16="http://schemas.microsoft.com/office/drawing/2014/main" id="{965A9151-F7C1-48DB-B58D-A01EB72FD927}"/>
              </a:ext>
            </a:extLst>
          </p:cNvPr>
          <p:cNvSpPr>
            <a:spLocks xmlns:a="http://schemas.openxmlformats.org/drawingml/2006/main" noGrp="1"/>
          </p:cNvSpPr>
          <p:nvPr/>
        </p:nvSpPr>
        <p:spPr>
          <a:xfrm xmlns:a="http://schemas.openxmlformats.org/drawingml/2006/main">
            <a:off x="609600" y="48387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전체 사진 107장 × 3회: 평균 36.55ms, P95 44.49ms</a:t>
            </a:r>
          </a:p>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RF 단독 38.29ms, Faster 1396.65ms. 개별 성능과 속도를 함께 고려했습니다.</a:t>
            </a:r>
          </a:p>
        </p:txBody>
      </p:sp>
      <p:sp>
        <p:nvSpPr>
          <p:cNvPr id="5" name="">
            <a:extLst xmlns:a="http://schemas.openxmlformats.org/drawingml/2006/main">
              <a:ext uri="{FF2B5EF4-FFF2-40B4-BE49-F238E27FC236}">
                <a16:creationId xmlns:a16="http://schemas.microsoft.com/office/drawing/2014/main" id="{53190D22-737B-4CBF-8E42-E1899980BAA5}"/>
              </a:ext>
            </a:extLst>
          </p:cNvPr>
          <p:cNvSpPr>
            <a:spLocks xmlns:a="http://schemas.openxmlformats.org/drawingml/2006/main" noGrp="1"/>
          </p:cNvSpPr>
          <p:nvPr/>
        </p:nvSpPr>
        <p:spPr>
          <a:xfrm xmlns:a="http://schemas.openxmlformats.org/drawingml/2006/main">
            <a:off x="609600" y="5915025"/>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575" b="0">
                <a:solidFill>
                  <a:srgbClr val="162832"/>
                </a:solidFill>
                <a:latin typeface="Apple SD Gothic Neo"/>
                <a:ea typeface="Apple SD Gothic Neo"/>
                <a:cs typeface="Apple SD Gothic Neo"/>
              </a:defRPr>
            </a:pPr>
            <a:r>
              <a:rPr sz="1575" b="0">
                <a:solidFill>
                  <a:srgbClr val="162832"/>
                </a:solidFill>
                <a:latin typeface="Apple SD Gothic Neo"/>
                <a:ea typeface="Apple SD Gothic Neo"/>
                <a:cs typeface="Apple SD Gothic Neo"/>
              </a:rPr>
              <a:t>공통 FN은 정답으로 사후 계산한 위치 오류입니다. RF의 공통 FN 1개가 남았습니다.</a:t>
            </a:r>
          </a:p>
          <a:p xmlns:a="http://schemas.openxmlformats.org/drawingml/2006/main">
            <a:pPr>
              <a:buNone/>
              <a:defRPr sz="1575" b="0">
                <a:solidFill>
                  <a:srgbClr val="162832"/>
                </a:solidFill>
                <a:latin typeface="Apple SD Gothic Neo"/>
                <a:ea typeface="Apple SD Gothic Neo"/>
                <a:cs typeface="Apple SD Gothic Neo"/>
              </a:defRPr>
            </a:pPr>
            <a:r>
              <a:rPr sz="1575" b="0">
                <a:solidFill>
                  <a:srgbClr val="162832"/>
                </a:solidFill>
                <a:latin typeface="Apple SD Gothic Neo"/>
                <a:ea typeface="Apple SD Gothic Neo"/>
                <a:cs typeface="Apple SD Gothic Neo"/>
              </a:rPr>
              <a:t>단일 모델과 통합 실행은 측정 시점·범위가 다릅니다. 공장 성능은 미검증입니다.</a:t>
            </a:r>
          </a:p>
        </p:txBody>
      </p:sp>
      <p:sp>
        <p:nvSpPr>
          <p:cNvPr id="6" name="">
            <a:extLst xmlns:a="http://schemas.openxmlformats.org/drawingml/2006/main">
              <a:ext uri="{FF2B5EF4-FFF2-40B4-BE49-F238E27FC236}">
                <a16:creationId xmlns:a16="http://schemas.microsoft.com/office/drawing/2014/main" id="{B0E9DF68-ECBD-4F19-927D-DFA2F892D83A}"/>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22</a:t>
            </a:r>
          </a:p>
        </p:txBody>
      </p:sp>
    </p:spTree>
    <p:extLst>
      <p:ext uri="{BB962C8B-B14F-4D97-AF65-F5344CB8AC3E}">
        <p14:creationId xmlns:p14="http://schemas.microsoft.com/office/powerpoint/2010/main" val="887103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C7A5F2-02D3-4A01-AC38-A5C2054D30D3}"/>
              </a:ext>
            </a:extLst>
          </p:cNvPr>
          <p:cNvSpPr>
            <a:spLocks xmlns:a="http://schemas.openxmlformats.org/drawingml/2006/main" noGrp="1"/>
          </p:cNvSpPr>
          <p:nvPr/>
        </p:nvSpPr>
        <p:spPr>
          <a:xfrm xmlns:a="http://schemas.openxmlformats.org/drawingml/2006/main">
            <a:off x="609600" y="3619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62832"/>
                </a:solidFill>
                <a:latin typeface="Apple SD Gothic Neo"/>
                <a:ea typeface="Apple SD Gothic Neo"/>
                <a:cs typeface="Apple SD Gothic Neo"/>
              </a:defRPr>
            </a:pPr>
            <a:r>
              <a:rPr sz="3000" b="1">
                <a:solidFill>
                  <a:srgbClr val="162832"/>
                </a:solidFill>
                <a:latin typeface="Apple SD Gothic Neo"/>
                <a:ea typeface="Apple SD Gothic Neo"/>
                <a:cs typeface="Apple SD Gothic Neo"/>
              </a:rPr>
              <a:t>두 모델의 보완 오류와 공통 오류</a:t>
            </a:r>
          </a:p>
        </p:txBody>
      </p:sp>
      <p:graphicFrame>
        <p:nvGraphicFramePr>
          <p:cNvPr id="8" name=""/>
          <p:cNvGraphicFramePr/>
          <p:nvPr/>
        </p:nvGraphicFramePr>
        <p:xfrm>
          <a:off xmlns:a="http://schemas.openxmlformats.org/drawingml/2006/main" x="609600" y="1428750"/>
          <a:ext xmlns:a="http://schemas.openxmlformats.org/drawingml/2006/main" cx="10972800" cy="2000250"/>
        </p:xfrm>
        <a:graphic xmlns:a="http://schemas.openxmlformats.org/drawingml/2006/main">
          <a:graphicData uri="http://schemas.openxmlformats.org/drawingml/2006/table">
            <a:tbl>
              <a:tblPr/>
              <a:tblGrid>
                <a:gridCol w="1857375"/>
                <a:gridCol w="1209675"/>
                <a:gridCol w="1581150"/>
                <a:gridCol w="1581150"/>
                <a:gridCol w="1581150"/>
                <a:gridCol w="1581150"/>
                <a:gridCol w="1581150"/>
              </a:tblGrid>
              <a:tr h="666750">
                <a:tc>
                  <a:txBody>
                    <a:bodyPr lIns="114300" tIns="57150" rIns="95250" bIns="57150"/>
                    <a:lstStyle/>
                    <a:p>
                      <a:r>
                        <a:rPr sz="1650" b="1">
                          <a:solidFill>
                            <a:srgbClr val="FFFFFF"/>
                          </a:solidFill>
                          <a:latin typeface="Apple SD Gothic Neo"/>
                          <a:ea typeface="Apple SD Gothic Neo"/>
                          <a:cs typeface="Apple SD Gothic Neo"/>
                        </a:rPr>
                        <a:t>평가 자료</a:t>
                      </a:r>
                    </a:p>
                  </a:txBody>
                  <a:tcPr marL="91440" marR="91440" marT="45720" marB="45720" anchor="ctr">
                    <a:solidFill>
                      <a:srgbClr val="193C4D"/>
                    </a:solidFill>
                  </a:tcPr>
                </a:tc>
                <a:tc>
                  <a:txBody>
                    <a:bodyPr lIns="114300" tIns="57150" rIns="95250" bIns="57150"/>
                    <a:lstStyle/>
                    <a:p>
                      <a:r>
                        <a:rPr sz="1650" b="1">
                          <a:solidFill>
                            <a:srgbClr val="FFFFFF"/>
                          </a:solidFill>
                          <a:latin typeface="Apple SD Gothic Neo"/>
                          <a:ea typeface="Apple SD Gothic Neo"/>
                          <a:cs typeface="Apple SD Gothic Neo"/>
                        </a:rPr>
                        <a:t>이물</a:t>
                      </a:r>
                    </a:p>
                  </a:txBody>
                  <a:tcPr marL="91440" marR="91440" marT="45720" marB="45720" anchor="ctr">
                    <a:solidFill>
                      <a:srgbClr val="193C4D"/>
                    </a:solidFill>
                  </a:tcPr>
                </a:tc>
                <a:tc>
                  <a:txBody>
                    <a:bodyPr lIns="114300" tIns="57150" rIns="95250" bIns="57150"/>
                    <a:lstStyle/>
                    <a:p>
                      <a:r>
                        <a:rPr sz="1650" b="1">
                          <a:solidFill>
                            <a:srgbClr val="FFFFFF"/>
                          </a:solidFill>
                          <a:latin typeface="Apple SD Gothic Neo"/>
                          <a:ea typeface="Apple SD Gothic Neo"/>
                          <a:cs typeface="Apple SD Gothic Neo"/>
                        </a:rPr>
                        <a:t>YOLO FN</a:t>
                      </a:r>
                    </a:p>
                  </a:txBody>
                  <a:tcPr marL="91440" marR="91440" marT="45720" marB="45720" anchor="ctr">
                    <a:solidFill>
                      <a:srgbClr val="193C4D"/>
                    </a:solidFill>
                  </a:tcPr>
                </a:tc>
                <a:tc>
                  <a:txBody>
                    <a:bodyPr lIns="114300" tIns="57150" rIns="95250" bIns="57150"/>
                    <a:lstStyle/>
                    <a:p>
                      <a:r>
                        <a:rPr sz="1650" b="1">
                          <a:solidFill>
                            <a:srgbClr val="FFFFFF"/>
                          </a:solidFill>
                          <a:latin typeface="Apple SD Gothic Neo"/>
                          <a:ea typeface="Apple SD Gothic Neo"/>
                          <a:cs typeface="Apple SD Gothic Neo"/>
                        </a:rPr>
                        <a:t>RF FN</a:t>
                      </a:r>
                    </a:p>
                  </a:txBody>
                  <a:tcPr marL="91440" marR="91440" marT="45720" marB="45720" anchor="ctr">
                    <a:solidFill>
                      <a:srgbClr val="193C4D"/>
                    </a:solidFill>
                  </a:tcPr>
                </a:tc>
                <a:tc>
                  <a:txBody>
                    <a:bodyPr lIns="114300" tIns="57150" rIns="95250" bIns="57150"/>
                    <a:lstStyle/>
                    <a:p>
                      <a:r>
                        <a:rPr sz="1650" b="1">
                          <a:solidFill>
                            <a:srgbClr val="FFFFFF"/>
                          </a:solidFill>
                          <a:latin typeface="Apple SD Gothic Neo"/>
                          <a:ea typeface="Apple SD Gothic Neo"/>
                          <a:cs typeface="Apple SD Gothic Neo"/>
                        </a:rPr>
                        <a:t>RF가 보완</a:t>
                      </a:r>
                    </a:p>
                  </a:txBody>
                  <a:tcPr marL="91440" marR="91440" marT="45720" marB="45720" anchor="ctr">
                    <a:solidFill>
                      <a:srgbClr val="193C4D"/>
                    </a:solidFill>
                  </a:tcPr>
                </a:tc>
                <a:tc>
                  <a:txBody>
                    <a:bodyPr lIns="114300" tIns="57150" rIns="95250" bIns="57150"/>
                    <a:lstStyle/>
                    <a:p>
                      <a:r>
                        <a:rPr sz="1650" b="1">
                          <a:solidFill>
                            <a:srgbClr val="FFFFFF"/>
                          </a:solidFill>
                          <a:latin typeface="Apple SD Gothic Neo"/>
                          <a:ea typeface="Apple SD Gothic Neo"/>
                          <a:cs typeface="Apple SD Gothic Neo"/>
                        </a:rPr>
                        <a:t>YOLO가 보완</a:t>
                      </a:r>
                    </a:p>
                  </a:txBody>
                  <a:tcPr marL="91440" marR="91440" marT="45720" marB="45720" anchor="ctr">
                    <a:solidFill>
                      <a:srgbClr val="193C4D"/>
                    </a:solidFill>
                  </a:tcPr>
                </a:tc>
                <a:tc>
                  <a:txBody>
                    <a:bodyPr lIns="114300" tIns="57150" rIns="95250" bIns="57150"/>
                    <a:lstStyle/>
                    <a:p>
                      <a:r>
                        <a:rPr sz="1650" b="1">
                          <a:solidFill>
                            <a:srgbClr val="FFFFFF"/>
                          </a:solidFill>
                          <a:latin typeface="Apple SD Gothic Neo"/>
                          <a:ea typeface="Apple SD Gothic Neo"/>
                          <a:cs typeface="Apple SD Gothic Neo"/>
                        </a:rPr>
                        <a:t>공통 FN</a:t>
                      </a:r>
                    </a:p>
                  </a:txBody>
                  <a:tcPr marL="91440" marR="91440" marT="45720" marB="45720" anchor="ctr">
                    <a:solidFill>
                      <a:srgbClr val="193C4D"/>
                    </a:solidFill>
                  </a:tcPr>
                </a:tc>
              </a:tr>
              <a:tr h="666750">
                <a:tc>
                  <a:txBody>
                    <a:bodyPr lIns="114300" tIns="57150" rIns="95250" bIns="57150"/>
                    <a:lstStyle/>
                    <a:p>
                      <a:r>
                        <a:rPr sz="1650" b="0">
                          <a:solidFill>
                            <a:srgbClr val="162832"/>
                          </a:solidFill>
                          <a:latin typeface="Apple SD Gothic Neo"/>
                          <a:ea typeface="Apple SD Gothic Neo"/>
                          <a:cs typeface="Apple SD Gothic Neo"/>
                        </a:rPr>
                        <a:t>검증</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243</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3</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2</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2</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1</a:t>
                      </a:r>
                    </a:p>
                  </a:txBody>
                  <a:tcPr marL="91440" marR="91440" marT="45720" marB="45720" anchor="ctr">
                    <a:solidFill>
                      <a:srgbClr val="FFFFFF"/>
                    </a:solidFill>
                  </a:tcPr>
                </a:tc>
                <a:tc>
                  <a:txBody>
                    <a:bodyPr lIns="114300" tIns="57150" rIns="95250" bIns="57150"/>
                    <a:lstStyle/>
                    <a:p>
                      <a:r>
                        <a:rPr sz="1650" b="0">
                          <a:solidFill>
                            <a:srgbClr val="162832"/>
                          </a:solidFill>
                          <a:latin typeface="Apple SD Gothic Neo"/>
                          <a:ea typeface="Apple SD Gothic Neo"/>
                          <a:cs typeface="Apple SD Gothic Neo"/>
                        </a:rPr>
                        <a:t>1</a:t>
                      </a:r>
                    </a:p>
                  </a:txBody>
                  <a:tcPr marL="91440" marR="91440" marT="45720" marB="45720" anchor="ctr">
                    <a:solidFill>
                      <a:srgbClr val="FFFFFF"/>
                    </a:solidFill>
                  </a:tcPr>
                </a:tc>
              </a:tr>
              <a:tr h="666750">
                <a:tc>
                  <a:txBody>
                    <a:bodyPr lIns="114300" tIns="57150" rIns="95250" bIns="57150"/>
                    <a:lstStyle/>
                    <a:p>
                      <a:r>
                        <a:rPr sz="1650" b="0">
                          <a:solidFill>
                            <a:srgbClr val="162832"/>
                          </a:solidFill>
                          <a:latin typeface="Apple SD Gothic Neo"/>
                          <a:ea typeface="Apple SD Gothic Neo"/>
                          <a:cs typeface="Apple SD Gothic Neo"/>
                        </a:rPr>
                        <a:t>테스트</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225</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3</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5</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1</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3</a:t>
                      </a:r>
                    </a:p>
                  </a:txBody>
                  <a:tcPr marL="91440" marR="91440" marT="45720" marB="45720" anchor="ctr">
                    <a:solidFill>
                      <a:srgbClr val="F1F5F6"/>
                    </a:solidFill>
                  </a:tcPr>
                </a:tc>
                <a:tc>
                  <a:txBody>
                    <a:bodyPr lIns="114300" tIns="57150" rIns="95250" bIns="57150"/>
                    <a:lstStyle/>
                    <a:p>
                      <a:r>
                        <a:rPr sz="1650" b="0">
                          <a:solidFill>
                            <a:srgbClr val="162832"/>
                          </a:solidFill>
                          <a:latin typeface="Apple SD Gothic Neo"/>
                          <a:ea typeface="Apple SD Gothic Neo"/>
                          <a:cs typeface="Apple SD Gothic Neo"/>
                        </a:rPr>
                        <a:t>2</a:t>
                      </a:r>
                    </a:p>
                  </a:txBody>
                  <a:tcPr marL="91440" marR="91440" marT="45720" marB="45720" anchor="ctr">
                    <a:solidFill>
                      <a:srgbClr val="F1F5F6"/>
                    </a:solidFill>
                  </a:tcPr>
                </a:tc>
              </a:tr>
            </a:tbl>
          </a:graphicData>
        </a:graphic>
      </p:graphicFrame>
      <p:sp>
        <p:nvSpPr>
          <p:cNvPr id="3" name="">
            <a:extLst xmlns:a="http://schemas.openxmlformats.org/drawingml/2006/main">
              <a:ext uri="{FF2B5EF4-FFF2-40B4-BE49-F238E27FC236}">
                <a16:creationId xmlns:a16="http://schemas.microsoft.com/office/drawing/2014/main" id="{721C2209-700D-43D0-A84F-32A09065B497}"/>
              </a:ext>
            </a:extLst>
          </p:cNvPr>
          <p:cNvSpPr>
            <a:spLocks xmlns:a="http://schemas.openxmlformats.org/drawingml/2006/main" noGrp="1"/>
          </p:cNvSpPr>
          <p:nvPr/>
        </p:nvSpPr>
        <p:spPr>
          <a:xfrm xmlns:a="http://schemas.openxmlformats.org/drawingml/2006/main">
            <a:off x="609600" y="3800475"/>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검증에서 RF-DETR-S는 YOLO의 FN 3개 중 2개를 보완했습니다.</a:t>
            </a:r>
          </a:p>
          <a:p xmlns:a="http://schemas.openxmlformats.org/drawingml/2006/main">
            <a:pPr>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테스트에서는 1개를 보완했지만, 두 모델의 공통 FN 2개가 남았습니다.</a:t>
            </a:r>
          </a:p>
        </p:txBody>
      </p:sp>
      <p:sp>
        <p:nvSpPr>
          <p:cNvPr id="4" name="">
            <a:extLst xmlns:a="http://schemas.openxmlformats.org/drawingml/2006/main">
              <a:ext uri="{FF2B5EF4-FFF2-40B4-BE49-F238E27FC236}">
                <a16:creationId xmlns:a16="http://schemas.microsoft.com/office/drawing/2014/main" id="{A7D5087B-E3FC-4FD6-A240-E2FD1D08645B}"/>
              </a:ext>
            </a:extLst>
          </p:cNvPr>
          <p:cNvSpPr>
            <a:spLocks xmlns:a="http://schemas.openxmlformats.org/drawingml/2006/main" noGrp="1"/>
          </p:cNvSpPr>
          <p:nvPr/>
        </p:nvSpPr>
        <p:spPr>
          <a:xfrm xmlns:a="http://schemas.openxmlformats.org/drawingml/2006/main">
            <a:off x="609600" y="48768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두 번째 모델은 첫 결과와 관계없이 전체 사진을 봅니다.</a:t>
            </a:r>
          </a:p>
          <a:p xmlns:a="http://schemas.openxmlformats.org/drawingml/2006/main">
            <a:pPr>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같은 자료로 학습하므로 두 모델의 오류가 통계적으로 독립인 것은 아닙니다.</a:t>
            </a:r>
          </a:p>
        </p:txBody>
      </p:sp>
      <p:sp>
        <p:nvSpPr>
          <p:cNvPr id="5" name="">
            <a:extLst xmlns:a="http://schemas.openxmlformats.org/drawingml/2006/main">
              <a:ext uri="{FF2B5EF4-FFF2-40B4-BE49-F238E27FC236}">
                <a16:creationId xmlns:a16="http://schemas.microsoft.com/office/drawing/2014/main" id="{880E090D-85AF-4EC8-80C4-4CC3B323AE5F}"/>
              </a:ext>
            </a:extLst>
          </p:cNvPr>
          <p:cNvSpPr>
            <a:spLocks xmlns:a="http://schemas.openxmlformats.org/drawingml/2006/main" noGrp="1"/>
          </p:cNvSpPr>
          <p:nvPr/>
        </p:nvSpPr>
        <p:spPr>
          <a:xfrm xmlns:a="http://schemas.openxmlformats.org/drawingml/2006/main">
            <a:off x="609600" y="60198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162832"/>
                </a:solidFill>
                <a:latin typeface="Apple SD Gothic Neo"/>
                <a:ea typeface="Apple SD Gothic Neo"/>
                <a:cs typeface="Apple SD Gothic Neo"/>
              </a:defRPr>
            </a:pPr>
            <a:r>
              <a:rPr sz="1575" b="0">
                <a:solidFill>
                  <a:srgbClr val="162832"/>
                </a:solidFill>
                <a:latin typeface="Apple SD Gothic Neo"/>
                <a:ea typeface="Apple SD Gothic Neo"/>
                <a:cs typeface="Apple SD Gothic Neo"/>
              </a:rPr>
              <a:t>정답을 보고 계산한 IoU 0.5 사후 진단입니다. 결합 시스템의 F1이나 실제 출하 미탐률이 아닙니다.</a:t>
            </a:r>
          </a:p>
        </p:txBody>
      </p:sp>
      <p:sp>
        <p:nvSpPr>
          <p:cNvPr id="6" name="">
            <a:extLst xmlns:a="http://schemas.openxmlformats.org/drawingml/2006/main">
              <a:ext uri="{FF2B5EF4-FFF2-40B4-BE49-F238E27FC236}">
                <a16:creationId xmlns:a16="http://schemas.microsoft.com/office/drawing/2014/main" id="{B21EE39C-68DC-4F9F-999C-1751DF8D253B}"/>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23</a:t>
            </a:r>
          </a:p>
        </p:txBody>
      </p:sp>
    </p:spTree>
    <p:extLst>
      <p:ext uri="{BB962C8B-B14F-4D97-AF65-F5344CB8AC3E}">
        <p14:creationId xmlns:p14="http://schemas.microsoft.com/office/powerpoint/2010/main" val="181249212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47DC64F-CC07-47A5-81D4-439F09C2D5FE}"/>
              </a:ext>
            </a:extLst>
          </p:cNvPr>
          <p:cNvSpPr>
            <a:spLocks xmlns:a="http://schemas.openxmlformats.org/drawingml/2006/main" noGrp="1"/>
          </p:cNvSpPr>
          <p:nvPr/>
        </p:nvSpPr>
        <p:spPr>
          <a:xfrm xmlns:a="http://schemas.openxmlformats.org/drawingml/2006/main">
            <a:off x="609600" y="3619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000" b="1">
                <a:solidFill>
                  <a:srgbClr val="162832"/>
                </a:solidFill>
                <a:latin typeface="Apple SD Gothic Neo"/>
                <a:ea typeface="Apple SD Gothic Neo"/>
                <a:cs typeface="Apple SD Gothic Neo"/>
              </a:defRPr>
            </a:pPr>
            <a:r>
              <a:rPr sz="3000" b="1">
                <a:solidFill>
                  <a:srgbClr val="162832"/>
                </a:solidFill>
                <a:latin typeface="Apple SD Gothic Neo"/>
                <a:ea typeface="Apple SD Gothic Neo"/>
                <a:cs typeface="Apple SD Gothic Neo"/>
              </a:rPr>
              <a:t>같은 전체 사진을 두 모델이 각각 검사합니다</a:t>
            </a:r>
          </a:p>
        </p:txBody>
      </p:sp>
      <p:sp>
        <p:nvSpPr>
          <p:cNvPr id="2" name="">
            <a:extLst xmlns:a="http://schemas.openxmlformats.org/drawingml/2006/main">
              <a:ext uri="{FF2B5EF4-FFF2-40B4-BE49-F238E27FC236}">
                <a16:creationId xmlns:a16="http://schemas.microsoft.com/office/drawing/2014/main" id="{CAF0025D-0744-4663-BB45-E3C327A11D1A}"/>
              </a:ext>
            </a:extLst>
          </p:cNvPr>
          <p:cNvSpPr>
            <a:spLocks xmlns:a="http://schemas.openxmlformats.org/drawingml/2006/main" noGrp="1"/>
          </p:cNvSpPr>
          <p:nvPr/>
        </p:nvSpPr>
        <p:spPr>
          <a:xfrm xmlns:a="http://schemas.openxmlformats.org/drawingml/2006/main">
            <a:off x="3238500" y="1323975"/>
            <a:ext cx="5715000" cy="533400"/>
          </a:xfrm>
          <a:prstGeom xmlns:a="http://schemas.openxmlformats.org/drawingml/2006/main" prst="rect">
            <a:avLst/>
          </a:prstGeom>
          <a:solidFill xmlns:a="http://schemas.openxmlformats.org/drawingml/2006/main">
            <a:srgbClr val="EDF3F6"/>
          </a:solidFill>
          <a:ln xmlns:a="http://schemas.openxmlformats.org/drawingml/2006/main" w="9525">
            <a:solidFill>
              <a:srgbClr val="91A4AE"/>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950">
                <a:solidFill>
                  <a:srgbClr val="162832"/>
                </a:solidFill>
                <a:latin typeface="Apple SD Gothic Neo"/>
                <a:ea typeface="Apple SD Gothic Neo"/>
                <a:cs typeface="Apple SD Gothic Neo"/>
              </a:defRPr>
            </a:pPr>
            <a:r>
              <a:rPr sz="1950">
                <a:solidFill>
                  <a:srgbClr val="162832"/>
                </a:solidFill>
                <a:latin typeface="Apple SD Gothic Neo"/>
                <a:ea typeface="Apple SD Gothic Neo"/>
                <a:cs typeface="Apple SD Gothic Neo"/>
              </a:rPr>
              <a:t>입력 | 색 네모를 제거한 전체 사진</a:t>
            </a:r>
          </a:p>
        </p:txBody>
      </p:sp>
      <p:sp>
        <p:nvSpPr>
          <p:cNvPr id="3" name="">
            <a:extLst xmlns:a="http://schemas.openxmlformats.org/drawingml/2006/main">
              <a:ext uri="{FF2B5EF4-FFF2-40B4-BE49-F238E27FC236}">
                <a16:creationId xmlns:a16="http://schemas.microsoft.com/office/drawing/2014/main" id="{81A44C7E-0AFE-4580-96FD-8F881A5A6F30}"/>
              </a:ext>
            </a:extLst>
          </p:cNvPr>
          <p:cNvSpPr>
            <a:spLocks xmlns:a="http://schemas.openxmlformats.org/drawingml/2006/main" noGrp="1"/>
          </p:cNvSpPr>
          <p:nvPr/>
        </p:nvSpPr>
        <p:spPr>
          <a:xfrm xmlns:a="http://schemas.openxmlformats.org/drawingml/2006/main">
            <a:off x="952500" y="2362200"/>
            <a:ext cx="4476750" cy="828675"/>
          </a:xfrm>
          <a:prstGeom xmlns:a="http://schemas.openxmlformats.org/drawingml/2006/main" prst="rect">
            <a:avLst/>
          </a:prstGeom>
          <a:solidFill xmlns:a="http://schemas.openxmlformats.org/drawingml/2006/main">
            <a:srgbClr val="EDF3F6"/>
          </a:solidFill>
          <a:ln xmlns:a="http://schemas.openxmlformats.org/drawingml/2006/main" w="9525">
            <a:solidFill>
              <a:srgbClr val="91A4AE"/>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950">
                <a:solidFill>
                  <a:srgbClr val="162832"/>
                </a:solidFill>
                <a:latin typeface="Apple SD Gothic Neo"/>
                <a:ea typeface="Apple SD Gothic Neo"/>
                <a:cs typeface="Apple SD Gothic Neo"/>
              </a:defRPr>
            </a:pPr>
            <a:r>
              <a:rPr sz="1950">
                <a:solidFill>
                  <a:srgbClr val="162832"/>
                </a:solidFill>
                <a:latin typeface="Apple SD Gothic Neo"/>
                <a:ea typeface="Apple SD Gothic Neo"/>
                <a:cs typeface="Apple SD Gothic Neo"/>
              </a:rPr>
              <a:t>모델 | YOLOv8n</a:t>
            </a:r>
          </a:p>
          <a:p xmlns:a="http://schemas.openxmlformats.org/drawingml/2006/main">
            <a:pPr algn="ctr">
              <a:buNone/>
              <a:defRPr sz="1950">
                <a:solidFill>
                  <a:srgbClr val="162832"/>
                </a:solidFill>
                <a:latin typeface="Apple SD Gothic Neo"/>
                <a:ea typeface="Apple SD Gothic Neo"/>
                <a:cs typeface="Apple SD Gothic Neo"/>
              </a:defRPr>
            </a:pPr>
            <a:r>
              <a:rPr sz="1950">
                <a:solidFill>
                  <a:srgbClr val="162832"/>
                </a:solidFill>
                <a:latin typeface="Apple SD Gothic Neo"/>
                <a:ea typeface="Apple SD Gothic Neo"/>
                <a:cs typeface="Apple SD Gothic Neo"/>
              </a:rPr>
              <a:t>사진 전체 검사</a:t>
            </a:r>
          </a:p>
        </p:txBody>
      </p:sp>
      <p:sp>
        <p:nvSpPr>
          <p:cNvPr id="4" name="">
            <a:extLst xmlns:a="http://schemas.openxmlformats.org/drawingml/2006/main">
              <a:ext uri="{FF2B5EF4-FFF2-40B4-BE49-F238E27FC236}">
                <a16:creationId xmlns:a16="http://schemas.microsoft.com/office/drawing/2014/main" id="{6455D513-BB09-42CB-AF37-676AD0F0C493}"/>
              </a:ext>
            </a:extLst>
          </p:cNvPr>
          <p:cNvSpPr>
            <a:spLocks xmlns:a="http://schemas.openxmlformats.org/drawingml/2006/main" noGrp="1"/>
          </p:cNvSpPr>
          <p:nvPr/>
        </p:nvSpPr>
        <p:spPr>
          <a:xfrm xmlns:a="http://schemas.openxmlformats.org/drawingml/2006/main">
            <a:off x="6762750" y="2362200"/>
            <a:ext cx="4476750" cy="828675"/>
          </a:xfrm>
          <a:prstGeom xmlns:a="http://schemas.openxmlformats.org/drawingml/2006/main" prst="rect">
            <a:avLst/>
          </a:prstGeom>
          <a:solidFill xmlns:a="http://schemas.openxmlformats.org/drawingml/2006/main">
            <a:srgbClr val="EDF3F6"/>
          </a:solidFill>
          <a:ln xmlns:a="http://schemas.openxmlformats.org/drawingml/2006/main" w="9525">
            <a:solidFill>
              <a:srgbClr val="91A4AE"/>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950">
                <a:solidFill>
                  <a:srgbClr val="162832"/>
                </a:solidFill>
                <a:latin typeface="Apple SD Gothic Neo"/>
                <a:ea typeface="Apple SD Gothic Neo"/>
                <a:cs typeface="Apple SD Gothic Neo"/>
              </a:defRPr>
            </a:pPr>
            <a:r>
              <a:rPr sz="1950">
                <a:solidFill>
                  <a:srgbClr val="162832"/>
                </a:solidFill>
                <a:latin typeface="Apple SD Gothic Neo"/>
                <a:ea typeface="Apple SD Gothic Neo"/>
                <a:cs typeface="Apple SD Gothic Neo"/>
              </a:rPr>
              <a:t>모델 | RF-DETR-S</a:t>
            </a:r>
          </a:p>
          <a:p xmlns:a="http://schemas.openxmlformats.org/drawingml/2006/main">
            <a:pPr algn="ctr">
              <a:buNone/>
              <a:defRPr sz="1950">
                <a:solidFill>
                  <a:srgbClr val="162832"/>
                </a:solidFill>
                <a:latin typeface="Apple SD Gothic Neo"/>
                <a:ea typeface="Apple SD Gothic Neo"/>
                <a:cs typeface="Apple SD Gothic Neo"/>
              </a:defRPr>
            </a:pPr>
            <a:r>
              <a:rPr sz="1950">
                <a:solidFill>
                  <a:srgbClr val="162832"/>
                </a:solidFill>
                <a:latin typeface="Apple SD Gothic Neo"/>
                <a:ea typeface="Apple SD Gothic Neo"/>
                <a:cs typeface="Apple SD Gothic Neo"/>
              </a:rPr>
              <a:t>사진 전체 검사</a:t>
            </a:r>
          </a:p>
        </p:txBody>
      </p:sp>
      <p:cxnSp>
        <p:nvCxnSpPr>
          <p:cNvPr id="33" name=""/>
          <p:cNvCxnSpPr>
            <a:stCxn xmlns:a="http://schemas.openxmlformats.org/drawingml/2006/main" id="2" idx="2"/>
            <a:endCxn xmlns:a="http://schemas.openxmlformats.org/drawingml/2006/main" id="3" idx="0"/>
          </p:cNvCxnSpPr>
          <p:nvPr/>
        </p:nvCxnSpPr>
        <p:spPr>
          <a:xfrm xmlns:a="http://schemas.openxmlformats.org/drawingml/2006/main" flipH="1">
            <a:off x="3190875" y="1857375"/>
            <a:ext cx="2905125" cy="504825"/>
          </a:xfrm>
          <a:prstGeom xmlns:a="http://schemas.openxmlformats.org/drawingml/2006/main" prst="bentConnector4">
            <a:avLst>
              <a:gd name="adj1" fmla="val 0"/>
              <a:gd name="adj2" fmla="val 50000"/>
            </a:avLst>
          </a:prstGeom>
          <a:ln xmlns:a="http://schemas.openxmlformats.org/drawingml/2006/main" w="19050">
            <a:solidFill>
              <a:srgbClr val="5D7987"/>
            </a:solidFill>
            <a:tailEnd type="arrow" w="med" len="med"/>
          </a:ln>
        </p:spPr>
      </p:cxnSp>
      <p:cxnSp>
        <p:nvCxnSpPr>
          <p:cNvPr id="34" name=""/>
          <p:cNvCxnSpPr>
            <a:stCxn xmlns:a="http://schemas.openxmlformats.org/drawingml/2006/main" id="2" idx="2"/>
            <a:endCxn xmlns:a="http://schemas.openxmlformats.org/drawingml/2006/main" id="4" idx="0"/>
          </p:cNvCxnSpPr>
          <p:nvPr/>
        </p:nvCxnSpPr>
        <p:spPr>
          <a:xfrm xmlns:a="http://schemas.openxmlformats.org/drawingml/2006/main">
            <a:off x="6096000" y="1857375"/>
            <a:ext cx="2905125" cy="504825"/>
          </a:xfrm>
          <a:prstGeom xmlns:a="http://schemas.openxmlformats.org/drawingml/2006/main" prst="bentConnector4">
            <a:avLst>
              <a:gd name="adj1" fmla="val 0"/>
              <a:gd name="adj2" fmla="val 50000"/>
            </a:avLst>
          </a:prstGeom>
          <a:ln xmlns:a="http://schemas.openxmlformats.org/drawingml/2006/main" w="19050">
            <a:solidFill>
              <a:srgbClr val="5D7987"/>
            </a:solidFill>
            <a:tailEnd type="arrow" w="med" len="med"/>
          </a:ln>
        </p:spPr>
      </p:cxnSp>
      <p:sp>
        <p:nvSpPr>
          <p:cNvPr id="7" name="">
            <a:extLst xmlns:a="http://schemas.openxmlformats.org/drawingml/2006/main">
              <a:ext uri="{FF2B5EF4-FFF2-40B4-BE49-F238E27FC236}">
                <a16:creationId xmlns:a16="http://schemas.microsoft.com/office/drawing/2014/main" id="{9EB1D143-463E-483D-A487-C363D1E1ED7B}"/>
              </a:ext>
            </a:extLst>
          </p:cNvPr>
          <p:cNvSpPr>
            <a:spLocks xmlns:a="http://schemas.openxmlformats.org/drawingml/2006/main" noGrp="1"/>
          </p:cNvSpPr>
          <p:nvPr/>
        </p:nvSpPr>
        <p:spPr>
          <a:xfrm xmlns:a="http://schemas.openxmlformats.org/drawingml/2006/main">
            <a:off x="3238500" y="3705225"/>
            <a:ext cx="5715000" cy="590550"/>
          </a:xfrm>
          <a:prstGeom xmlns:a="http://schemas.openxmlformats.org/drawingml/2006/main" prst="rect">
            <a:avLst/>
          </a:prstGeom>
          <a:solidFill xmlns:a="http://schemas.openxmlformats.org/drawingml/2006/main">
            <a:srgbClr val="EDF3F6"/>
          </a:solidFill>
          <a:ln xmlns:a="http://schemas.openxmlformats.org/drawingml/2006/main" w="9525">
            <a:solidFill>
              <a:srgbClr val="91A4AE"/>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950">
                <a:solidFill>
                  <a:srgbClr val="162832"/>
                </a:solidFill>
                <a:latin typeface="Apple SD Gothic Neo"/>
                <a:ea typeface="Apple SD Gothic Neo"/>
                <a:cs typeface="Apple SD Gothic Neo"/>
              </a:defRPr>
            </a:pPr>
            <a:r>
              <a:rPr sz="1950">
                <a:solidFill>
                  <a:srgbClr val="162832"/>
                </a:solidFill>
                <a:latin typeface="Apple SD Gothic Neo"/>
                <a:ea typeface="Apple SD Gothic Neo"/>
                <a:cs typeface="Apple SD Gothic Neo"/>
              </a:rPr>
              <a:t>프로그램 | 두 예측과 경고 보존</a:t>
            </a:r>
          </a:p>
        </p:txBody>
      </p:sp>
      <p:cxnSp>
        <p:nvCxnSpPr>
          <p:cNvPr id="36" name=""/>
          <p:cNvCxnSpPr>
            <a:stCxn xmlns:a="http://schemas.openxmlformats.org/drawingml/2006/main" id="3" idx="2"/>
            <a:endCxn xmlns:a="http://schemas.openxmlformats.org/drawingml/2006/main" id="7" idx="0"/>
          </p:cNvCxnSpPr>
          <p:nvPr/>
        </p:nvCxnSpPr>
        <p:spPr>
          <a:xfrm xmlns:a="http://schemas.openxmlformats.org/drawingml/2006/main">
            <a:off x="3190875" y="3190875"/>
            <a:ext cx="2905125" cy="514350"/>
          </a:xfrm>
          <a:prstGeom xmlns:a="http://schemas.openxmlformats.org/drawingml/2006/main" prst="bentConnector4">
            <a:avLst>
              <a:gd name="adj1" fmla="val 0"/>
              <a:gd name="adj2" fmla="val 50000"/>
            </a:avLst>
          </a:prstGeom>
          <a:ln xmlns:a="http://schemas.openxmlformats.org/drawingml/2006/main" w="19050">
            <a:solidFill>
              <a:srgbClr val="5D7987"/>
            </a:solidFill>
            <a:tailEnd type="arrow" w="med" len="med"/>
          </a:ln>
        </p:spPr>
      </p:cxnSp>
      <p:cxnSp>
        <p:nvCxnSpPr>
          <p:cNvPr id="37" name=""/>
          <p:cNvCxnSpPr>
            <a:stCxn xmlns:a="http://schemas.openxmlformats.org/drawingml/2006/main" id="4" idx="2"/>
            <a:endCxn xmlns:a="http://schemas.openxmlformats.org/drawingml/2006/main" id="7" idx="0"/>
          </p:cNvCxnSpPr>
          <p:nvPr/>
        </p:nvCxnSpPr>
        <p:spPr>
          <a:xfrm xmlns:a="http://schemas.openxmlformats.org/drawingml/2006/main" flipH="1">
            <a:off x="6096000" y="3190875"/>
            <a:ext cx="2905125" cy="514350"/>
          </a:xfrm>
          <a:prstGeom xmlns:a="http://schemas.openxmlformats.org/drawingml/2006/main" prst="bentConnector4">
            <a:avLst>
              <a:gd name="adj1" fmla="val 0"/>
              <a:gd name="adj2" fmla="val 50000"/>
            </a:avLst>
          </a:prstGeom>
          <a:ln xmlns:a="http://schemas.openxmlformats.org/drawingml/2006/main" w="19050">
            <a:solidFill>
              <a:srgbClr val="5D7987"/>
            </a:solidFill>
            <a:tailEnd type="arrow" w="med" len="med"/>
          </a:ln>
        </p:spPr>
      </p:cxnSp>
      <p:sp>
        <p:nvSpPr>
          <p:cNvPr id="10" name="">
            <a:extLst xmlns:a="http://schemas.openxmlformats.org/drawingml/2006/main">
              <a:ext uri="{FF2B5EF4-FFF2-40B4-BE49-F238E27FC236}">
                <a16:creationId xmlns:a16="http://schemas.microsoft.com/office/drawing/2014/main" id="{5C0FD06E-DC84-4F82-9E63-DE700436AB86}"/>
              </a:ext>
            </a:extLst>
          </p:cNvPr>
          <p:cNvSpPr>
            <a:spLocks xmlns:a="http://schemas.openxmlformats.org/drawingml/2006/main" noGrp="1"/>
          </p:cNvSpPr>
          <p:nvPr/>
        </p:nvSpPr>
        <p:spPr>
          <a:xfrm xmlns:a="http://schemas.openxmlformats.org/drawingml/2006/main">
            <a:off x="952500" y="4914900"/>
            <a:ext cx="4476750" cy="847725"/>
          </a:xfrm>
          <a:prstGeom xmlns:a="http://schemas.openxmlformats.org/drawingml/2006/main" prst="rect">
            <a:avLst/>
          </a:prstGeom>
          <a:solidFill xmlns:a="http://schemas.openxmlformats.org/drawingml/2006/main">
            <a:srgbClr val="FFF2E1"/>
          </a:solidFill>
          <a:ln xmlns:a="http://schemas.openxmlformats.org/drawingml/2006/main" w="9525">
            <a:solidFill>
              <a:srgbClr val="91A4AE"/>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a:solidFill>
                  <a:srgbClr val="162832"/>
                </a:solidFill>
                <a:latin typeface="Apple SD Gothic Neo"/>
                <a:ea typeface="Apple SD Gothic Neo"/>
                <a:cs typeface="Apple SD Gothic Neo"/>
              </a:defRPr>
            </a:pPr>
            <a:r>
              <a:rPr sz="1875">
                <a:solidFill>
                  <a:srgbClr val="162832"/>
                </a:solidFill>
                <a:latin typeface="Apple SD Gothic Neo"/>
                <a:ea typeface="Apple SD Gothic Neo"/>
                <a:cs typeface="Apple SD Gothic Neo"/>
              </a:rPr>
              <a:t>후보·불일치·검사 오류</a:t>
            </a:r>
          </a:p>
          <a:p xmlns:a="http://schemas.openxmlformats.org/drawingml/2006/main">
            <a:pPr algn="ctr">
              <a:buNone/>
              <a:defRPr sz="1875">
                <a:solidFill>
                  <a:srgbClr val="162832"/>
                </a:solidFill>
                <a:latin typeface="Apple SD Gothic Neo"/>
                <a:ea typeface="Apple SD Gothic Neo"/>
                <a:cs typeface="Apple SD Gothic Neo"/>
              </a:defRPr>
            </a:pPr>
            <a:r>
              <a:rPr sz="1875">
                <a:solidFill>
                  <a:srgbClr val="162832"/>
                </a:solidFill>
                <a:latin typeface="Apple SD Gothic Neo"/>
                <a:ea typeface="Apple SD Gothic Neo"/>
                <a:cs typeface="Apple SD Gothic Neo"/>
              </a:rPr>
              <a:t>제품 보류 → 담당자 확인</a:t>
            </a:r>
          </a:p>
        </p:txBody>
      </p:sp>
      <p:sp>
        <p:nvSpPr>
          <p:cNvPr id="11" name="">
            <a:extLst xmlns:a="http://schemas.openxmlformats.org/drawingml/2006/main">
              <a:ext uri="{FF2B5EF4-FFF2-40B4-BE49-F238E27FC236}">
                <a16:creationId xmlns:a16="http://schemas.microsoft.com/office/drawing/2014/main" id="{2D61BD23-5106-4C7C-8FF6-95A18BB113C7}"/>
              </a:ext>
            </a:extLst>
          </p:cNvPr>
          <p:cNvSpPr>
            <a:spLocks xmlns:a="http://schemas.openxmlformats.org/drawingml/2006/main" noGrp="1"/>
          </p:cNvSpPr>
          <p:nvPr/>
        </p:nvSpPr>
        <p:spPr>
          <a:xfrm xmlns:a="http://schemas.openxmlformats.org/drawingml/2006/main">
            <a:off x="6762750" y="4914900"/>
            <a:ext cx="4476750" cy="847725"/>
          </a:xfrm>
          <a:prstGeom xmlns:a="http://schemas.openxmlformats.org/drawingml/2006/main" prst="rect">
            <a:avLst/>
          </a:prstGeom>
          <a:solidFill xmlns:a="http://schemas.openxmlformats.org/drawingml/2006/main">
            <a:srgbClr val="F2F3F4"/>
          </a:solidFill>
          <a:ln xmlns:a="http://schemas.openxmlformats.org/drawingml/2006/main" w="9525">
            <a:solidFill>
              <a:srgbClr val="91A4AE"/>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a:solidFill>
                  <a:srgbClr val="162832"/>
                </a:solidFill>
                <a:latin typeface="Apple SD Gothic Neo"/>
                <a:ea typeface="Apple SD Gothic Neo"/>
                <a:cs typeface="Apple SD Gothic Neo"/>
              </a:defRPr>
            </a:pPr>
            <a:r>
              <a:rPr sz="1875">
                <a:solidFill>
                  <a:srgbClr val="162832"/>
                </a:solidFill>
                <a:latin typeface="Apple SD Gothic Neo"/>
                <a:ea typeface="Apple SD Gothic Neo"/>
                <a:cs typeface="Apple SD Gothic Neo"/>
              </a:rPr>
              <a:t>두 모델 모두 무후보</a:t>
            </a:r>
          </a:p>
          <a:p xmlns:a="http://schemas.openxmlformats.org/drawingml/2006/main">
            <a:pPr algn="ctr">
              <a:buNone/>
              <a:defRPr sz="1875">
                <a:solidFill>
                  <a:srgbClr val="162832"/>
                </a:solidFill>
                <a:latin typeface="Apple SD Gothic Neo"/>
                <a:ea typeface="Apple SD Gothic Neo"/>
                <a:cs typeface="Apple SD Gothic Neo"/>
              </a:defRPr>
            </a:pPr>
            <a:r>
              <a:rPr sz="1875">
                <a:solidFill>
                  <a:srgbClr val="162832"/>
                </a:solidFill>
                <a:latin typeface="Apple SD Gothic Neo"/>
                <a:ea typeface="Apple SD Gothic Neo"/>
                <a:cs typeface="Apple SD Gothic Neo"/>
              </a:rPr>
              <a:t>기존 검사 유지 · AI 자동 통과 없음</a:t>
            </a:r>
          </a:p>
        </p:txBody>
      </p:sp>
      <p:cxnSp>
        <p:nvCxnSpPr>
          <p:cNvPr id="40" name=""/>
          <p:cNvCxnSpPr>
            <a:stCxn xmlns:a="http://schemas.openxmlformats.org/drawingml/2006/main" id="7" idx="2"/>
            <a:endCxn xmlns:a="http://schemas.openxmlformats.org/drawingml/2006/main" id="10" idx="0"/>
          </p:cNvCxnSpPr>
          <p:nvPr/>
        </p:nvCxnSpPr>
        <p:spPr>
          <a:xfrm xmlns:a="http://schemas.openxmlformats.org/drawingml/2006/main" flipH="1">
            <a:off x="3190875" y="4295775"/>
            <a:ext cx="2905125" cy="619125"/>
          </a:xfrm>
          <a:prstGeom xmlns:a="http://schemas.openxmlformats.org/drawingml/2006/main" prst="bentConnector4">
            <a:avLst>
              <a:gd name="adj1" fmla="val 0"/>
              <a:gd name="adj2" fmla="val 50000"/>
            </a:avLst>
          </a:prstGeom>
          <a:ln xmlns:a="http://schemas.openxmlformats.org/drawingml/2006/main" w="19050">
            <a:solidFill>
              <a:srgbClr val="5D7987"/>
            </a:solidFill>
            <a:tailEnd type="arrow" w="med" len="med"/>
          </a:ln>
        </p:spPr>
      </p:cxnSp>
      <p:cxnSp>
        <p:nvCxnSpPr>
          <p:cNvPr id="41" name=""/>
          <p:cNvCxnSpPr>
            <a:stCxn xmlns:a="http://schemas.openxmlformats.org/drawingml/2006/main" id="7" idx="2"/>
            <a:endCxn xmlns:a="http://schemas.openxmlformats.org/drawingml/2006/main" id="11" idx="0"/>
          </p:cNvCxnSpPr>
          <p:nvPr/>
        </p:nvCxnSpPr>
        <p:spPr>
          <a:xfrm xmlns:a="http://schemas.openxmlformats.org/drawingml/2006/main">
            <a:off x="6096000" y="4295775"/>
            <a:ext cx="2905125" cy="619125"/>
          </a:xfrm>
          <a:prstGeom xmlns:a="http://schemas.openxmlformats.org/drawingml/2006/main" prst="bentConnector4">
            <a:avLst>
              <a:gd name="adj1" fmla="val 0"/>
              <a:gd name="adj2" fmla="val 50000"/>
            </a:avLst>
          </a:prstGeom>
          <a:ln xmlns:a="http://schemas.openxmlformats.org/drawingml/2006/main" w="19050">
            <a:solidFill>
              <a:srgbClr val="5D7987"/>
            </a:solidFill>
            <a:tailEnd type="arrow" w="med" len="med"/>
          </a:ln>
        </p:spPr>
      </p:cxnSp>
      <p:sp>
        <p:nvSpPr>
          <p:cNvPr id="14" name="">
            <a:extLst xmlns:a="http://schemas.openxmlformats.org/drawingml/2006/main">
              <a:ext uri="{FF2B5EF4-FFF2-40B4-BE49-F238E27FC236}">
                <a16:creationId xmlns:a16="http://schemas.microsoft.com/office/drawing/2014/main" id="{E48E715D-E84F-4D7C-8841-4137E57C49FF}"/>
              </a:ext>
            </a:extLst>
          </p:cNvPr>
          <p:cNvSpPr>
            <a:spLocks xmlns:a="http://schemas.openxmlformats.org/drawingml/2006/main" noGrp="1"/>
          </p:cNvSpPr>
          <p:nvPr/>
        </p:nvSpPr>
        <p:spPr>
          <a:xfrm xmlns:a="http://schemas.openxmlformats.org/drawingml/2006/main">
            <a:off x="609600" y="60674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담당자는 원래 사진과 두 모델 표시를 확인합니다. 불확실하면 보류 후 재촬영·별도 검사합니다.</a:t>
            </a:r>
          </a:p>
        </p:txBody>
      </p:sp>
      <p:sp>
        <p:nvSpPr>
          <p:cNvPr id="15" name="">
            <a:extLst xmlns:a="http://schemas.openxmlformats.org/drawingml/2006/main">
              <a:ext uri="{FF2B5EF4-FFF2-40B4-BE49-F238E27FC236}">
                <a16:creationId xmlns:a16="http://schemas.microsoft.com/office/drawing/2014/main" id="{03001831-DBC8-4273-B23A-920948F6650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24</a:t>
            </a:r>
          </a:p>
        </p:txBody>
      </p:sp>
    </p:spTree>
    <p:extLst>
      <p:ext uri="{BB962C8B-B14F-4D97-AF65-F5344CB8AC3E}">
        <p14:creationId xmlns:p14="http://schemas.microsoft.com/office/powerpoint/2010/main" val="166772052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6383D5-B6B7-44B6-B185-93FF47A925E0}"/>
              </a:ext>
            </a:extLst>
          </p:cNvPr>
          <p:cNvSpPr>
            <a:spLocks xmlns:a="http://schemas.openxmlformats.org/drawingml/2006/main" noGrp="1"/>
          </p:cNvSpPr>
          <p:nvPr/>
        </p:nvSpPr>
        <p:spPr>
          <a:xfrm xmlns:a="http://schemas.openxmlformats.org/drawingml/2006/main">
            <a:off x="609600" y="3619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075" b="1">
                <a:solidFill>
                  <a:srgbClr val="162832"/>
                </a:solidFill>
                <a:latin typeface="Apple SD Gothic Neo"/>
                <a:ea typeface="Apple SD Gothic Neo"/>
                <a:cs typeface="Apple SD Gothic Neo"/>
              </a:defRPr>
            </a:pPr>
            <a:r>
              <a:rPr sz="3075" b="1">
                <a:solidFill>
                  <a:srgbClr val="162832"/>
                </a:solidFill>
                <a:latin typeface="Apple SD Gothic Neo"/>
                <a:ea typeface="Apple SD Gothic Neo"/>
                <a:cs typeface="Apple SD Gothic Neo"/>
              </a:rPr>
              <a:t>확대·분할은 개선 실험으로 보존합니다</a:t>
            </a:r>
          </a:p>
        </p:txBody>
      </p:sp>
      <p:graphicFrame>
        <p:nvGraphicFramePr>
          <p:cNvPr id="9" name=""/>
          <p:cNvGraphicFramePr/>
          <p:nvPr/>
        </p:nvGraphicFramePr>
        <p:xfrm>
          <a:off xmlns:a="http://schemas.openxmlformats.org/drawingml/2006/main" x="609600" y="1428750"/>
          <a:ext xmlns:a="http://schemas.openxmlformats.org/drawingml/2006/main" cx="10972800" cy="2667000"/>
        </p:xfrm>
        <a:graphic xmlns:a="http://schemas.openxmlformats.org/drawingml/2006/main">
          <a:graphicData uri="http://schemas.openxmlformats.org/drawingml/2006/table">
            <a:tbl>
              <a:tblPr/>
              <a:tblGrid>
                <a:gridCol w="5905500"/>
                <a:gridCol w="2476500"/>
                <a:gridCol w="2590800"/>
              </a:tblGrid>
              <a:tr h="666750">
                <a:tc>
                  <a:txBody>
                    <a:bodyPr lIns="133350" tIns="76200" rIns="114300" bIns="76200"/>
                    <a:lstStyle/>
                    <a:p>
                      <a:r>
                        <a:rPr sz="1800" b="1">
                          <a:solidFill>
                            <a:srgbClr val="FFFFFF"/>
                          </a:solidFill>
                          <a:latin typeface="Apple SD Gothic Neo"/>
                          <a:ea typeface="Apple SD Gothic Neo"/>
                          <a:cs typeface="Apple SD Gothic Neo"/>
                        </a:rPr>
                        <a:t>RF-DETR-S 검사 방식</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검증 F1</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이번 기본 방식</a:t>
                      </a:r>
                    </a:p>
                  </a:txBody>
                  <a:tcPr marL="91440" marR="91440" marT="45720" marB="45720" anchor="ctr">
                    <a:solidFill>
                      <a:srgbClr val="193C4D"/>
                    </a:solidFill>
                  </a:tcPr>
                </a:tc>
              </a:tr>
              <a:tr h="666750">
                <a:tc>
                  <a:txBody>
                    <a:bodyPr lIns="133350" tIns="76200" rIns="114300" bIns="76200"/>
                    <a:lstStyle/>
                    <a:p>
                      <a:r>
                        <a:rPr sz="1800" b="0">
                          <a:solidFill>
                            <a:srgbClr val="162832"/>
                          </a:solidFill>
                          <a:latin typeface="Apple SD Gothic Neo"/>
                          <a:ea typeface="Apple SD Gothic Neo"/>
                          <a:cs typeface="Apple SD Gothic Neo"/>
                        </a:rPr>
                        <a:t>전체 사진 · 기존 저장본</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0.9918</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채택</a:t>
                      </a:r>
                    </a:p>
                  </a:txBody>
                  <a:tcPr marL="91440" marR="91440" marT="45720" marB="45720" anchor="ctr">
                    <a:solidFill>
                      <a:srgbClr val="FFFFFF"/>
                    </a:solidFill>
                  </a:tcPr>
                </a:tc>
              </a:tr>
              <a:tr h="666750">
                <a:tc>
                  <a:txBody>
                    <a:bodyPr lIns="133350" tIns="76200" rIns="114300" bIns="76200"/>
                    <a:lstStyle/>
                    <a:p>
                      <a:r>
                        <a:rPr sz="1800" b="0">
                          <a:solidFill>
                            <a:srgbClr val="162832"/>
                          </a:solidFill>
                          <a:latin typeface="Apple SD Gothic Neo"/>
                          <a:ea typeface="Apple SD Gothic Neo"/>
                          <a:cs typeface="Apple SD Gothic Neo"/>
                        </a:rPr>
                        <a:t>후보 확대 · 3epoch 추가 학습</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0.9448</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비교 실험</a:t>
                      </a:r>
                    </a:p>
                  </a:txBody>
                  <a:tcPr marL="91440" marR="91440" marT="45720" marB="45720" anchor="ctr">
                    <a:solidFill>
                      <a:srgbClr val="F1F5F6"/>
                    </a:solidFill>
                  </a:tcPr>
                </a:tc>
              </a:tr>
              <a:tr h="666750">
                <a:tc>
                  <a:txBody>
                    <a:bodyPr lIns="133350" tIns="76200" rIns="114300" bIns="76200"/>
                    <a:lstStyle/>
                    <a:p>
                      <a:r>
                        <a:rPr sz="1800" b="0">
                          <a:solidFill>
                            <a:srgbClr val="162832"/>
                          </a:solidFill>
                          <a:latin typeface="Apple SD Gothic Neo"/>
                          <a:ea typeface="Apple SD Gothic Neo"/>
                          <a:cs typeface="Apple SD Gothic Neo"/>
                        </a:rPr>
                        <a:t>겹침 분할 · 2epoch 저장본</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0.9918</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비교 실험</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6AD96DE-1983-4231-B5EC-6BD4E54125D8}"/>
              </a:ext>
            </a:extLst>
          </p:cNvPr>
          <p:cNvSpPr>
            <a:spLocks xmlns:a="http://schemas.openxmlformats.org/drawingml/2006/main" noGrp="1"/>
          </p:cNvSpPr>
          <p:nvPr/>
        </p:nvSpPr>
        <p:spPr>
          <a:xfrm xmlns:a="http://schemas.openxmlformats.org/drawingml/2006/main">
            <a:off x="609600" y="43719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확대·분할은 검증에서 탐지 임계값을 다시 고른 탐색 최고값입니다.</a:t>
            </a:r>
          </a:p>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전체 사진 행은 기존 고정 임계값입니다. 새 독립 시험은 아닙니다.</a:t>
            </a:r>
          </a:p>
        </p:txBody>
      </p:sp>
      <p:sp>
        <p:nvSpPr>
          <p:cNvPr id="4" name="">
            <a:extLst xmlns:a="http://schemas.openxmlformats.org/drawingml/2006/main">
              <a:ext uri="{FF2B5EF4-FFF2-40B4-BE49-F238E27FC236}">
                <a16:creationId xmlns:a16="http://schemas.microsoft.com/office/drawing/2014/main" id="{C17B0851-EBF0-4D6A-81F3-FF28D8D53C4C}"/>
              </a:ext>
            </a:extLst>
          </p:cNvPr>
          <p:cNvSpPr>
            <a:spLocks xmlns:a="http://schemas.openxmlformats.org/drawingml/2006/main" noGrp="1"/>
          </p:cNvSpPr>
          <p:nvPr/>
        </p:nvSpPr>
        <p:spPr>
          <a:xfrm xmlns:a="http://schemas.openxmlformats.org/drawingml/2006/main">
            <a:off x="609600" y="549592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RF-DETR-S만 두 입력 방식으로 각각 3epoch 추가 학습했습니다.</a:t>
            </a:r>
          </a:p>
          <a:p xmlns:a="http://schemas.openxmlformats.org/drawingml/2006/main">
            <a:pPr>
              <a:buNone/>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D-FINE-S는 기존 20epoch 저장본을 사용했습니다. 검증의 자연 무후보 경로는 0장입니다.</a:t>
            </a:r>
          </a:p>
        </p:txBody>
      </p:sp>
      <p:sp>
        <p:nvSpPr>
          <p:cNvPr id="5" name="">
            <a:extLst xmlns:a="http://schemas.openxmlformats.org/drawingml/2006/main">
              <a:ext uri="{FF2B5EF4-FFF2-40B4-BE49-F238E27FC236}">
                <a16:creationId xmlns:a16="http://schemas.microsoft.com/office/drawing/2014/main" id="{DBDBC2E9-7226-4F4E-B332-CE48AB49CA10}"/>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25</a:t>
            </a:r>
          </a:p>
        </p:txBody>
      </p:sp>
    </p:spTree>
    <p:extLst>
      <p:ext uri="{BB962C8B-B14F-4D97-AF65-F5344CB8AC3E}">
        <p14:creationId xmlns:p14="http://schemas.microsoft.com/office/powerpoint/2010/main" val="45786532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35ECEB-BCD1-4524-8C44-8C7C200218C2}"/>
              </a:ext>
            </a:extLst>
          </p:cNvPr>
          <p:cNvSpPr>
            <a:spLocks xmlns:a="http://schemas.openxmlformats.org/drawingml/2006/main" noGrp="1"/>
          </p:cNvSpPr>
          <p:nvPr/>
        </p:nvSpPr>
        <p:spPr>
          <a:xfrm xmlns:a="http://schemas.openxmlformats.org/drawingml/2006/main">
            <a:off x="609600" y="3619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850" b="1">
                <a:solidFill>
                  <a:srgbClr val="162832"/>
                </a:solidFill>
                <a:latin typeface="Apple SD Gothic Neo"/>
                <a:ea typeface="Apple SD Gothic Neo"/>
                <a:cs typeface="Apple SD Gothic Neo"/>
              </a:defRPr>
            </a:pPr>
            <a:r>
              <a:rPr sz="2850" b="1">
                <a:solidFill>
                  <a:srgbClr val="162832"/>
                </a:solidFill>
                <a:latin typeface="Apple SD Gothic Neo"/>
                <a:ea typeface="Apple SD Gothic Neo"/>
                <a:cs typeface="Apple SD Gothic Neo"/>
              </a:rPr>
              <a:t>서로 다른 무후보 사진을 다른 모델이 경고했습니다</a:t>
            </a:r>
          </a:p>
        </p:txBody>
      </p:sp>
      <p:graphicFrame>
        <p:nvGraphicFramePr>
          <p:cNvPr id="9" name=""/>
          <p:cNvGraphicFramePr/>
          <p:nvPr/>
        </p:nvGraphicFramePr>
        <p:xfrm>
          <a:off xmlns:a="http://schemas.openxmlformats.org/drawingml/2006/main" x="609600" y="1476375"/>
          <a:ext xmlns:a="http://schemas.openxmlformats.org/drawingml/2006/main" cx="10972800" cy="2762250"/>
        </p:xfrm>
        <a:graphic xmlns:a="http://schemas.openxmlformats.org/drawingml/2006/main">
          <a:graphicData uri="http://schemas.openxmlformats.org/drawingml/2006/table">
            <a:tbl>
              <a:tblPr/>
              <a:tblGrid>
                <a:gridCol w="8305800"/>
                <a:gridCol w="2667000"/>
              </a:tblGrid>
              <a:tr h="552450">
                <a:tc>
                  <a:txBody>
                    <a:bodyPr lIns="133350" tIns="76200" rIns="114300" bIns="76200"/>
                    <a:lstStyle/>
                    <a:p>
                      <a:r>
                        <a:rPr sz="1800" b="1">
                          <a:solidFill>
                            <a:srgbClr val="FFFFFF"/>
                          </a:solidFill>
                          <a:latin typeface="Apple SD Gothic Neo"/>
                          <a:ea typeface="Apple SD Gothic Neo"/>
                          <a:cs typeface="Apple SD Gothic Neo"/>
                        </a:rPr>
                        <a:t>테스트 97장의 경고 상태</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사진 수</a:t>
                      </a:r>
                    </a:p>
                  </a:txBody>
                  <a:tcPr marL="91440" marR="91440" marT="45720" marB="45720" anchor="ctr">
                    <a:solidFill>
                      <a:srgbClr val="193C4D"/>
                    </a:solidFill>
                  </a:tcPr>
                </a:tc>
              </a:tr>
              <a:tr h="552450">
                <a:tc>
                  <a:txBody>
                    <a:bodyPr lIns="133350" tIns="76200" rIns="114300" bIns="76200"/>
                    <a:lstStyle/>
                    <a:p>
                      <a:r>
                        <a:rPr sz="1800" b="0">
                          <a:solidFill>
                            <a:srgbClr val="162832"/>
                          </a:solidFill>
                          <a:latin typeface="Apple SD Gothic Neo"/>
                          <a:ea typeface="Apple SD Gothic Neo"/>
                          <a:cs typeface="Apple SD Gothic Neo"/>
                        </a:rPr>
                        <a:t>두 모델 모두 후보 표시</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95</a:t>
                      </a:r>
                    </a:p>
                  </a:txBody>
                  <a:tcPr marL="91440" marR="91440" marT="45720" marB="45720" anchor="ctr">
                    <a:solidFill>
                      <a:srgbClr val="FFFFFF"/>
                    </a:solidFill>
                  </a:tcPr>
                </a:tc>
              </a:tr>
              <a:tr h="552450">
                <a:tc>
                  <a:txBody>
                    <a:bodyPr lIns="133350" tIns="76200" rIns="114300" bIns="76200"/>
                    <a:lstStyle/>
                    <a:p>
                      <a:r>
                        <a:rPr sz="1800" b="0">
                          <a:solidFill>
                            <a:srgbClr val="162832"/>
                          </a:solidFill>
                          <a:latin typeface="Apple SD Gothic Neo"/>
                          <a:ea typeface="Apple SD Gothic Neo"/>
                          <a:cs typeface="Apple SD Gothic Neo"/>
                        </a:rPr>
                        <a:t>YOLO 무후보 → RF 후보 표시</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1</a:t>
                      </a:r>
                    </a:p>
                  </a:txBody>
                  <a:tcPr marL="91440" marR="91440" marT="45720" marB="45720" anchor="ctr">
                    <a:solidFill>
                      <a:srgbClr val="F1F5F6"/>
                    </a:solidFill>
                  </a:tcPr>
                </a:tc>
              </a:tr>
              <a:tr h="552450">
                <a:tc>
                  <a:txBody>
                    <a:bodyPr lIns="133350" tIns="76200" rIns="114300" bIns="76200"/>
                    <a:lstStyle/>
                    <a:p>
                      <a:r>
                        <a:rPr sz="1800" b="0">
                          <a:solidFill>
                            <a:srgbClr val="162832"/>
                          </a:solidFill>
                          <a:latin typeface="Apple SD Gothic Neo"/>
                          <a:ea typeface="Apple SD Gothic Neo"/>
                          <a:cs typeface="Apple SD Gothic Neo"/>
                        </a:rPr>
                        <a:t>RF 무후보 → YOLO 후보 표시</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1</a:t>
                      </a:r>
                    </a:p>
                  </a:txBody>
                  <a:tcPr marL="91440" marR="91440" marT="45720" marB="45720" anchor="ctr">
                    <a:solidFill>
                      <a:srgbClr val="FFFFFF"/>
                    </a:solidFill>
                  </a:tcPr>
                </a:tc>
              </a:tr>
              <a:tr h="552450">
                <a:tc>
                  <a:txBody>
                    <a:bodyPr lIns="133350" tIns="76200" rIns="114300" bIns="76200"/>
                    <a:lstStyle/>
                    <a:p>
                      <a:r>
                        <a:rPr sz="1800" b="0">
                          <a:solidFill>
                            <a:srgbClr val="162832"/>
                          </a:solidFill>
                          <a:latin typeface="Apple SD Gothic Neo"/>
                          <a:ea typeface="Apple SD Gothic Neo"/>
                          <a:cs typeface="Apple SD Gothic Neo"/>
                        </a:rPr>
                        <a:t>두 모델 모두 무후보</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0</a:t>
                      </a:r>
                    </a:p>
                  </a:txBody>
                  <a:tcPr marL="91440" marR="91440" marT="45720" marB="45720" anchor="ctr">
                    <a:solidFill>
                      <a:srgbClr val="F1F5F6"/>
                    </a:solidFill>
                  </a:tcPr>
                </a:tc>
              </a:tr>
            </a:tbl>
          </a:graphicData>
        </a:graphic>
      </p:graphicFrame>
      <p:sp>
        <p:nvSpPr>
          <p:cNvPr id="3" name="">
            <a:extLst xmlns:a="http://schemas.openxmlformats.org/drawingml/2006/main">
              <a:ext uri="{FF2B5EF4-FFF2-40B4-BE49-F238E27FC236}">
                <a16:creationId xmlns:a16="http://schemas.microsoft.com/office/drawing/2014/main" id="{00FB968D-8633-4A34-9D0B-EE2941FCD60A}"/>
              </a:ext>
            </a:extLst>
          </p:cNvPr>
          <p:cNvSpPr>
            <a:spLocks xmlns:a="http://schemas.openxmlformats.org/drawingml/2006/main" noGrp="1"/>
          </p:cNvSpPr>
          <p:nvPr/>
        </p:nvSpPr>
        <p:spPr>
          <a:xfrm xmlns:a="http://schemas.openxmlformats.org/drawingml/2006/main">
            <a:off x="609600" y="45243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경고 유무와 이물 위치 정확도는 다릅니다.</a:t>
            </a:r>
          </a:p>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두 모델 모두 IoU 기준을 충족하지 못한 이물은 225개 중 2개 남았습니다.</a:t>
            </a:r>
          </a:p>
        </p:txBody>
      </p:sp>
      <p:sp>
        <p:nvSpPr>
          <p:cNvPr id="4" name="">
            <a:extLst xmlns:a="http://schemas.openxmlformats.org/drawingml/2006/main">
              <a:ext uri="{FF2B5EF4-FFF2-40B4-BE49-F238E27FC236}">
                <a16:creationId xmlns:a16="http://schemas.microsoft.com/office/drawing/2014/main" id="{138A5CE1-2392-45EB-9651-EFF56137186D}"/>
              </a:ext>
            </a:extLst>
          </p:cNvPr>
          <p:cNvSpPr>
            <a:spLocks xmlns:a="http://schemas.openxmlformats.org/drawingml/2006/main" noGrp="1"/>
          </p:cNvSpPr>
          <p:nvPr/>
        </p:nvSpPr>
        <p:spPr>
          <a:xfrm xmlns:a="http://schemas.openxmlformats.org/drawingml/2006/main">
            <a:off x="609600" y="57150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기존 저장 예측을 고정 정책으로 재생했습니다. 새 추론·재학습·임계값 조정은 없었습니다.</a:t>
            </a:r>
          </a:p>
          <a:p xmlns:a="http://schemas.openxmlformats.org/drawingml/2006/main">
            <a:pPr>
              <a:buNone/>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정상 제품 0장·과거에 본 테스트이므로 현장 정확도 100%라고 주장하지 않습니다.</a:t>
            </a:r>
          </a:p>
        </p:txBody>
      </p:sp>
      <p:sp>
        <p:nvSpPr>
          <p:cNvPr id="5" name="">
            <a:extLst xmlns:a="http://schemas.openxmlformats.org/drawingml/2006/main">
              <a:ext uri="{FF2B5EF4-FFF2-40B4-BE49-F238E27FC236}">
                <a16:creationId xmlns:a16="http://schemas.microsoft.com/office/drawing/2014/main" id="{2A658A12-9F3C-4232-8B61-E2A0B1ECCCD7}"/>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26</a:t>
            </a:r>
          </a:p>
        </p:txBody>
      </p:sp>
    </p:spTree>
    <p:extLst>
      <p:ext uri="{BB962C8B-B14F-4D97-AF65-F5344CB8AC3E}">
        <p14:creationId xmlns:p14="http://schemas.microsoft.com/office/powerpoint/2010/main" val="23148157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ADC36D2-92EF-4C9A-87BB-538C3E102780}"/>
              </a:ext>
            </a:extLst>
          </p:cNvPr>
          <p:cNvSpPr>
            <a:spLocks xmlns:a="http://schemas.openxmlformats.org/drawingml/2006/main" noGrp="1"/>
          </p:cNvSpPr>
          <p:nvPr/>
        </p:nvSpPr>
        <p:spPr>
          <a:xfrm xmlns:a="http://schemas.openxmlformats.org/drawingml/2006/main">
            <a:off x="609600" y="3619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075" b="1">
                <a:solidFill>
                  <a:srgbClr val="162832"/>
                </a:solidFill>
                <a:latin typeface="Apple SD Gothic Neo"/>
                <a:ea typeface="Apple SD Gothic Neo"/>
                <a:cs typeface="Apple SD Gothic Neo"/>
              </a:defRPr>
            </a:pPr>
            <a:r>
              <a:rPr sz="3075" b="1">
                <a:solidFill>
                  <a:srgbClr val="162832"/>
                </a:solidFill>
                <a:latin typeface="Apple SD Gothic Neo"/>
                <a:ea typeface="Apple SD Gothic Neo"/>
                <a:cs typeface="Apple SD Gothic Neo"/>
              </a:rPr>
              <a:t>식품 이물 미탐 위험을 우선한 처리 순서</a:t>
            </a:r>
          </a:p>
        </p:txBody>
      </p:sp>
      <p:sp>
        <p:nvSpPr>
          <p:cNvPr id="2" name="">
            <a:extLst xmlns:a="http://schemas.openxmlformats.org/drawingml/2006/main">
              <a:ext uri="{FF2B5EF4-FFF2-40B4-BE49-F238E27FC236}">
                <a16:creationId xmlns:a16="http://schemas.microsoft.com/office/drawing/2014/main" id="{349AD5FA-1D98-48B8-86FB-79F520BA8F26}"/>
              </a:ext>
            </a:extLst>
          </p:cNvPr>
          <p:cNvSpPr>
            <a:spLocks xmlns:a="http://schemas.openxmlformats.org/drawingml/2006/main" noGrp="1"/>
          </p:cNvSpPr>
          <p:nvPr/>
        </p:nvSpPr>
        <p:spPr>
          <a:xfrm xmlns:a="http://schemas.openxmlformats.org/drawingml/2006/main">
            <a:off x="628650" y="1428750"/>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475" b="1">
                <a:solidFill>
                  <a:srgbClr val="162832"/>
                </a:solidFill>
                <a:latin typeface="Apple SD Gothic Neo"/>
                <a:ea typeface="Apple SD Gothic Neo"/>
                <a:cs typeface="Apple SD Gothic Neo"/>
              </a:defRPr>
            </a:pPr>
            <a:r>
              <a:rPr sz="2475" b="1">
                <a:solidFill>
                  <a:srgbClr val="162832"/>
                </a:solidFill>
                <a:latin typeface="Apple SD Gothic Neo"/>
                <a:ea typeface="Apple SD Gothic Neo"/>
                <a:cs typeface="Apple SD Gothic Neo"/>
              </a:rPr>
              <a:t>1</a:t>
            </a:r>
          </a:p>
        </p:txBody>
      </p:sp>
      <p:sp>
        <p:nvSpPr>
          <p:cNvPr id="3" name="">
            <a:extLst xmlns:a="http://schemas.openxmlformats.org/drawingml/2006/main">
              <a:ext uri="{FF2B5EF4-FFF2-40B4-BE49-F238E27FC236}">
                <a16:creationId xmlns:a16="http://schemas.microsoft.com/office/drawing/2014/main" id="{CE8C67B7-901B-4632-84CD-B43E6F124655}"/>
              </a:ext>
            </a:extLst>
          </p:cNvPr>
          <p:cNvSpPr>
            <a:spLocks xmlns:a="http://schemas.openxmlformats.org/drawingml/2006/main" noGrp="1"/>
          </p:cNvSpPr>
          <p:nvPr/>
        </p:nvSpPr>
        <p:spPr>
          <a:xfrm xmlns:a="http://schemas.openxmlformats.org/drawingml/2006/main">
            <a:off x="1285875" y="1428750"/>
            <a:ext cx="1009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162832"/>
                </a:solidFill>
                <a:latin typeface="Apple SD Gothic Neo"/>
                <a:ea typeface="Apple SD Gothic Neo"/>
                <a:cs typeface="Apple SD Gothic Neo"/>
              </a:defRPr>
            </a:pPr>
            <a:r>
              <a:rPr sz="2100" b="1">
                <a:solidFill>
                  <a:srgbClr val="162832"/>
                </a:solidFill>
                <a:latin typeface="Apple SD Gothic Neo"/>
                <a:ea typeface="Apple SD Gothic Neo"/>
                <a:cs typeface="Apple SD Gothic Neo"/>
              </a:rPr>
              <a:t>제품 ID와 사진 기록</a:t>
            </a:r>
          </a:p>
        </p:txBody>
      </p:sp>
      <p:sp>
        <p:nvSpPr>
          <p:cNvPr id="4" name="">
            <a:extLst xmlns:a="http://schemas.openxmlformats.org/drawingml/2006/main">
              <a:ext uri="{FF2B5EF4-FFF2-40B4-BE49-F238E27FC236}">
                <a16:creationId xmlns:a16="http://schemas.microsoft.com/office/drawing/2014/main" id="{A8697230-2956-4EB6-AB21-1FE3DF009680}"/>
              </a:ext>
            </a:extLst>
          </p:cNvPr>
          <p:cNvSpPr>
            <a:spLocks xmlns:a="http://schemas.openxmlformats.org/drawingml/2006/main" noGrp="1"/>
          </p:cNvSpPr>
          <p:nvPr/>
        </p:nvSpPr>
        <p:spPr>
          <a:xfrm xmlns:a="http://schemas.openxmlformats.org/drawingml/2006/main">
            <a:off x="1285875" y="18573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162832"/>
                </a:solidFill>
                <a:latin typeface="Apple SD Gothic Neo"/>
                <a:ea typeface="Apple SD Gothic Neo"/>
                <a:cs typeface="Apple SD Gothic Neo"/>
              </a:defRPr>
            </a:pPr>
            <a:r>
              <a:rPr sz="1800" b="0">
                <a:solidFill>
                  <a:srgbClr val="162832"/>
                </a:solidFill>
                <a:latin typeface="Apple SD Gothic Neo"/>
                <a:ea typeface="Apple SD Gothic Neo"/>
                <a:cs typeface="Apple SD Gothic Neo"/>
              </a:rPr>
              <a:t>제품과 검사 결과가 서로 바뀌지 않게 연결합니다.</a:t>
            </a:r>
          </a:p>
        </p:txBody>
      </p:sp>
      <p:sp>
        <p:nvSpPr>
          <p:cNvPr id="5" name="">
            <a:extLst xmlns:a="http://schemas.openxmlformats.org/drawingml/2006/main">
              <a:ext uri="{FF2B5EF4-FFF2-40B4-BE49-F238E27FC236}">
                <a16:creationId xmlns:a16="http://schemas.microsoft.com/office/drawing/2014/main" id="{60A58A29-0A97-48BF-AA48-6720FA6252B8}"/>
              </a:ext>
            </a:extLst>
          </p:cNvPr>
          <p:cNvSpPr>
            <a:spLocks xmlns:a="http://schemas.openxmlformats.org/drawingml/2006/main" noGrp="1"/>
          </p:cNvSpPr>
          <p:nvPr/>
        </p:nvSpPr>
        <p:spPr>
          <a:xfrm xmlns:a="http://schemas.openxmlformats.org/drawingml/2006/main">
            <a:off x="628650" y="2486025"/>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475" b="1">
                <a:solidFill>
                  <a:srgbClr val="162832"/>
                </a:solidFill>
                <a:latin typeface="Apple SD Gothic Neo"/>
                <a:ea typeface="Apple SD Gothic Neo"/>
                <a:cs typeface="Apple SD Gothic Neo"/>
              </a:defRPr>
            </a:pPr>
            <a:r>
              <a:rPr sz="2475" b="1">
                <a:solidFill>
                  <a:srgbClr val="162832"/>
                </a:solidFill>
                <a:latin typeface="Apple SD Gothic Neo"/>
                <a:ea typeface="Apple SD Gothic Neo"/>
                <a:cs typeface="Apple SD Gothic Neo"/>
              </a:rPr>
              <a:t>2</a:t>
            </a:r>
          </a:p>
        </p:txBody>
      </p:sp>
      <p:sp>
        <p:nvSpPr>
          <p:cNvPr id="6" name="">
            <a:extLst xmlns:a="http://schemas.openxmlformats.org/drawingml/2006/main">
              <a:ext uri="{FF2B5EF4-FFF2-40B4-BE49-F238E27FC236}">
                <a16:creationId xmlns:a16="http://schemas.microsoft.com/office/drawing/2014/main" id="{46F6D279-7153-4B8E-B37E-8064FB240651}"/>
              </a:ext>
            </a:extLst>
          </p:cNvPr>
          <p:cNvSpPr>
            <a:spLocks xmlns:a="http://schemas.openxmlformats.org/drawingml/2006/main" noGrp="1"/>
          </p:cNvSpPr>
          <p:nvPr/>
        </p:nvSpPr>
        <p:spPr>
          <a:xfrm xmlns:a="http://schemas.openxmlformats.org/drawingml/2006/main">
            <a:off x="1285875" y="2486025"/>
            <a:ext cx="1009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162832"/>
                </a:solidFill>
                <a:latin typeface="Apple SD Gothic Neo"/>
                <a:ea typeface="Apple SD Gothic Neo"/>
                <a:cs typeface="Apple SD Gothic Neo"/>
              </a:defRPr>
            </a:pPr>
            <a:r>
              <a:rPr sz="2100" b="1">
                <a:solidFill>
                  <a:srgbClr val="162832"/>
                </a:solidFill>
                <a:latin typeface="Apple SD Gothic Neo"/>
                <a:ea typeface="Apple SD Gothic Neo"/>
                <a:cs typeface="Apple SD Gothic Neo"/>
              </a:rPr>
              <a:t>첫 경고 보존과 독립 추가 검사</a:t>
            </a:r>
          </a:p>
        </p:txBody>
      </p:sp>
      <p:sp>
        <p:nvSpPr>
          <p:cNvPr id="7" name="">
            <a:extLst xmlns:a="http://schemas.openxmlformats.org/drawingml/2006/main">
              <a:ext uri="{FF2B5EF4-FFF2-40B4-BE49-F238E27FC236}">
                <a16:creationId xmlns:a16="http://schemas.microsoft.com/office/drawing/2014/main" id="{9463676B-1073-4BE7-B102-4B6D3A6F0E1F}"/>
              </a:ext>
            </a:extLst>
          </p:cNvPr>
          <p:cNvSpPr>
            <a:spLocks xmlns:a="http://schemas.openxmlformats.org/drawingml/2006/main" noGrp="1"/>
          </p:cNvSpPr>
          <p:nvPr/>
        </p:nvSpPr>
        <p:spPr>
          <a:xfrm xmlns:a="http://schemas.openxmlformats.org/drawingml/2006/main">
            <a:off x="1285875" y="291465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162832"/>
                </a:solidFill>
                <a:latin typeface="Apple SD Gothic Neo"/>
                <a:ea typeface="Apple SD Gothic Neo"/>
                <a:cs typeface="Apple SD Gothic Neo"/>
              </a:defRPr>
            </a:pPr>
            <a:r>
              <a:rPr sz="1800" b="0">
                <a:solidFill>
                  <a:srgbClr val="162832"/>
                </a:solidFill>
                <a:latin typeface="Apple SD Gothic Neo"/>
                <a:ea typeface="Apple SD Gothic Neo"/>
                <a:cs typeface="Apple SD Gothic Neo"/>
              </a:rPr>
              <a:t>YOLOv8n과 RF-DETR-S가 후보 유무와 관계없이 전체 사진을 검사합니다.</a:t>
            </a:r>
          </a:p>
        </p:txBody>
      </p:sp>
      <p:sp>
        <p:nvSpPr>
          <p:cNvPr id="8" name="">
            <a:extLst xmlns:a="http://schemas.openxmlformats.org/drawingml/2006/main">
              <a:ext uri="{FF2B5EF4-FFF2-40B4-BE49-F238E27FC236}">
                <a16:creationId xmlns:a16="http://schemas.microsoft.com/office/drawing/2014/main" id="{F232D8F4-20FB-485E-89D6-D8F17DF6D36D}"/>
              </a:ext>
            </a:extLst>
          </p:cNvPr>
          <p:cNvSpPr>
            <a:spLocks xmlns:a="http://schemas.openxmlformats.org/drawingml/2006/main" noGrp="1"/>
          </p:cNvSpPr>
          <p:nvPr/>
        </p:nvSpPr>
        <p:spPr>
          <a:xfrm xmlns:a="http://schemas.openxmlformats.org/drawingml/2006/main">
            <a:off x="628650" y="3543300"/>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475" b="1">
                <a:solidFill>
                  <a:srgbClr val="162832"/>
                </a:solidFill>
                <a:latin typeface="Apple SD Gothic Neo"/>
                <a:ea typeface="Apple SD Gothic Neo"/>
                <a:cs typeface="Apple SD Gothic Neo"/>
              </a:defRPr>
            </a:pPr>
            <a:r>
              <a:rPr sz="2475" b="1">
                <a:solidFill>
                  <a:srgbClr val="162832"/>
                </a:solidFill>
                <a:latin typeface="Apple SD Gothic Neo"/>
                <a:ea typeface="Apple SD Gothic Neo"/>
                <a:cs typeface="Apple SD Gothic Neo"/>
              </a:rPr>
              <a:t>3</a:t>
            </a:r>
          </a:p>
        </p:txBody>
      </p:sp>
      <p:sp>
        <p:nvSpPr>
          <p:cNvPr id="9" name="">
            <a:extLst xmlns:a="http://schemas.openxmlformats.org/drawingml/2006/main">
              <a:ext uri="{FF2B5EF4-FFF2-40B4-BE49-F238E27FC236}">
                <a16:creationId xmlns:a16="http://schemas.microsoft.com/office/drawing/2014/main" id="{22CC2C24-5F4A-47E8-8F2A-99D2B8961FA5}"/>
              </a:ext>
            </a:extLst>
          </p:cNvPr>
          <p:cNvSpPr>
            <a:spLocks xmlns:a="http://schemas.openxmlformats.org/drawingml/2006/main" noGrp="1"/>
          </p:cNvSpPr>
          <p:nvPr/>
        </p:nvSpPr>
        <p:spPr>
          <a:xfrm xmlns:a="http://schemas.openxmlformats.org/drawingml/2006/main">
            <a:off x="1285875" y="3543300"/>
            <a:ext cx="1009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162832"/>
                </a:solidFill>
                <a:latin typeface="Apple SD Gothic Neo"/>
                <a:ea typeface="Apple SD Gothic Neo"/>
                <a:cs typeface="Apple SD Gothic Neo"/>
              </a:defRPr>
            </a:pPr>
            <a:r>
              <a:rPr sz="2100" b="1">
                <a:solidFill>
                  <a:srgbClr val="162832"/>
                </a:solidFill>
                <a:latin typeface="Apple SD Gothic Neo"/>
                <a:ea typeface="Apple SD Gothic Neo"/>
                <a:cs typeface="Apple SD Gothic Neo"/>
              </a:rPr>
              <a:t>충돌·지연·오류는 제품 보류</a:t>
            </a:r>
          </a:p>
        </p:txBody>
      </p:sp>
      <p:sp>
        <p:nvSpPr>
          <p:cNvPr id="10" name="">
            <a:extLst xmlns:a="http://schemas.openxmlformats.org/drawingml/2006/main">
              <a:ext uri="{FF2B5EF4-FFF2-40B4-BE49-F238E27FC236}">
                <a16:creationId xmlns:a16="http://schemas.microsoft.com/office/drawing/2014/main" id="{D995A01C-2EB0-4DD5-B875-9281FA670071}"/>
              </a:ext>
            </a:extLst>
          </p:cNvPr>
          <p:cNvSpPr>
            <a:spLocks xmlns:a="http://schemas.openxmlformats.org/drawingml/2006/main" noGrp="1"/>
          </p:cNvSpPr>
          <p:nvPr/>
        </p:nvSpPr>
        <p:spPr>
          <a:xfrm xmlns:a="http://schemas.openxmlformats.org/drawingml/2006/main">
            <a:off x="1285875" y="397192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162832"/>
                </a:solidFill>
                <a:latin typeface="Apple SD Gothic Neo"/>
                <a:ea typeface="Apple SD Gothic Neo"/>
                <a:cs typeface="Apple SD Gothic Neo"/>
              </a:defRPr>
            </a:pPr>
            <a:r>
              <a:rPr sz="1800" b="0">
                <a:solidFill>
                  <a:srgbClr val="162832"/>
                </a:solidFill>
                <a:latin typeface="Apple SD Gothic Neo"/>
                <a:ea typeface="Apple SD Gothic Neo"/>
                <a:cs typeface="Apple SD Gothic Neo"/>
              </a:rPr>
              <a:t>첫 경고를 삭제하지 않습니다. 늦은 결과로 보류를 자동 취소하지 않습니다.</a:t>
            </a:r>
          </a:p>
        </p:txBody>
      </p:sp>
      <p:sp>
        <p:nvSpPr>
          <p:cNvPr id="11" name="">
            <a:extLst xmlns:a="http://schemas.openxmlformats.org/drawingml/2006/main">
              <a:ext uri="{FF2B5EF4-FFF2-40B4-BE49-F238E27FC236}">
                <a16:creationId xmlns:a16="http://schemas.microsoft.com/office/drawing/2014/main" id="{878A8193-5826-4F97-9A94-5CB320E120DD}"/>
              </a:ext>
            </a:extLst>
          </p:cNvPr>
          <p:cNvSpPr>
            <a:spLocks xmlns:a="http://schemas.openxmlformats.org/drawingml/2006/main" noGrp="1"/>
          </p:cNvSpPr>
          <p:nvPr/>
        </p:nvSpPr>
        <p:spPr>
          <a:xfrm xmlns:a="http://schemas.openxmlformats.org/drawingml/2006/main">
            <a:off x="628650" y="4600575"/>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475" b="1">
                <a:solidFill>
                  <a:srgbClr val="162832"/>
                </a:solidFill>
                <a:latin typeface="Apple SD Gothic Neo"/>
                <a:ea typeface="Apple SD Gothic Neo"/>
                <a:cs typeface="Apple SD Gothic Neo"/>
              </a:defRPr>
            </a:pPr>
            <a:r>
              <a:rPr sz="2475" b="1">
                <a:solidFill>
                  <a:srgbClr val="162832"/>
                </a:solidFill>
                <a:latin typeface="Apple SD Gothic Neo"/>
                <a:ea typeface="Apple SD Gothic Neo"/>
                <a:cs typeface="Apple SD Gothic Neo"/>
              </a:rPr>
              <a:t>4</a:t>
            </a:r>
          </a:p>
        </p:txBody>
      </p:sp>
      <p:sp>
        <p:nvSpPr>
          <p:cNvPr id="12" name="">
            <a:extLst xmlns:a="http://schemas.openxmlformats.org/drawingml/2006/main">
              <a:ext uri="{FF2B5EF4-FFF2-40B4-BE49-F238E27FC236}">
                <a16:creationId xmlns:a16="http://schemas.microsoft.com/office/drawing/2014/main" id="{570725AE-95DB-44DF-A40B-5194B444D9D4}"/>
              </a:ext>
            </a:extLst>
          </p:cNvPr>
          <p:cNvSpPr>
            <a:spLocks xmlns:a="http://schemas.openxmlformats.org/drawingml/2006/main" noGrp="1"/>
          </p:cNvSpPr>
          <p:nvPr/>
        </p:nvSpPr>
        <p:spPr>
          <a:xfrm xmlns:a="http://schemas.openxmlformats.org/drawingml/2006/main">
            <a:off x="1285875" y="4600575"/>
            <a:ext cx="1009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162832"/>
                </a:solidFill>
                <a:latin typeface="Apple SD Gothic Neo"/>
                <a:ea typeface="Apple SD Gothic Neo"/>
                <a:cs typeface="Apple SD Gothic Neo"/>
              </a:defRPr>
            </a:pPr>
            <a:r>
              <a:rPr sz="2100" b="1">
                <a:solidFill>
                  <a:srgbClr val="162832"/>
                </a:solidFill>
                <a:latin typeface="Apple SD Gothic Neo"/>
                <a:ea typeface="Apple SD Gothic Neo"/>
                <a:cs typeface="Apple SD Gothic Neo"/>
              </a:rPr>
              <a:t>정상 통과 기준은 현장 검증 후 적용</a:t>
            </a:r>
          </a:p>
        </p:txBody>
      </p:sp>
      <p:sp>
        <p:nvSpPr>
          <p:cNvPr id="13" name="">
            <a:extLst xmlns:a="http://schemas.openxmlformats.org/drawingml/2006/main">
              <a:ext uri="{FF2B5EF4-FFF2-40B4-BE49-F238E27FC236}">
                <a16:creationId xmlns:a16="http://schemas.microsoft.com/office/drawing/2014/main" id="{312702DF-32B0-44DE-83CF-95326E598838}"/>
              </a:ext>
            </a:extLst>
          </p:cNvPr>
          <p:cNvSpPr>
            <a:spLocks xmlns:a="http://schemas.openxmlformats.org/drawingml/2006/main" noGrp="1"/>
          </p:cNvSpPr>
          <p:nvPr/>
        </p:nvSpPr>
        <p:spPr>
          <a:xfrm xmlns:a="http://schemas.openxmlformats.org/drawingml/2006/main">
            <a:off x="1285875" y="502920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162832"/>
                </a:solidFill>
                <a:latin typeface="Apple SD Gothic Neo"/>
                <a:ea typeface="Apple SD Gothic Neo"/>
                <a:cs typeface="Apple SD Gothic Neo"/>
              </a:defRPr>
            </a:pPr>
            <a:r>
              <a:rPr sz="1800" b="0">
                <a:solidFill>
                  <a:srgbClr val="162832"/>
                </a:solidFill>
                <a:latin typeface="Apple SD Gothic Neo"/>
                <a:ea typeface="Apple SD Gothic Neo"/>
                <a:cs typeface="Apple SD Gothic Neo"/>
              </a:rPr>
              <a:t>두 모델의 무검출만으로 정상 출하를 허용하지 않습니다.</a:t>
            </a:r>
          </a:p>
        </p:txBody>
      </p:sp>
      <p:sp>
        <p:nvSpPr>
          <p:cNvPr id="14" name="">
            <a:extLst xmlns:a="http://schemas.openxmlformats.org/drawingml/2006/main">
              <a:ext uri="{FF2B5EF4-FFF2-40B4-BE49-F238E27FC236}">
                <a16:creationId xmlns:a16="http://schemas.microsoft.com/office/drawing/2014/main" id="{1BD4CDA0-505F-4DD5-8539-46B9C8D69CEF}"/>
              </a:ext>
            </a:extLst>
          </p:cNvPr>
          <p:cNvSpPr>
            <a:spLocks xmlns:a="http://schemas.openxmlformats.org/drawingml/2006/main" noGrp="1"/>
          </p:cNvSpPr>
          <p:nvPr/>
        </p:nvSpPr>
        <p:spPr>
          <a:xfrm xmlns:a="http://schemas.openxmlformats.org/drawingml/2006/main">
            <a:off x="609600" y="59055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제품 추적·경고 보존·지연 상태의 단위 검사 7개를 통과했습니다.</a:t>
            </a:r>
          </a:p>
          <a:p xmlns:a="http://schemas.openxmlformats.org/drawingml/2006/main">
            <a:pPr>
              <a:buNone/>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실제 PLC·배출기·정상 제품·GPU 장애 복구 검증은 남아 있습니다.</a:t>
            </a:r>
          </a:p>
        </p:txBody>
      </p:sp>
      <p:sp>
        <p:nvSpPr>
          <p:cNvPr id="15" name="">
            <a:extLst xmlns:a="http://schemas.openxmlformats.org/drawingml/2006/main">
              <a:ext uri="{FF2B5EF4-FFF2-40B4-BE49-F238E27FC236}">
                <a16:creationId xmlns:a16="http://schemas.microsoft.com/office/drawing/2014/main" id="{BF757C6B-784C-4CCE-BB6C-2E783E446F11}"/>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27</a:t>
            </a:r>
          </a:p>
        </p:txBody>
      </p:sp>
    </p:spTree>
    <p:extLst>
      <p:ext uri="{BB962C8B-B14F-4D97-AF65-F5344CB8AC3E}">
        <p14:creationId xmlns:p14="http://schemas.microsoft.com/office/powerpoint/2010/main" val="120971965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C6EF80-420A-4791-B6B9-CCF2B51BC7DC}"/>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현장 도입 전에 확인할 조건</a:t>
            </a:r>
          </a:p>
        </p:txBody>
      </p:sp>
      <p:sp>
        <p:nvSpPr>
          <p:cNvPr id="2" name="">
            <a:extLst xmlns:a="http://schemas.openxmlformats.org/drawingml/2006/main">
              <a:ext uri="{FF2B5EF4-FFF2-40B4-BE49-F238E27FC236}">
                <a16:creationId xmlns:a16="http://schemas.microsoft.com/office/drawing/2014/main" id="{D7204F79-393C-42C0-8823-76452C86F70D}"/>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28</a:t>
            </a:r>
          </a:p>
        </p:txBody>
      </p:sp>
      <p:graphicFrame>
        <p:nvGraphicFramePr>
          <p:cNvPr id="9" name=""/>
          <p:cNvGraphicFramePr/>
          <p:nvPr/>
        </p:nvGraphicFramePr>
        <p:xfrm>
          <a:off xmlns:a="http://schemas.openxmlformats.org/drawingml/2006/main" x="609600" y="1581150"/>
          <a:ext xmlns:a="http://schemas.openxmlformats.org/drawingml/2006/main" cx="10972800" cy="3714750"/>
        </p:xfrm>
        <a:graphic xmlns:a="http://schemas.openxmlformats.org/drawingml/2006/main">
          <a:graphicData uri="http://schemas.openxmlformats.org/drawingml/2006/table">
            <a:tbl>
              <a:tblPr/>
              <a:tblGrid>
                <a:gridCol w="4143375"/>
                <a:gridCol w="6829425"/>
              </a:tblGrid>
              <a:tr h="742950">
                <a:tc>
                  <a:txBody>
                    <a:bodyPr lIns="133350" tIns="85725" rIns="114300" bIns="85725"/>
                    <a:lstStyle/>
                    <a:p>
                      <a:r>
                        <a:rPr sz="1875" b="1">
                          <a:solidFill>
                            <a:srgbClr val="FFFFFF"/>
                          </a:solidFill>
                          <a:latin typeface="Apple SD Gothic Neo"/>
                          <a:ea typeface="Apple SD Gothic Neo"/>
                          <a:cs typeface="Apple SD Gothic Neo"/>
                        </a:rPr>
                        <a:t>확인할 조건</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평가 방법</a:t>
                      </a:r>
                    </a:p>
                  </a:txBody>
                  <a:tcPr marL="91440" marR="91440" marT="45720" marB="45720" anchor="ctr">
                    <a:solidFill>
                      <a:srgbClr val="193C4D"/>
                    </a:solidFill>
                  </a:tcPr>
                </a:tc>
              </a:tr>
              <a:tr h="742950">
                <a:tc>
                  <a:txBody>
                    <a:bodyPr lIns="133350" tIns="85725" rIns="114300" bIns="85725"/>
                    <a:lstStyle/>
                    <a:p>
                      <a:r>
                        <a:rPr sz="1875" b="0">
                          <a:solidFill>
                            <a:srgbClr val="162832"/>
                          </a:solidFill>
                          <a:latin typeface="Apple SD Gothic Neo"/>
                          <a:ea typeface="Apple SD Gothic Neo"/>
                          <a:cs typeface="Apple SD Gothic Neo"/>
                        </a:rPr>
                        <a:t>미탐 위험</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이물 사진에서 표시가 없는 수와 실제 제품 분리 여부</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정상 오경보와 재검사 부담</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대표 정상 제품의 오경보율과 전체 재검사율</a:t>
                      </a:r>
                    </a:p>
                  </a:txBody>
                  <a:tcPr marL="91440" marR="91440" marT="45720" marB="45720" anchor="ctr">
                    <a:solidFill>
                      <a:srgbClr val="F1F5F6"/>
                    </a:solidFill>
                  </a:tcPr>
                </a:tc>
              </a:tr>
              <a:tr h="742950">
                <a:tc>
                  <a:txBody>
                    <a:bodyPr lIns="133350" tIns="85725" rIns="114300" bIns="85725"/>
                    <a:lstStyle/>
                    <a:p>
                      <a:r>
                        <a:rPr sz="1875" b="0">
                          <a:solidFill>
                            <a:srgbClr val="162832"/>
                          </a:solidFill>
                          <a:latin typeface="Apple SD Gothic Neo"/>
                          <a:ea typeface="Apple SD Gothic Neo"/>
                          <a:cs typeface="Apple SD Gothic Neo"/>
                        </a:rPr>
                        <a:t>시간과 제품 추적</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촬영부터 조치까지 지연 및 제품 대응 확인</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장애 대응</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사진 누락·시간 초과·통신 및 분리 확인 실패 시험</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CD1FE050-E4A1-4887-AF20-85C849D7EE2E}"/>
              </a:ext>
            </a:extLst>
          </p:cNvPr>
          <p:cNvSpPr>
            <a:spLocks xmlns:a="http://schemas.openxmlformats.org/drawingml/2006/main" noGrp="1"/>
          </p:cNvSpPr>
          <p:nvPr/>
        </p:nvSpPr>
        <p:spPr>
          <a:xfrm xmlns:a="http://schemas.openxmlformats.org/drawingml/2006/main">
            <a:off x="609600" y="56197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기대 효과는 재검사 지원과 오류 추적입니다.</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생산성 향상이나 미탐 감소는 실제 측정 후 보고합니다.</a:t>
            </a:r>
          </a:p>
        </p:txBody>
      </p:sp>
    </p:spTree>
    <p:extLst>
      <p:ext uri="{BB962C8B-B14F-4D97-AF65-F5344CB8AC3E}">
        <p14:creationId xmlns:p14="http://schemas.microsoft.com/office/powerpoint/2010/main" val="8583349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6A81AA-D0CF-4D65-A6B7-F749DCABDF15}"/>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재현성과 제출 결과의 연결</a:t>
            </a:r>
          </a:p>
        </p:txBody>
      </p:sp>
      <p:sp>
        <p:nvSpPr>
          <p:cNvPr id="2" name="">
            <a:extLst xmlns:a="http://schemas.openxmlformats.org/drawingml/2006/main">
              <a:ext uri="{FF2B5EF4-FFF2-40B4-BE49-F238E27FC236}">
                <a16:creationId xmlns:a16="http://schemas.microsoft.com/office/drawing/2014/main" id="{43202B4B-14D8-4E78-9451-8F2AC82BA609}"/>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29</a:t>
            </a:r>
          </a:p>
        </p:txBody>
      </p:sp>
      <p:sp>
        <p:nvSpPr>
          <p:cNvPr id="3" name="">
            <a:extLst xmlns:a="http://schemas.openxmlformats.org/drawingml/2006/main">
              <a:ext uri="{FF2B5EF4-FFF2-40B4-BE49-F238E27FC236}">
                <a16:creationId xmlns:a16="http://schemas.microsoft.com/office/drawing/2014/main" id="{352F7F09-9E76-4590-976A-A3EB003ECB87}"/>
              </a:ext>
            </a:extLst>
          </p:cNvPr>
          <p:cNvSpPr>
            <a:spLocks xmlns:a="http://schemas.openxmlformats.org/drawingml/2006/main" noGrp="1"/>
          </p:cNvSpPr>
          <p:nvPr/>
        </p:nvSpPr>
        <p:spPr>
          <a:xfrm xmlns:a="http://schemas.openxmlformats.org/drawingml/2006/main">
            <a:off x="609600" y="16859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원본·공식 TXT·고정 분할을 보존합니다.</a:t>
            </a:r>
          </a:p>
        </p:txBody>
      </p:sp>
      <p:sp>
        <p:nvSpPr>
          <p:cNvPr id="4" name="">
            <a:extLst xmlns:a="http://schemas.openxmlformats.org/drawingml/2006/main">
              <a:ext uri="{FF2B5EF4-FFF2-40B4-BE49-F238E27FC236}">
                <a16:creationId xmlns:a16="http://schemas.microsoft.com/office/drawing/2014/main" id="{57BF4AD2-647E-4D70-BE74-853F357D6E8D}"/>
              </a:ext>
            </a:extLst>
          </p:cNvPr>
          <p:cNvSpPr>
            <a:spLocks xmlns:a="http://schemas.openxmlformats.org/drawingml/2006/main" noGrp="1"/>
          </p:cNvSpPr>
          <p:nvPr/>
        </p:nvSpPr>
        <p:spPr>
          <a:xfrm xmlns:a="http://schemas.openxmlformats.org/drawingml/2006/main">
            <a:off x="609600" y="26003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사진·변환 라벨·모델·예측 파일의 확인값을 남깁니다.</a:t>
            </a:r>
          </a:p>
        </p:txBody>
      </p:sp>
      <p:sp>
        <p:nvSpPr>
          <p:cNvPr id="5" name="">
            <a:extLst xmlns:a="http://schemas.openxmlformats.org/drawingml/2006/main">
              <a:ext uri="{FF2B5EF4-FFF2-40B4-BE49-F238E27FC236}">
                <a16:creationId xmlns:a16="http://schemas.microsoft.com/office/drawing/2014/main" id="{4E437815-10A7-4455-BB63-F593B1A1B77A}"/>
              </a:ext>
            </a:extLst>
          </p:cNvPr>
          <p:cNvSpPr>
            <a:spLocks xmlns:a="http://schemas.openxmlformats.org/drawingml/2006/main" noGrp="1"/>
          </p:cNvSpPr>
          <p:nvPr/>
        </p:nvSpPr>
        <p:spPr>
          <a:xfrm xmlns:a="http://schemas.openxmlformats.org/drawingml/2006/main">
            <a:off x="609600" y="35147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완료 epoch의 모델과 학습 상태를 저장하여 중단 후 재개합니다.</a:t>
            </a:r>
          </a:p>
        </p:txBody>
      </p:sp>
      <p:sp>
        <p:nvSpPr>
          <p:cNvPr id="6" name="">
            <a:extLst xmlns:a="http://schemas.openxmlformats.org/drawingml/2006/main">
              <a:ext uri="{FF2B5EF4-FFF2-40B4-BE49-F238E27FC236}">
                <a16:creationId xmlns:a16="http://schemas.microsoft.com/office/drawing/2014/main" id="{CFE22482-369E-4BE5-A861-8D6C24E957D7}"/>
              </a:ext>
            </a:extLst>
          </p:cNvPr>
          <p:cNvSpPr>
            <a:spLocks xmlns:a="http://schemas.openxmlformats.org/drawingml/2006/main" noGrp="1"/>
          </p:cNvSpPr>
          <p:nvPr/>
        </p:nvSpPr>
        <p:spPr>
          <a:xfrm xmlns:a="http://schemas.openxmlformats.org/drawingml/2006/main">
            <a:off x="609600" y="44291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제출 ZIP의 파일 해시·여섯 모델 재채점·확정 정책 재생을 확인했습니다.</a:t>
            </a:r>
          </a:p>
        </p:txBody>
      </p:sp>
      <p:sp>
        <p:nvSpPr>
          <p:cNvPr id="7" name="">
            <a:extLst xmlns:a="http://schemas.openxmlformats.org/drawingml/2006/main">
              <a:ext uri="{FF2B5EF4-FFF2-40B4-BE49-F238E27FC236}">
                <a16:creationId xmlns:a16="http://schemas.microsoft.com/office/drawing/2014/main" id="{D23EF1B1-C78F-47E7-B087-A84FDE81BC97}"/>
              </a:ext>
            </a:extLst>
          </p:cNvPr>
          <p:cNvSpPr>
            <a:spLocks xmlns:a="http://schemas.openxmlformats.org/drawingml/2006/main" noGrp="1"/>
          </p:cNvSpPr>
          <p:nvPr/>
        </p:nvSpPr>
        <p:spPr>
          <a:xfrm xmlns:a="http://schemas.openxmlformats.org/drawingml/2006/main">
            <a:off x="609600" y="58578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새 추출 폴더와 기존 Python 환경에서 확인했습니다. 새 환경 재학습·현장 검증·팀 승인은 남아 있습니다.</a:t>
            </a:r>
          </a:p>
        </p:txBody>
      </p:sp>
    </p:spTree>
    <p:extLst>
      <p:ext uri="{BB962C8B-B14F-4D97-AF65-F5344CB8AC3E}">
        <p14:creationId xmlns:p14="http://schemas.microsoft.com/office/powerpoint/2010/main" val="8944232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2026-10-05T12:20:37.4670000Z</dcterms:created>
  <dcterms:modified xsi:type="dcterms:W3CDTF">2026-10-05T12:20:37.4670000Z</dcterms:modified>
</coreProperties>
</file>