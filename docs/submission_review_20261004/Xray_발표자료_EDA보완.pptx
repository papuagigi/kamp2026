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af25d6176144fe" /><Relationship Type="http://schemas.openxmlformats.org/officeDocument/2006/relationships/extended-properties" Target="/docProps/app.xml" Id="R4b4edab6f2924210" /><Relationship Type="http://schemas.openxmlformats.org/officeDocument/2006/relationships/officeDocument" Target="/ppt/presentation.xml" Id="Ra39c9ef286554d1a" /></Relationships>
</file>

<file path=ppt/presentation.xml><?xml version="1.0" encoding="utf-8"?>
<p:presentation xmlns:p="http://schemas.openxmlformats.org/presentationml/2006/main">
  <p:sldMasterIdLst>
    <p:sldMasterId xmlns:r="http://schemas.openxmlformats.org/officeDocument/2006/relationships" id="2147483648" r:id="Rfec0af7e933a4726"/>
  </p:sldMasterIdLst>
  <p:notesMasterIdLst>
    <p:notesMasterId xmlns:r="http://schemas.openxmlformats.org/officeDocument/2006/relationships" r:id="R487d5eb72434485d"/>
  </p:notesMasterIdLst>
  <p:sldIdLst>
    <p:sldId xmlns:r="http://schemas.openxmlformats.org/officeDocument/2006/relationships" id="256" r:id="Re109c69bf67744d3"/>
    <p:sldId xmlns:r="http://schemas.openxmlformats.org/officeDocument/2006/relationships" id="257" r:id="R96f787a9da7d4897"/>
    <p:sldId xmlns:r="http://schemas.openxmlformats.org/officeDocument/2006/relationships" id="258" r:id="R4e2f6c8224074d82"/>
    <p:sldId xmlns:r="http://schemas.openxmlformats.org/officeDocument/2006/relationships" id="259" r:id="R2e32445958f342ca"/>
    <p:sldId xmlns:r="http://schemas.openxmlformats.org/officeDocument/2006/relationships" id="260" r:id="R182260a103b2469f"/>
    <p:sldId xmlns:r="http://schemas.openxmlformats.org/officeDocument/2006/relationships" id="261" r:id="Recdb1cc6fdb648a2"/>
    <p:sldId xmlns:r="http://schemas.openxmlformats.org/officeDocument/2006/relationships" id="262" r:id="R71e761637a544664"/>
    <p:sldId xmlns:r="http://schemas.openxmlformats.org/officeDocument/2006/relationships" id="263" r:id="R1ea6d887164242ad"/>
    <p:sldId xmlns:r="http://schemas.openxmlformats.org/officeDocument/2006/relationships" id="264" r:id="R75764e893a584f69"/>
    <p:sldId xmlns:r="http://schemas.openxmlformats.org/officeDocument/2006/relationships" id="265" r:id="Rd3cb6aff89644baf"/>
    <p:sldId xmlns:r="http://schemas.openxmlformats.org/officeDocument/2006/relationships" id="266" r:id="R65fb9fb566c84709"/>
    <p:sldId xmlns:r="http://schemas.openxmlformats.org/officeDocument/2006/relationships" id="267" r:id="Re2d73728ddb14624"/>
    <p:sldId xmlns:r="http://schemas.openxmlformats.org/officeDocument/2006/relationships" id="268" r:id="Rd9a27c3a92ea46c5"/>
    <p:sldId xmlns:r="http://schemas.openxmlformats.org/officeDocument/2006/relationships" id="269" r:id="R07bbace41c20432f"/>
    <p:sldId xmlns:r="http://schemas.openxmlformats.org/officeDocument/2006/relationships" id="270" r:id="R7e54cba8b1254f22"/>
    <p:sldId xmlns:r="http://schemas.openxmlformats.org/officeDocument/2006/relationships" id="271" r:id="Rb5584da4910f4760"/>
    <p:sldId xmlns:r="http://schemas.openxmlformats.org/officeDocument/2006/relationships" id="272" r:id="R4968e3c540264b0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1b9e3e1f0341d2" /><Relationship Type="http://schemas.openxmlformats.org/officeDocument/2006/relationships/slideMaster" Target="/ppt/slideMasters/slideMaster1.xml" Id="Rfec0af7e933a4726" /><Relationship Type="http://schemas.openxmlformats.org/officeDocument/2006/relationships/notesMaster" Target="/ppt/notesMasters/notesMaster1.xml" Id="R487d5eb72434485d" /><Relationship Type="http://schemas.openxmlformats.org/officeDocument/2006/relationships/presProps" Target="/ppt/presProps.xml" Id="Ra5a6df71339745fc" /><Relationship Type="http://schemas.openxmlformats.org/officeDocument/2006/relationships/tableStyles" Target="/ppt/tableStyles.xml" Id="R0b5e03565a3b4cac" /><Relationship Type="http://schemas.openxmlformats.org/officeDocument/2006/relationships/slide" Target="/ppt/slides/slide1.xml" Id="Re109c69bf67744d3" /><Relationship Type="http://schemas.openxmlformats.org/officeDocument/2006/relationships/slide" Target="/ppt/slides/slide2.xml" Id="R96f787a9da7d4897" /><Relationship Type="http://schemas.openxmlformats.org/officeDocument/2006/relationships/slide" Target="/ppt/slides/slide3.xml" Id="R4e2f6c8224074d82" /><Relationship Type="http://schemas.openxmlformats.org/officeDocument/2006/relationships/slide" Target="/ppt/slides/slide4.xml" Id="R2e32445958f342ca" /><Relationship Type="http://schemas.openxmlformats.org/officeDocument/2006/relationships/slide" Target="/ppt/slides/slide5.xml" Id="R182260a103b2469f" /><Relationship Type="http://schemas.openxmlformats.org/officeDocument/2006/relationships/slide" Target="/ppt/slides/slide6.xml" Id="Recdb1cc6fdb648a2" /><Relationship Type="http://schemas.openxmlformats.org/officeDocument/2006/relationships/slide" Target="/ppt/slides/slide7.xml" Id="R71e761637a544664" /><Relationship Type="http://schemas.openxmlformats.org/officeDocument/2006/relationships/slide" Target="/ppt/slides/slide8.xml" Id="R1ea6d887164242ad" /><Relationship Type="http://schemas.openxmlformats.org/officeDocument/2006/relationships/slide" Target="/ppt/slides/slide9.xml" Id="R75764e893a584f69" /><Relationship Type="http://schemas.openxmlformats.org/officeDocument/2006/relationships/slide" Target="/ppt/slides/slide10.xml" Id="Rd3cb6aff89644baf" /><Relationship Type="http://schemas.openxmlformats.org/officeDocument/2006/relationships/slide" Target="/ppt/slides/slide11.xml" Id="R65fb9fb566c84709" /><Relationship Type="http://schemas.openxmlformats.org/officeDocument/2006/relationships/slide" Target="/ppt/slides/slide12.xml" Id="Re2d73728ddb14624" /><Relationship Type="http://schemas.openxmlformats.org/officeDocument/2006/relationships/slide" Target="/ppt/slides/slide13.xml" Id="Rd9a27c3a92ea46c5" /><Relationship Type="http://schemas.openxmlformats.org/officeDocument/2006/relationships/slide" Target="/ppt/slides/slide14.xml" Id="R07bbace41c20432f" /><Relationship Type="http://schemas.openxmlformats.org/officeDocument/2006/relationships/slide" Target="/ppt/slides/slide15.xml" Id="R7e54cba8b1254f22" /><Relationship Type="http://schemas.openxmlformats.org/officeDocument/2006/relationships/slide" Target="/ppt/slides/slide16.xml" Id="Rb5584da4910f4760" /><Relationship Type="http://schemas.openxmlformats.org/officeDocument/2006/relationships/slide" Target="/ppt/slides/slide17.xml" Id="R4968e3c540264b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cc0318814c46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801809768b463c" /><Relationship Type="http://schemas.openxmlformats.org/officeDocument/2006/relationships/notesMaster" Target="/ppt/notesMasters/notesMaster1.xml" Id="Rf6fa0972a42e4b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948f1147d44fb8" /><Relationship Type="http://schemas.openxmlformats.org/officeDocument/2006/relationships/notesMaster" Target="/ppt/notesMasters/notesMaster1.xml" Id="R25ea2a01d17941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e5063c73b0484f" /><Relationship Type="http://schemas.openxmlformats.org/officeDocument/2006/relationships/notesMaster" Target="/ppt/notesMasters/notesMaster1.xml" Id="Ra143a16f649942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a1c54078814235" /><Relationship Type="http://schemas.openxmlformats.org/officeDocument/2006/relationships/notesMaster" Target="/ppt/notesMasters/notesMaster1.xml" Id="R00217c6ae39e42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3b98ce806e48bf" /><Relationship Type="http://schemas.openxmlformats.org/officeDocument/2006/relationships/notesMaster" Target="/ppt/notesMasters/notesMaster1.xml" Id="R97930dc34e9040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2c45871888448a" /><Relationship Type="http://schemas.openxmlformats.org/officeDocument/2006/relationships/notesMaster" Target="/ppt/notesMasters/notesMaster1.xml" Id="R253fa8e930c744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d519389a294349" /><Relationship Type="http://schemas.openxmlformats.org/officeDocument/2006/relationships/notesMaster" Target="/ppt/notesMasters/notesMaster1.xml" Id="Rcd0868c701fb45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6274a0a5f9c4ca2" /><Relationship Type="http://schemas.openxmlformats.org/officeDocument/2006/relationships/notesMaster" Target="/ppt/notesMasters/notesMaster1.xml" Id="R4cd1be8b60c543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17c72823374975" /><Relationship Type="http://schemas.openxmlformats.org/officeDocument/2006/relationships/notesMaster" Target="/ppt/notesMasters/notesMaster1.xml" Id="Ra090bdf42e1049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a41a4f91224943" /><Relationship Type="http://schemas.openxmlformats.org/officeDocument/2006/relationships/notesMaster" Target="/ppt/notesMasters/notesMaster1.xml" Id="R5dc05e31859743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9bce64f827465d" /><Relationship Type="http://schemas.openxmlformats.org/officeDocument/2006/relationships/notesMaster" Target="/ppt/notesMasters/notesMaster1.xml" Id="Rbfe5ad025cbe47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dd0a706d8334ee8" /><Relationship Type="http://schemas.openxmlformats.org/officeDocument/2006/relationships/notesMaster" Target="/ppt/notesMasters/notesMaster1.xml" Id="R125a5e0936bb456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3087e250394186" /><Relationship Type="http://schemas.openxmlformats.org/officeDocument/2006/relationships/notesMaster" Target="/ppt/notesMasters/notesMaster1.xml" Id="Rc6c68604da0d4ad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4e93f58f9c6474e" /><Relationship Type="http://schemas.openxmlformats.org/officeDocument/2006/relationships/notesMaster" Target="/ppt/notesMasters/notesMaster1.xml" Id="R4b87149cc53a4f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9528871c7f341b6" /><Relationship Type="http://schemas.openxmlformats.org/officeDocument/2006/relationships/notesMaster" Target="/ppt/notesMasters/notesMaster1.xml" Id="Rf181bfb24b0e4be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7878fdceaf4cff" /><Relationship Type="http://schemas.openxmlformats.org/officeDocument/2006/relationships/notesMaster" Target="/ppt/notesMasters/notesMaster1.xml" Id="Rb55ef6b64d0141b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cb7df1271024a5d" /><Relationship Type="http://schemas.openxmlformats.org/officeDocument/2006/relationships/notesMaster" Target="/ppt/notesMasters/notesMaster1.xml" Id="Rc7494767425e49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제6회 K-인공지능 제조데이터 분석 경진대회. 팀명 미정. 실제 사진 출처: docs/examples/002_20200622_203053(2).png. 학습용 처리 사진이며 실제 공장 적용 결과를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data/xray_v2/manifest.csv, 원본 데이터 감사 결과, docs/19_데이터전처리_정리본.md 0~2절. 공식 TXT 이물 수 1147. 원본 BMP 파일은 2809개이며 중복 제외 사진은2532장.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reports/eda_review_20261004/summary.json, historical_comparison.json, docs/19 2.1~2.3절. 초기점검과 시제품 뒤9/28~29상세EDA,9/30현재전처리적용.10/4동일실행기재확인. 원본2809/고유2532/사본277, 라벨500/박스1147, 긴변중앙값11픽셀. 그림은 프로젝트의 실제 통계를 그린 원본 자료이며 실험 시점과 후속 오류 분석을 구분한다.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scripts/xray_prepare_v2.py mask_palette, docs/figures/19_색표시와_정답의_차이.png. 실제 학습 사진의 처리 전후. 파랑은 TXT 설명선으로 모델 입력에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docs/examples/002_20200622_203053(2).txt, 해당 PNG, docs/figures/19_TXT라벨_사진과_좌표.png. 공식 TXT 사본이며 3개의 정답이 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data/xray_v2/split.csv 및 manifest.csv. 같은 호기에서60초 이내 연속 촬영. 목표60:20:20. 호기와 시험편 구성 고려. 라벨누락 의심 묶음 학습고정. 분할 MD5 8e58184ae24dfd1b48da2e9dfd88fedc.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scripts/xray_prepare_roadmap.py, xray_refine_removal.py, docs/figures/19_실행한_전처리_사진예시.png. 실제 생성된 학습 사진. 변환 TXT는 설명선으로 표현했으며 입력 이미지에는 포함하지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data/xray_combined_20261003/provenance.json 직접 집계. 의사 라벨 의심698장 및 보류400장은학습제외. 합성 정상82장은 실제 정상 제품의 평가를 대체하지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Ultralytics https://docs.ultralytics.com/models/yolov8/ ; Ren etal https://arxiv.org/abs/1506.01497 ; torchvision https://docs.pytorch.org/vision/0.23/models/generated/torchvision.models.detection.fasterrcnn_resnet50_fpn_v2.html ; RF-DETR https://github.com/roboflow/rf-detr ; D-FINE https://github.com/Peterande/D-FINE . D-FINE의 성능 향상은 가설이며 검증 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scripts/xray_eval.py, docs/figures/19_IoU와_중복예측_설명.png. 이 그림은 개념 설명이며 실제 예측사진이 아니다. 주지표 IoU&gt;=.5 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2026-10-04 보완: 공통 4모델 20epoch 학습과 테스트 완료. 위치 기준 FN과 표시 없는 이물 사진을 구분. 현장 작업자는 공장 품질 담당자를 뜻한다. 재검사는 의심 제품을 다시 확인하는 운영 제안이다. 실제 출하나 생산성 효과는 측정하지 않음. 근거: docs/19 9.9절, docs/20 18절, reports/common_epoch_20261004/evaluation/.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reports/common_epoch_20261004/evaluation/comparison.csv. 학습2453장, 검증107장243개, 테스트97장225개. 선택epoch 20/17/8/11. 검증에서 임계값 고정. 기존 테스트 열람 이력 있음. 모든 테스트 MPS. D-FINE CUDA→MPS 검증에서 경계 점수 한 개의 판정 차이가 있었고 임계값은 유지했다. 최종 모델 미확정.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테스트 사진 002_20200623_203040(4)의 가운데 이물. 공식 TXT9×5픽셀. IoU .469/.462/.472/.397. 9개의 실제 위치 오류 사진 시각 검토, 모델별FN14건에서TXT중심포함. 실제 픽셀 윤곽 정답은 없음. 원래 채점 보존. docs/19 9.8~9.9절.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2026-10-04 보완: 공통 4모델 20epoch 학습과 테스트 완료. 위치 기준 FN과 표시 없는 이물 사진을 구분. 현장 작업자는 공장 품질 담당자를 뜻한다. 재검사는 의심 제품을 다시 확인하는 운영 제안이다. 실제 출하나 생산성 효과는 측정하지 않음. 근거: docs/19 9.9절, docs/20 18절, reports/common_epoch_20261004/evaluation/.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산업 설계 참고: METTLER TOLEDO X-ray Inspection Guidance 5.3,6.3,17~21 https://www.mt.com/nz/en/home/library/know-how/product-inspection/PI-Guides/xray-inspection-guide/x-ray-inspection-wiki.html . 제품 분리 확인과 검사 기록의 산업 사례를 참고. 이 AI 적용안은 프로젝트 제안이며 실제 도입 성과가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제공: 현장 검사속도·재검사 가능량 정보 없음. 아래는 프로젝트가 제안하는 검증 계획. 실제 정상제품 평가, 전체라인처리지연과제품분리연결 검증은 아직 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2026-10-04 보완: 공통 4모델 20epoch 학습과 테스트 완료. 위치 기준 FN과 표시 없는 이물 사진을 구분. 현장 작업자는 공장 품질 담당자를 뜻한다. 재검사는 의심 제품을 다시 확인하는 운영 제안이다. 실제 출하나 생산성 효과는 측정하지 않음. 근거: docs/19 9.9절, docs/20 18절, reports/common_epoch_20261004/evaluation/.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fb0ccdd4474e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93da232bbd442e" /><Relationship Type="http://schemas.openxmlformats.org/officeDocument/2006/relationships/slideLayout" Target="/ppt/slideLayouts/slideLayout1.xml" Id="Rb77fbed365e047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7fbed365e047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a927d3501b438f" /><Relationship Type="http://schemas.openxmlformats.org/officeDocument/2006/relationships/image" Target="/ppt/media/image.png" Id="R1b4271e6e4814cd9" /><Relationship Type="http://schemas.openxmlformats.org/officeDocument/2006/relationships/notesSlide" Target="/ppt/notesSlides/notesSlide1.xml" Id="R6e65e0fb604c47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857495d1ddc46cc" /><Relationship Type="http://schemas.openxmlformats.org/officeDocument/2006/relationships/notesSlide" Target="/ppt/notesSlides/notesSlide2.xml" Id="R076eab27671848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ff7d9da26224247" /><Relationship Type="http://schemas.openxmlformats.org/officeDocument/2006/relationships/image" Target="/ppt/media/image2.png" Id="R231f082fc58e438d" /><Relationship Type="http://schemas.openxmlformats.org/officeDocument/2006/relationships/notesSlide" Target="/ppt/notesSlides/notesSlide3.xml" Id="Rf9e1aaba58c841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a9814f91da45d1" /><Relationship Type="http://schemas.openxmlformats.org/officeDocument/2006/relationships/image" Target="/ppt/media/image3.png" Id="Re7810d797bd044e0" /><Relationship Type="http://schemas.openxmlformats.org/officeDocument/2006/relationships/notesSlide" Target="/ppt/notesSlides/notesSlide4.xml" Id="R6714386bb0cf4e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4c5c80ae9d846db" /><Relationship Type="http://schemas.openxmlformats.org/officeDocument/2006/relationships/image" Target="/ppt/media/image4.png" Id="Rf14e3058d5f24d07" /><Relationship Type="http://schemas.openxmlformats.org/officeDocument/2006/relationships/notesSlide" Target="/ppt/notesSlides/notesSlide5.xml" Id="R06d6bd32604d42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e70c8f4765e4847" /><Relationship Type="http://schemas.openxmlformats.org/officeDocument/2006/relationships/image" Target="/ppt/media/image5.png" Id="R2e3d1d1dd7bf46b4" /><Relationship Type="http://schemas.openxmlformats.org/officeDocument/2006/relationships/notesSlide" Target="/ppt/notesSlides/notesSlide6.xml" Id="Rf9604896d3df41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9c9ce1392cd40db" /><Relationship Type="http://schemas.openxmlformats.org/officeDocument/2006/relationships/image" Target="/ppt/media/image6.png" Id="R7050e1bb2da742c0" /><Relationship Type="http://schemas.openxmlformats.org/officeDocument/2006/relationships/notesSlide" Target="/ppt/notesSlides/notesSlide7.xml" Id="R5c7135494a9147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54c0c8428a24b62" /><Relationship Type="http://schemas.openxmlformats.org/officeDocument/2006/relationships/notesSlide" Target="/ppt/notesSlides/notesSlide8.xml" Id="R7a08493abfe74a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ee98379a05a4d44" /><Relationship Type="http://schemas.openxmlformats.org/officeDocument/2006/relationships/notesSlide" Target="/ppt/notesSlides/notesSlide9.xml" Id="R649bcb8259d6471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282024543604830" /><Relationship Type="http://schemas.openxmlformats.org/officeDocument/2006/relationships/image" Target="/ppt/media/image7.png" Id="R9daab169bb184b69" /><Relationship Type="http://schemas.openxmlformats.org/officeDocument/2006/relationships/notesSlide" Target="/ppt/notesSlides/notesSlide10.xml" Id="R73a536f3035248d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f7cba35f01141d9" /><Relationship Type="http://schemas.openxmlformats.org/officeDocument/2006/relationships/notesSlide" Target="/ppt/notesSlides/notesSlide11.xml" Id="R2c9a7c8e0e13469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4ba57d85b6a4745" /><Relationship Type="http://schemas.openxmlformats.org/officeDocument/2006/relationships/notesSlide" Target="/ppt/notesSlides/notesSlide12.xml" Id="Rdb698d675527433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33e29c293ae49fc" /><Relationship Type="http://schemas.openxmlformats.org/officeDocument/2006/relationships/image" Target="/ppt/media/image8.png" Id="Rebf942c9d6324c8f" /><Relationship Type="http://schemas.openxmlformats.org/officeDocument/2006/relationships/notesSlide" Target="/ppt/notesSlides/notesSlide13.xml" Id="R780bf02b293d45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09dccd28f28436e" /><Relationship Type="http://schemas.openxmlformats.org/officeDocument/2006/relationships/notesSlide" Target="/ppt/notesSlides/notesSlide14.xml" Id="Rf24bed5d46a14da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2e413e15f9e4a12" /><Relationship Type="http://schemas.openxmlformats.org/officeDocument/2006/relationships/notesSlide" Target="/ppt/notesSlides/notesSlide15.xml" Id="Raec44cae9350440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6a1a20cf0484c81" /><Relationship Type="http://schemas.openxmlformats.org/officeDocument/2006/relationships/notesSlide" Target="/ppt/notesSlides/notesSlide16.xml" Id="Rbc233b5df18b43f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f559e95f86d46b7" /><Relationship Type="http://schemas.openxmlformats.org/officeDocument/2006/relationships/notesSlide" Target="/ppt/notesSlides/notesSlide17.xml" Id="R240a236102c342d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63AC4D-B734-44A3-B73A-AEA459638FA8}"/>
              </a:ext>
            </a:extLst>
          </p:cNvPr>
          <p:cNvSpPr>
            <a:spLocks xmlns:a="http://schemas.openxmlformats.org/drawingml/2006/main" noGrp="1"/>
          </p:cNvSpPr>
          <p:nvPr/>
        </p:nvSpPr>
        <p:spPr>
          <a:xfrm xmlns:a="http://schemas.openxmlformats.org/drawingml/2006/main">
            <a:off x="609600" y="361950"/>
            <a:ext cx="10858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4200" b="1">
                <a:solidFill>
                  <a:srgbClr val="162832"/>
                </a:solidFill>
                <a:latin typeface="Apple SD Gothic Neo"/>
                <a:ea typeface="Apple SD Gothic Neo"/>
                <a:cs typeface="Apple SD Gothic Neo"/>
              </a:defRPr>
            </a:pPr>
            <a:r>
              <a:rPr sz="4200" b="1">
                <a:solidFill>
                  <a:srgbClr val="162832"/>
                </a:solidFill>
                <a:latin typeface="Apple SD Gothic Neo"/>
                <a:ea typeface="Apple SD Gothic Neo"/>
                <a:cs typeface="Apple SD Gothic Neo"/>
              </a:rPr>
              <a:t>X-ray 이물 탐지와</a:t>
            </a:r>
          </a:p>
          <a:p xmlns:a="http://schemas.openxmlformats.org/drawingml/2006/main">
            <a:pPr>
              <a:buNone/>
              <a:defRPr sz="4200" b="1">
                <a:solidFill>
                  <a:srgbClr val="162832"/>
                </a:solidFill>
                <a:latin typeface="Apple SD Gothic Neo"/>
                <a:ea typeface="Apple SD Gothic Neo"/>
                <a:cs typeface="Apple SD Gothic Neo"/>
              </a:defRPr>
            </a:pPr>
            <a:r>
              <a:rPr sz="4200" b="1">
                <a:solidFill>
                  <a:srgbClr val="162832"/>
                </a:solidFill>
                <a:latin typeface="Apple SD Gothic Neo"/>
                <a:ea typeface="Apple SD Gothic Neo"/>
                <a:cs typeface="Apple SD Gothic Neo"/>
              </a:rPr>
              <a:t>조건별 오류 분석 기반 재검사 설계</a:t>
            </a:r>
          </a:p>
        </p:txBody>
      </p:sp>
      <p:sp>
        <p:nvSpPr>
          <p:cNvPr id="2" name="">
            <a:extLst xmlns:a="http://schemas.openxmlformats.org/drawingml/2006/main">
              <a:ext uri="{FF2B5EF4-FFF2-40B4-BE49-F238E27FC236}">
                <a16:creationId xmlns:a16="http://schemas.microsoft.com/office/drawing/2014/main" id="{E1CAF826-FF80-4710-A738-F6793FDC26A9}"/>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a:t>
            </a:r>
          </a:p>
        </p:txBody>
      </p:sp>
      <p:sp>
        <p:nvSpPr>
          <p:cNvPr id="3" name="">
            <a:extLst xmlns:a="http://schemas.openxmlformats.org/drawingml/2006/main">
              <a:ext uri="{FF2B5EF4-FFF2-40B4-BE49-F238E27FC236}">
                <a16:creationId xmlns:a16="http://schemas.microsoft.com/office/drawing/2014/main" id="{11A0139E-0712-4916-9A5E-86EECA6F85D3}"/>
              </a:ext>
            </a:extLst>
          </p:cNvPr>
          <p:cNvSpPr>
            <a:spLocks xmlns:a="http://schemas.openxmlformats.org/drawingml/2006/main" noGrp="1"/>
          </p:cNvSpPr>
          <p:nvPr/>
        </p:nvSpPr>
        <p:spPr>
          <a:xfrm xmlns:a="http://schemas.openxmlformats.org/drawingml/2006/main">
            <a:off x="609600" y="278130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53616A"/>
                </a:solidFill>
                <a:latin typeface="Apple SD Gothic Neo"/>
                <a:ea typeface="Apple SD Gothic Neo"/>
                <a:cs typeface="Apple SD Gothic Neo"/>
              </a:defRPr>
            </a:pPr>
            <a:r>
              <a:rPr sz="1950" b="0">
                <a:solidFill>
                  <a:srgbClr val="53616A"/>
                </a:solidFill>
                <a:latin typeface="Apple SD Gothic Neo"/>
                <a:ea typeface="Apple SD Gothic Neo"/>
                <a:cs typeface="Apple SD Gothic Neo"/>
              </a:rPr>
              <a:t>제6회 K-인공지능 제조데이터 분석 경진대회</a:t>
            </a:r>
          </a:p>
        </p:txBody>
      </p:sp>
      <p:sp>
        <p:nvSpPr>
          <p:cNvPr id="4" name="">
            <a:extLst xmlns:a="http://schemas.openxmlformats.org/drawingml/2006/main">
              <a:ext uri="{FF2B5EF4-FFF2-40B4-BE49-F238E27FC236}">
                <a16:creationId xmlns:a16="http://schemas.microsoft.com/office/drawing/2014/main" id="{1D14D0A3-727C-4D80-8A62-97254EB1E8E0}"/>
              </a:ext>
            </a:extLst>
          </p:cNvPr>
          <p:cNvSpPr>
            <a:spLocks xmlns:a="http://schemas.openxmlformats.org/drawingml/2006/main" noGrp="1"/>
          </p:cNvSpPr>
          <p:nvPr/>
        </p:nvSpPr>
        <p:spPr>
          <a:xfrm xmlns:a="http://schemas.openxmlformats.org/drawingml/2006/main">
            <a:off x="609600" y="3638550"/>
            <a:ext cx="6238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검토본 2026.10.04</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EDA와 공통 4모델 결과 보완</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b4271e6e4814cd9"/>
          <a:stretch xmlns:a="http://schemas.openxmlformats.org/drawingml/2006/main"/>
        </p:blipFill>
        <p:spPr>
          <a:xfrm xmlns:a="http://schemas.openxmlformats.org/drawingml/2006/main">
            <a:off x="8020624" y="2628900"/>
            <a:ext cx="3332602" cy="3143250"/>
          </a:xfrm>
          <a:prstGeom xmlns:a="http://schemas.openxmlformats.org/drawingml/2006/main" prst="rect">
            <a:avLst/>
          </a:prstGeom>
        </p:spPr>
      </p:pic>
    </p:spTree>
    <p:extLst>
      <p:ext uri="{BB962C8B-B14F-4D97-AF65-F5344CB8AC3E}">
        <p14:creationId xmlns:p14="http://schemas.microsoft.com/office/powerpoint/2010/main" val="3080822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AEDD68-C51B-4253-A2F9-924DB10EA89C}"/>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분석 대상과 데이터 구성</a:t>
            </a:r>
          </a:p>
        </p:txBody>
      </p:sp>
      <p:sp>
        <p:nvSpPr>
          <p:cNvPr id="2" name="">
            <a:extLst xmlns:a="http://schemas.openxmlformats.org/drawingml/2006/main">
              <a:ext uri="{FF2B5EF4-FFF2-40B4-BE49-F238E27FC236}">
                <a16:creationId xmlns:a16="http://schemas.microsoft.com/office/drawing/2014/main" id="{868B2617-469F-448D-885F-B849EEE890D8}"/>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2</a:t>
            </a:r>
          </a:p>
        </p:txBody>
      </p:sp>
      <p:graphicFrame>
        <p:nvGraphicFramePr>
          <p:cNvPr id="9" name=""/>
          <p:cNvGraphicFramePr/>
          <p:nvPr/>
        </p:nvGraphicFramePr>
        <p:xfrm>
          <a:off xmlns:a="http://schemas.openxmlformats.org/drawingml/2006/main" x="609600" y="1552575"/>
          <a:ext xmlns:a="http://schemas.openxmlformats.org/drawingml/2006/main" cx="10972800" cy="2857500"/>
        </p:xfrm>
        <a:graphic xmlns:a="http://schemas.openxmlformats.org/drawingml/2006/main">
          <a:graphicData uri="http://schemas.openxmlformats.org/drawingml/2006/table">
            <a:tbl>
              <a:tblPr/>
              <a:tblGrid>
                <a:gridCol w="3810000"/>
                <a:gridCol w="1524000"/>
                <a:gridCol w="5638800"/>
              </a:tblGrid>
              <a:tr h="714375">
                <a:tc>
                  <a:txBody>
                    <a:bodyPr lIns="133350" tIns="85725" rIns="114300" bIns="85725"/>
                    <a:lstStyle/>
                    <a:p>
                      <a:r>
                        <a:rPr sz="1875" b="1">
                          <a:solidFill>
                            <a:srgbClr val="FFFFFF"/>
                          </a:solidFill>
                          <a:latin typeface="Apple SD Gothic Neo"/>
                          <a:ea typeface="Apple SD Gothic Neo"/>
                          <a:cs typeface="Apple SD Gothic Neo"/>
                        </a:rPr>
                        <a:t>자료</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사진 수</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뜻</a:t>
                      </a:r>
                    </a:p>
                  </a:txBody>
                  <a:tcPr marL="91440" marR="91440" marT="45720" marB="45720" anchor="ctr">
                    <a:solidFill>
                      <a:srgbClr val="193C4D"/>
                    </a:solidFill>
                  </a:tcPr>
                </a:tc>
              </a:tr>
              <a:tr h="714375">
                <a:tc>
                  <a:txBody>
                    <a:bodyPr lIns="133350" tIns="85725" rIns="114300" bIns="85725"/>
                    <a:lstStyle/>
                    <a:p>
                      <a:r>
                        <a:rPr sz="1875" b="0">
                          <a:solidFill>
                            <a:srgbClr val="162832"/>
                          </a:solidFill>
                          <a:latin typeface="Apple SD Gothic Neo"/>
                          <a:ea typeface="Apple SD Gothic Neo"/>
                          <a:cs typeface="Apple SD Gothic Neo"/>
                        </a:rPr>
                        <a:t>원본 데이터셋</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2,532</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중복을 제외한 고유 사진</a:t>
                      </a:r>
                    </a:p>
                  </a:txBody>
                  <a:tcPr marL="91440" marR="91440" marT="45720" marB="45720" anchor="ctr">
                    <a:solidFill>
                      <a:srgbClr val="FFFFFF"/>
                    </a:solidFill>
                  </a:tcPr>
                </a:tc>
              </a:tr>
              <a:tr h="714375">
                <a:tc>
                  <a:txBody>
                    <a:bodyPr lIns="133350" tIns="85725" rIns="114300" bIns="85725"/>
                    <a:lstStyle/>
                    <a:p>
                      <a:r>
                        <a:rPr sz="1875" b="0">
                          <a:solidFill>
                            <a:srgbClr val="162832"/>
                          </a:solidFill>
                          <a:latin typeface="Apple SD Gothic Neo"/>
                          <a:ea typeface="Apple SD Gothic Neo"/>
                          <a:cs typeface="Apple SD Gothic Neo"/>
                        </a:rPr>
                        <a:t>라벨 제공 데이터셋</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500</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공식 TXT가 있는 사진</a:t>
                      </a:r>
                    </a:p>
                  </a:txBody>
                  <a:tcPr marL="91440" marR="91440" marT="45720" marB="45720" anchor="ctr">
                    <a:solidFill>
                      <a:srgbClr val="F1F5F6"/>
                    </a:solidFill>
                  </a:tcPr>
                </a:tc>
              </a:tr>
              <a:tr h="714375">
                <a:tc>
                  <a:txBody>
                    <a:bodyPr lIns="133350" tIns="85725" rIns="114300" bIns="85725"/>
                    <a:lstStyle/>
                    <a:p>
                      <a:r>
                        <a:rPr sz="1875" b="0">
                          <a:solidFill>
                            <a:srgbClr val="162832"/>
                          </a:solidFill>
                          <a:latin typeface="Apple SD Gothic Neo"/>
                          <a:ea typeface="Apple SD Gothic Neo"/>
                          <a:cs typeface="Apple SD Gothic Neo"/>
                        </a:rPr>
                        <a:t>미라벨 데이터셋</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2,032</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TXT 없음. 정상이라는 뜻은 아님</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DF7DB2D-9847-4211-A5AE-165606A6FB74}"/>
              </a:ext>
            </a:extLst>
          </p:cNvPr>
          <p:cNvSpPr>
            <a:spLocks xmlns:a="http://schemas.openxmlformats.org/drawingml/2006/main" noGrp="1"/>
          </p:cNvSpPr>
          <p:nvPr/>
        </p:nvSpPr>
        <p:spPr>
          <a:xfrm xmlns:a="http://schemas.openxmlformats.org/drawingml/2006/main">
            <a:off x="609600" y="481012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라벨 제공 데이터셋은 시험편 사진입니다.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실제 정상 제품과 다양한 혼입 이물의 대표성은 별도 검증이 필요합니다.</a:t>
            </a:r>
          </a:p>
        </p:txBody>
      </p:sp>
    </p:spTree>
    <p:extLst>
      <p:ext uri="{BB962C8B-B14F-4D97-AF65-F5344CB8AC3E}">
        <p14:creationId xmlns:p14="http://schemas.microsoft.com/office/powerpoint/2010/main" val="10752743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92117D-ACBB-4302-8FDB-2822230FB68A}"/>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EDA와 전처리 선택 근거</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31f082fc58e438d"/>
          <a:stretch xmlns:a="http://schemas.openxmlformats.org/drawingml/2006/main"/>
        </p:blipFill>
        <p:spPr>
          <a:xfrm xmlns:a="http://schemas.openxmlformats.org/drawingml/2006/main">
            <a:off x="2075564" y="1285875"/>
            <a:ext cx="8040872" cy="3143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BD180D2-5540-41FF-B3E9-5C37995F1FFA}"/>
              </a:ext>
            </a:extLst>
          </p:cNvPr>
          <p:cNvSpPr>
            <a:spLocks xmlns:a="http://schemas.openxmlformats.org/drawingml/2006/main" noGrp="1"/>
          </p:cNvSpPr>
          <p:nvPr/>
        </p:nvSpPr>
        <p:spPr>
          <a:xfrm xmlns:a="http://schemas.openxmlformats.org/drawingml/2006/main">
            <a:off x="609600" y="45434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중복 사본 277개를 확인해 고유 사진 2,532장을 구분했습니다.</a:t>
            </a:r>
          </a:p>
        </p:txBody>
      </p:sp>
      <p:sp>
        <p:nvSpPr>
          <p:cNvPr id="4" name="">
            <a:extLst xmlns:a="http://schemas.openxmlformats.org/drawingml/2006/main">
              <a:ext uri="{FF2B5EF4-FFF2-40B4-BE49-F238E27FC236}">
                <a16:creationId xmlns:a16="http://schemas.microsoft.com/office/drawing/2014/main" id="{E747FF03-B32F-45E2-9F6C-E978D54B1CFB}"/>
              </a:ext>
            </a:extLst>
          </p:cNvPr>
          <p:cNvSpPr>
            <a:spLocks xmlns:a="http://schemas.openxmlformats.org/drawingml/2006/main" noGrp="1"/>
          </p:cNvSpPr>
          <p:nvPr/>
        </p:nvSpPr>
        <p:spPr>
          <a:xfrm xmlns:a="http://schemas.openxmlformats.org/drawingml/2006/main">
            <a:off x="609600" y="4953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작은 박스가 많아 색 네모의 테두리 픽셀만 제거했습니다.</a:t>
            </a:r>
          </a:p>
        </p:txBody>
      </p:sp>
      <p:sp>
        <p:nvSpPr>
          <p:cNvPr id="5" name="">
            <a:extLst xmlns:a="http://schemas.openxmlformats.org/drawingml/2006/main">
              <a:ext uri="{FF2B5EF4-FFF2-40B4-BE49-F238E27FC236}">
                <a16:creationId xmlns:a16="http://schemas.microsoft.com/office/drawing/2014/main" id="{C8E80BE2-C39C-4B86-8DEA-24E1B481C62B}"/>
              </a:ext>
            </a:extLst>
          </p:cNvPr>
          <p:cNvSpPr>
            <a:spLocks xmlns:a="http://schemas.openxmlformats.org/drawingml/2006/main" noGrp="1"/>
          </p:cNvSpPr>
          <p:nvPr/>
        </p:nvSpPr>
        <p:spPr>
          <a:xfrm xmlns:a="http://schemas.openxmlformats.org/drawingml/2006/main">
            <a:off x="609600" y="53625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연속 촬영 구조를 확인해 촬영 묶음을 유지하며 분할했습니다.</a:t>
            </a:r>
          </a:p>
        </p:txBody>
      </p:sp>
      <p:sp>
        <p:nvSpPr>
          <p:cNvPr id="6" name="">
            <a:extLst xmlns:a="http://schemas.openxmlformats.org/drawingml/2006/main">
              <a:ext uri="{FF2B5EF4-FFF2-40B4-BE49-F238E27FC236}">
                <a16:creationId xmlns:a16="http://schemas.microsoft.com/office/drawing/2014/main" id="{02D652C7-AA5D-4786-B76B-D9B305E25E44}"/>
              </a:ext>
            </a:extLst>
          </p:cNvPr>
          <p:cNvSpPr>
            <a:spLocks xmlns:a="http://schemas.openxmlformats.org/drawingml/2006/main" noGrp="1"/>
          </p:cNvSpPr>
          <p:nvPr/>
        </p:nvSpPr>
        <p:spPr>
          <a:xfrm xmlns:a="http://schemas.openxmlformats.org/drawingml/2006/main">
            <a:off x="609600" y="57721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62832"/>
                </a:solidFill>
                <a:latin typeface="Apple SD Gothic Neo"/>
                <a:ea typeface="Apple SD Gothic Neo"/>
                <a:cs typeface="Apple SD Gothic Neo"/>
              </a:defRPr>
            </a:pPr>
            <a:r>
              <a:rPr sz="1950" b="0">
                <a:solidFill>
                  <a:srgbClr val="162832"/>
                </a:solidFill>
                <a:latin typeface="Apple SD Gothic Neo"/>
                <a:ea typeface="Apple SD Gothic Neo"/>
                <a:cs typeface="Apple SD Gothic Neo"/>
              </a:rPr>
              <a:t>시험편 중심 자료입니다. 실제 정상 제품 평가 자료는 없습니다.</a:t>
            </a:r>
          </a:p>
        </p:txBody>
      </p:sp>
      <p:sp>
        <p:nvSpPr>
          <p:cNvPr id="7" name="">
            <a:extLst xmlns:a="http://schemas.openxmlformats.org/drawingml/2006/main">
              <a:ext uri="{FF2B5EF4-FFF2-40B4-BE49-F238E27FC236}">
                <a16:creationId xmlns:a16="http://schemas.microsoft.com/office/drawing/2014/main" id="{4C1C198B-94CC-4DA5-9AE6-C50F373C2647}"/>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162832"/>
                </a:solidFill>
                <a:latin typeface="Apple SD Gothic Neo"/>
                <a:ea typeface="Apple SD Gothic Neo"/>
                <a:cs typeface="Apple SD Gothic Neo"/>
              </a:defRPr>
            </a:pPr>
            <a:r>
              <a:rPr sz="1350" b="0">
                <a:solidFill>
                  <a:srgbClr val="162832"/>
                </a:solidFill>
                <a:latin typeface="Apple SD Gothic Neo"/>
                <a:ea typeface="Apple SD Gothic Neo"/>
                <a:cs typeface="Apple SD Gothic Neo"/>
              </a:rPr>
              <a:t>3</a:t>
            </a:r>
          </a:p>
        </p:txBody>
      </p:sp>
    </p:spTree>
    <p:extLst>
      <p:ext uri="{BB962C8B-B14F-4D97-AF65-F5344CB8AC3E}">
        <p14:creationId xmlns:p14="http://schemas.microsoft.com/office/powerpoint/2010/main" val="1233303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0A831E-878B-4BB0-8305-E4F02DEF4BF2}"/>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색 네모만 제거하고 이물의 모습을 남김</a:t>
            </a:r>
          </a:p>
        </p:txBody>
      </p:sp>
      <p:sp>
        <p:nvSpPr>
          <p:cNvPr id="2" name="">
            <a:extLst xmlns:a="http://schemas.openxmlformats.org/drawingml/2006/main">
              <a:ext uri="{FF2B5EF4-FFF2-40B4-BE49-F238E27FC236}">
                <a16:creationId xmlns:a16="http://schemas.microsoft.com/office/drawing/2014/main" id="{997CA82F-6B63-4F66-9882-2AC40990E47B}"/>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4</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7810d797bd044e0"/>
          <a:stretch xmlns:a="http://schemas.openxmlformats.org/drawingml/2006/main"/>
        </p:blipFill>
        <p:spPr>
          <a:xfrm xmlns:a="http://schemas.openxmlformats.org/drawingml/2006/main">
            <a:off x="1809750" y="1419225"/>
            <a:ext cx="8572500"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DE65697-B991-47C1-9FBE-C231FD2E0807}"/>
              </a:ext>
            </a:extLst>
          </p:cNvPr>
          <p:cNvSpPr>
            <a:spLocks xmlns:a="http://schemas.openxmlformats.org/drawingml/2006/main" noGrp="1"/>
          </p:cNvSpPr>
          <p:nvPr/>
        </p:nvSpPr>
        <p:spPr>
          <a:xfrm xmlns:a="http://schemas.openxmlformats.org/drawingml/2006/main">
            <a:off x="609600" y="5334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팔레트 244~255 픽셀만 선택하고 주변 영상으로 메웠습니다.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선 아래의 원래 밝기는 추정값입니다. 공식 TXT는 별도로 보존했습니다.</a:t>
            </a:r>
          </a:p>
        </p:txBody>
      </p:sp>
    </p:spTree>
    <p:extLst>
      <p:ext uri="{BB962C8B-B14F-4D97-AF65-F5344CB8AC3E}">
        <p14:creationId xmlns:p14="http://schemas.microsoft.com/office/powerpoint/2010/main" val="20649390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942818-7EBA-4B39-BC0E-35BCD7345C32}"/>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TXT 한 줄은 이물 하나의 위치</a:t>
            </a:r>
          </a:p>
        </p:txBody>
      </p:sp>
      <p:sp>
        <p:nvSpPr>
          <p:cNvPr id="2" name="">
            <a:extLst xmlns:a="http://schemas.openxmlformats.org/drawingml/2006/main">
              <a:ext uri="{FF2B5EF4-FFF2-40B4-BE49-F238E27FC236}">
                <a16:creationId xmlns:a16="http://schemas.microsoft.com/office/drawing/2014/main" id="{56832DEB-99DC-4F01-A2DC-B9F09EAE7585}"/>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14e3058d5f24d07"/>
          <a:stretch xmlns:a="http://schemas.openxmlformats.org/drawingml/2006/main"/>
        </p:blipFill>
        <p:spPr>
          <a:xfrm xmlns:a="http://schemas.openxmlformats.org/drawingml/2006/main">
            <a:off x="2197474" y="1314450"/>
            <a:ext cx="7797053" cy="47339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4920E5A-BFBA-4CD2-BFFD-8D4FF218E40C}"/>
              </a:ext>
            </a:extLst>
          </p:cNvPr>
          <p:cNvSpPr>
            <a:spLocks xmlns:a="http://schemas.openxmlformats.org/drawingml/2006/main" noGrp="1"/>
          </p:cNvSpPr>
          <p:nvPr/>
        </p:nvSpPr>
        <p:spPr>
          <a:xfrm xmlns:a="http://schemas.openxmlformats.org/drawingml/2006/main">
            <a:off x="609600" y="60483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종류 번호 0은 이물을 뜻합니다. 좌표는 사진 크기에 대한 비율입니다.</a:t>
            </a:r>
          </a:p>
        </p:txBody>
      </p:sp>
    </p:spTree>
    <p:extLst>
      <p:ext uri="{BB962C8B-B14F-4D97-AF65-F5344CB8AC3E}">
        <p14:creationId xmlns:p14="http://schemas.microsoft.com/office/powerpoint/2010/main" val="6928671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081DF8-AB73-4231-8601-08F7B132C54D}"/>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연속 사진은 같은 촬영 묶음에 배정</a:t>
            </a:r>
          </a:p>
        </p:txBody>
      </p:sp>
      <p:sp>
        <p:nvSpPr>
          <p:cNvPr id="2" name="">
            <a:extLst xmlns:a="http://schemas.openxmlformats.org/drawingml/2006/main">
              <a:ext uri="{FF2B5EF4-FFF2-40B4-BE49-F238E27FC236}">
                <a16:creationId xmlns:a16="http://schemas.microsoft.com/office/drawing/2014/main" id="{47F877AE-6090-435B-8D0B-87F0FB5C3A73}"/>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6</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e3d1d1dd7bf46b4"/>
          <a:stretch xmlns:a="http://schemas.openxmlformats.org/drawingml/2006/main"/>
        </p:blipFill>
        <p:spPr>
          <a:xfrm xmlns:a="http://schemas.openxmlformats.org/drawingml/2006/main">
            <a:off x="1524000" y="1467283"/>
            <a:ext cx="9144000" cy="399010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7A2460F-1DB0-4AF7-8D38-E7070096AE08}"/>
              </a:ext>
            </a:extLst>
          </p:cNvPr>
          <p:cNvSpPr>
            <a:spLocks xmlns:a="http://schemas.openxmlformats.org/drawingml/2006/main" noGrp="1"/>
          </p:cNvSpPr>
          <p:nvPr/>
        </p:nvSpPr>
        <p:spPr>
          <a:xfrm xmlns:a="http://schemas.openxmlformats.org/drawingml/2006/main">
            <a:off x="609600" y="55721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기본 학습 296장     검증 107장     테스트 97장</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비슷한 연속 사진이 학습과 평가에 함께 들어가는 것을 줄였습니다.</a:t>
            </a:r>
          </a:p>
        </p:txBody>
      </p:sp>
    </p:spTree>
    <p:extLst>
      <p:ext uri="{BB962C8B-B14F-4D97-AF65-F5344CB8AC3E}">
        <p14:creationId xmlns:p14="http://schemas.microsoft.com/office/powerpoint/2010/main" val="4613605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5E1E57-23F2-45A6-AEB5-2E48466F72F3}"/>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사진 전체 변형과 이물 합성 및 제거</a:t>
            </a:r>
          </a:p>
        </p:txBody>
      </p:sp>
      <p:sp>
        <p:nvSpPr>
          <p:cNvPr id="2" name="">
            <a:extLst xmlns:a="http://schemas.openxmlformats.org/drawingml/2006/main">
              <a:ext uri="{FF2B5EF4-FFF2-40B4-BE49-F238E27FC236}">
                <a16:creationId xmlns:a16="http://schemas.microsoft.com/office/drawing/2014/main" id="{D333E661-667A-4AA1-8957-F0D371DA8F95}"/>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7</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050e1bb2da742c0"/>
          <a:stretch xmlns:a="http://schemas.openxmlformats.org/drawingml/2006/main"/>
        </p:blipFill>
        <p:spPr>
          <a:xfrm xmlns:a="http://schemas.openxmlformats.org/drawingml/2006/main">
            <a:off x="2622021" y="1304925"/>
            <a:ext cx="6947958" cy="4810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E25A9F2-7775-4852-A430-A988268157A9}"/>
              </a:ext>
            </a:extLst>
          </p:cNvPr>
          <p:cNvSpPr>
            <a:spLocks xmlns:a="http://schemas.openxmlformats.org/drawingml/2006/main" noGrp="1"/>
          </p:cNvSpPr>
          <p:nvPr/>
        </p:nvSpPr>
        <p:spPr>
          <a:xfrm xmlns:a="http://schemas.openxmlformats.org/drawingml/2006/main">
            <a:off x="609600" y="61436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162832"/>
                </a:solidFill>
                <a:latin typeface="Apple SD Gothic Neo"/>
                <a:ea typeface="Apple SD Gothic Neo"/>
                <a:cs typeface="Apple SD Gothic Neo"/>
              </a:defRPr>
            </a:pPr>
            <a:r>
              <a:rPr sz="1875" b="0">
                <a:solidFill>
                  <a:srgbClr val="162832"/>
                </a:solidFill>
                <a:latin typeface="Apple SD Gothic Neo"/>
                <a:ea typeface="Apple SD Gothic Neo"/>
                <a:cs typeface="Apple SD Gothic Neo"/>
              </a:rPr>
              <a:t>증강은 기본 학습 데이터셋에서만 만들었습니다. 검증·테스트에는 추가하지 않았습니다.</a:t>
            </a:r>
          </a:p>
        </p:txBody>
      </p:sp>
    </p:spTree>
    <p:extLst>
      <p:ext uri="{BB962C8B-B14F-4D97-AF65-F5344CB8AC3E}">
        <p14:creationId xmlns:p14="http://schemas.microsoft.com/office/powerpoint/2010/main" val="8451225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2A4EC49-3648-4C81-8E30-D7EEB6588471}"/>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전체 혼합 학습 자료 2,453장</a:t>
            </a:r>
          </a:p>
        </p:txBody>
      </p:sp>
      <p:sp>
        <p:nvSpPr>
          <p:cNvPr id="2" name="">
            <a:extLst xmlns:a="http://schemas.openxmlformats.org/drawingml/2006/main">
              <a:ext uri="{FF2B5EF4-FFF2-40B4-BE49-F238E27FC236}">
                <a16:creationId xmlns:a16="http://schemas.microsoft.com/office/drawing/2014/main" id="{C98A7843-7C36-426F-9F6D-EFF60B808AFD}"/>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8</a:t>
            </a:r>
          </a:p>
        </p:txBody>
      </p:sp>
      <p:graphicFrame>
        <p:nvGraphicFramePr>
          <p:cNvPr id="10" name=""/>
          <p:cNvGraphicFramePr/>
          <p:nvPr/>
        </p:nvGraphicFramePr>
        <p:xfrm>
          <a:off xmlns:a="http://schemas.openxmlformats.org/drawingml/2006/main" x="609600" y="1438275"/>
          <a:ext xmlns:a="http://schemas.openxmlformats.org/drawingml/2006/main" cx="5905500" cy="4467225"/>
        </p:xfrm>
        <a:graphic xmlns:a="http://schemas.openxmlformats.org/drawingml/2006/main">
          <a:graphicData uri="http://schemas.openxmlformats.org/drawingml/2006/table">
            <a:tbl>
              <a:tblPr/>
              <a:tblGrid>
                <a:gridCol w="4286250"/>
                <a:gridCol w="1619250"/>
              </a:tblGrid>
              <a:tr h="638175">
                <a:tc>
                  <a:txBody>
                    <a:bodyPr lIns="133350" tIns="85725" rIns="114300" bIns="85725"/>
                    <a:lstStyle/>
                    <a:p>
                      <a:r>
                        <a:rPr sz="1875" b="1">
                          <a:solidFill>
                            <a:srgbClr val="FFFFFF"/>
                          </a:solidFill>
                          <a:latin typeface="Apple SD Gothic Neo"/>
                          <a:ea typeface="Apple SD Gothic Neo"/>
                          <a:cs typeface="Apple SD Gothic Neo"/>
                        </a:rPr>
                        <a:t>학습 자료</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사진 수</a:t>
                      </a:r>
                    </a:p>
                  </a:txBody>
                  <a:tcPr marL="91440" marR="91440" marT="45720" marB="45720" anchor="ctr">
                    <a:solidFill>
                      <a:srgbClr val="193C4D"/>
                    </a:solidFill>
                  </a:tcPr>
                </a:tc>
              </a:tr>
              <a:tr h="638175">
                <a:tc>
                  <a:txBody>
                    <a:bodyPr lIns="133350" tIns="85725" rIns="114300" bIns="85725"/>
                    <a:lstStyle/>
                    <a:p>
                      <a:r>
                        <a:rPr sz="1875" b="0">
                          <a:solidFill>
                            <a:srgbClr val="162832"/>
                          </a:solidFill>
                          <a:latin typeface="Apple SD Gothic Neo"/>
                          <a:ea typeface="Apple SD Gothic Neo"/>
                          <a:cs typeface="Apple SD Gothic Neo"/>
                        </a:rPr>
                        <a:t>기본 학습</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296</a:t>
                      </a:r>
                    </a:p>
                  </a:txBody>
                  <a:tcPr marL="91440" marR="91440" marT="45720" marB="45720" anchor="ctr">
                    <a:solidFill>
                      <a:srgbClr val="FFFFFF"/>
                    </a:solidFill>
                  </a:tcPr>
                </a:tc>
              </a:tr>
              <a:tr h="638175">
                <a:tc>
                  <a:txBody>
                    <a:bodyPr lIns="133350" tIns="85725" rIns="114300" bIns="85725"/>
                    <a:lstStyle/>
                    <a:p>
                      <a:r>
                        <a:rPr sz="1875" b="0">
                          <a:solidFill>
                            <a:srgbClr val="162832"/>
                          </a:solidFill>
                          <a:latin typeface="Apple SD Gothic Neo"/>
                          <a:ea typeface="Apple SD Gothic Neo"/>
                          <a:cs typeface="Apple SD Gothic Neo"/>
                        </a:rPr>
                        <a:t>자르기와 전체 회전</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885</a:t>
                      </a:r>
                    </a:p>
                  </a:txBody>
                  <a:tcPr marL="91440" marR="91440" marT="45720" marB="45720" anchor="ctr">
                    <a:solidFill>
                      <a:srgbClr val="F1F5F6"/>
                    </a:solidFill>
                  </a:tcPr>
                </a:tc>
              </a:tr>
              <a:tr h="638175">
                <a:tc>
                  <a:txBody>
                    <a:bodyPr lIns="133350" tIns="85725" rIns="114300" bIns="85725"/>
                    <a:lstStyle/>
                    <a:p>
                      <a:r>
                        <a:rPr sz="1875" b="0">
                          <a:solidFill>
                            <a:srgbClr val="162832"/>
                          </a:solidFill>
                          <a:latin typeface="Apple SD Gothic Neo"/>
                          <a:ea typeface="Apple SD Gothic Neo"/>
                          <a:cs typeface="Apple SD Gothic Neo"/>
                        </a:rPr>
                        <a:t>이물 전부·일부 제거</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175</a:t>
                      </a:r>
                    </a:p>
                  </a:txBody>
                  <a:tcPr marL="91440" marR="91440" marT="45720" marB="45720" anchor="ctr">
                    <a:solidFill>
                      <a:srgbClr val="FFFFFF"/>
                    </a:solidFill>
                  </a:tcPr>
                </a:tc>
              </a:tr>
              <a:tr h="638175">
                <a:tc>
                  <a:txBody>
                    <a:bodyPr lIns="133350" tIns="85725" rIns="114300" bIns="85725"/>
                    <a:lstStyle/>
                    <a:p>
                      <a:r>
                        <a:rPr sz="1875" b="0">
                          <a:solidFill>
                            <a:srgbClr val="162832"/>
                          </a:solidFill>
                          <a:latin typeface="Apple SD Gothic Neo"/>
                          <a:ea typeface="Apple SD Gothic Neo"/>
                          <a:cs typeface="Apple SD Gothic Neo"/>
                        </a:rPr>
                        <a:t>막대 밖 이물 합성</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295</a:t>
                      </a:r>
                    </a:p>
                  </a:txBody>
                  <a:tcPr marL="91440" marR="91440" marT="45720" marB="45720" anchor="ctr">
                    <a:solidFill>
                      <a:srgbClr val="F1F5F6"/>
                    </a:solidFill>
                  </a:tcPr>
                </a:tc>
              </a:tr>
              <a:tr h="638175">
                <a:tc>
                  <a:txBody>
                    <a:bodyPr lIns="133350" tIns="85725" rIns="114300" bIns="85725"/>
                    <a:lstStyle/>
                    <a:p>
                      <a:r>
                        <a:rPr sz="1875" b="0">
                          <a:solidFill>
                            <a:srgbClr val="162832"/>
                          </a:solidFill>
                          <a:latin typeface="Apple SD Gothic Neo"/>
                          <a:ea typeface="Apple SD Gothic Neo"/>
                          <a:cs typeface="Apple SD Gothic Neo"/>
                        </a:rPr>
                        <a:t>자동 채택 의사 라벨</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802</a:t>
                      </a:r>
                    </a:p>
                  </a:txBody>
                  <a:tcPr marL="91440" marR="91440" marT="45720" marB="45720" anchor="ctr">
                    <a:solidFill>
                      <a:srgbClr val="FFFFFF"/>
                    </a:solidFill>
                  </a:tcPr>
                </a:tc>
              </a:tr>
              <a:tr h="638175">
                <a:tc>
                  <a:txBody>
                    <a:bodyPr lIns="133350" tIns="85725" rIns="114300" bIns="85725"/>
                    <a:lstStyle/>
                    <a:p>
                      <a:r>
                        <a:rPr sz="1875" b="0">
                          <a:solidFill>
                            <a:srgbClr val="162832"/>
                          </a:solidFill>
                          <a:latin typeface="Apple SD Gothic Neo"/>
                          <a:ea typeface="Apple SD Gothic Neo"/>
                          <a:cs typeface="Apple SD Gothic Neo"/>
                        </a:rPr>
                        <a:t>합계</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2,453</a:t>
                      </a:r>
                    </a:p>
                  </a:txBody>
                  <a:tcPr marL="91440" marR="91440" marT="45720" marB="45720" anchor="ctr">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C4B7CDD4-AC58-4DEE-9DBF-9E252BB3C30D}"/>
              </a:ext>
            </a:extLst>
          </p:cNvPr>
          <p:cNvSpPr>
            <a:spLocks xmlns:a="http://schemas.openxmlformats.org/drawingml/2006/main" noGrp="1"/>
          </p:cNvSpPr>
          <p:nvPr/>
        </p:nvSpPr>
        <p:spPr>
          <a:xfrm xmlns:a="http://schemas.openxmlformats.org/drawingml/2006/main">
            <a:off x="6991350" y="1762125"/>
            <a:ext cx="44291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추가 후보 1,900장 중</a:t>
            </a:r>
          </a:p>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네 예측의 합의와 영상 검사를</a:t>
            </a:r>
          </a:p>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통과한 802장만 사용했습니다.</a:t>
            </a:r>
          </a:p>
        </p:txBody>
      </p:sp>
      <p:sp>
        <p:nvSpPr>
          <p:cNvPr id="5" name="">
            <a:extLst xmlns:a="http://schemas.openxmlformats.org/drawingml/2006/main">
              <a:ext uri="{FF2B5EF4-FFF2-40B4-BE49-F238E27FC236}">
                <a16:creationId xmlns:a16="http://schemas.microsoft.com/office/drawing/2014/main" id="{E97135A8-7041-4CDE-A95C-475128A9D91B}"/>
              </a:ext>
            </a:extLst>
          </p:cNvPr>
          <p:cNvSpPr>
            <a:spLocks xmlns:a="http://schemas.openxmlformats.org/drawingml/2006/main" noGrp="1"/>
          </p:cNvSpPr>
          <p:nvPr/>
        </p:nvSpPr>
        <p:spPr>
          <a:xfrm xmlns:a="http://schemas.openxmlformats.org/drawingml/2006/main">
            <a:off x="6991350" y="3771900"/>
            <a:ext cx="4429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의사 라벨은 공식 정답과</a:t>
            </a:r>
          </a:p>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구분합니다. 무검출 사진을</a:t>
            </a:r>
          </a:p>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자동 정상으로 바꾸지 않습니다.</a:t>
            </a:r>
          </a:p>
        </p:txBody>
      </p:sp>
    </p:spTree>
    <p:extLst>
      <p:ext uri="{BB962C8B-B14F-4D97-AF65-F5344CB8AC3E}">
        <p14:creationId xmlns:p14="http://schemas.microsoft.com/office/powerpoint/2010/main" val="51916887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5E282BF-FF87-409B-B58E-AC21710675DE}"/>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구조가 다른 네 모델의 비교 목적</a:t>
            </a:r>
          </a:p>
        </p:txBody>
      </p:sp>
      <p:sp>
        <p:nvSpPr>
          <p:cNvPr id="2" name="">
            <a:extLst xmlns:a="http://schemas.openxmlformats.org/drawingml/2006/main">
              <a:ext uri="{FF2B5EF4-FFF2-40B4-BE49-F238E27FC236}">
                <a16:creationId xmlns:a16="http://schemas.microsoft.com/office/drawing/2014/main" id="{D7E5723C-614D-4194-8401-AFD4FBDB7412}"/>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9</a:t>
            </a:r>
          </a:p>
        </p:txBody>
      </p:sp>
      <p:graphicFrame>
        <p:nvGraphicFramePr>
          <p:cNvPr id="9" name=""/>
          <p:cNvGraphicFramePr/>
          <p:nvPr/>
        </p:nvGraphicFramePr>
        <p:xfrm>
          <a:off xmlns:a="http://schemas.openxmlformats.org/drawingml/2006/main" x="609600" y="1514475"/>
          <a:ext xmlns:a="http://schemas.openxmlformats.org/drawingml/2006/main" cx="10972800" cy="3714750"/>
        </p:xfrm>
        <a:graphic xmlns:a="http://schemas.openxmlformats.org/drawingml/2006/main">
          <a:graphicData uri="http://schemas.openxmlformats.org/drawingml/2006/table">
            <a:tbl>
              <a:tblPr/>
              <a:tblGrid>
                <a:gridCol w="3524250"/>
                <a:gridCol w="3143250"/>
                <a:gridCol w="4305300"/>
              </a:tblGrid>
              <a:tr h="742950">
                <a:tc>
                  <a:txBody>
                    <a:bodyPr lIns="133350" tIns="85725" rIns="114300" bIns="85725"/>
                    <a:lstStyle/>
                    <a:p>
                      <a:r>
                        <a:rPr sz="1875" b="1">
                          <a:solidFill>
                            <a:srgbClr val="FFFFFF"/>
                          </a:solidFill>
                          <a:latin typeface="Apple SD Gothic Neo"/>
                          <a:ea typeface="Apple SD Gothic Neo"/>
                          <a:cs typeface="Apple SD Gothic Neo"/>
                        </a:rPr>
                        <a:t>모델</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구조</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비교 목적</a:t>
                      </a:r>
                    </a:p>
                  </a:txBody>
                  <a:tcPr marL="91440" marR="91440" marT="45720" marB="45720" anchor="ctr">
                    <a:solidFill>
                      <a:srgbClr val="193C4D"/>
                    </a:solidFill>
                  </a:tcPr>
                </a:tc>
              </a:tr>
              <a:tr h="742950">
                <a:tc>
                  <a:txBody>
                    <a:bodyPr lIns="133350" tIns="85725" rIns="114300" bIns="85725"/>
                    <a:lstStyle/>
                    <a:p>
                      <a:r>
                        <a:rPr sz="1875" b="0">
                          <a:solidFill>
                            <a:srgbClr val="162832"/>
                          </a:solidFill>
                          <a:latin typeface="Apple SD Gothic Neo"/>
                          <a:ea typeface="Apple SD Gothic Neo"/>
                          <a:cs typeface="Apple SD Gothic Neo"/>
                        </a:rPr>
                        <a:t>YOLOv8n</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CNN 한 단계 탐지</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가벼운 비교 기준</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Faster R-CNN</a:t>
                      </a:r>
                    </a:p>
                    <a:p>
                      <a:r>
                        <a:rPr sz="1875" b="0">
                          <a:solidFill>
                            <a:srgbClr val="162832"/>
                          </a:solidFill>
                          <a:latin typeface="Apple SD Gothic Neo"/>
                          <a:ea typeface="Apple SD Gothic Neo"/>
                          <a:cs typeface="Apple SD Gothic Neo"/>
                        </a:rPr>
                        <a:t>ResNet50-FPN v2</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CNN 두 단계 탐지</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후보 영역을 찾아 다시 판단</a:t>
                      </a:r>
                    </a:p>
                  </a:txBody>
                  <a:tcPr marL="91440" marR="91440" marT="45720" marB="45720" anchor="ctr">
                    <a:solidFill>
                      <a:srgbClr val="F1F5F6"/>
                    </a:solidFill>
                  </a:tcPr>
                </a:tc>
              </a:tr>
              <a:tr h="742950">
                <a:tc>
                  <a:txBody>
                    <a:bodyPr lIns="133350" tIns="85725" rIns="114300" bIns="85725"/>
                    <a:lstStyle/>
                    <a:p>
                      <a:r>
                        <a:rPr sz="1875" b="0">
                          <a:solidFill>
                            <a:srgbClr val="162832"/>
                          </a:solidFill>
                          <a:latin typeface="Apple SD Gothic Neo"/>
                          <a:ea typeface="Apple SD Gothic Neo"/>
                          <a:cs typeface="Apple SD Gothic Neo"/>
                        </a:rPr>
                        <a:t>RF-DETR-S</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Vision Transformer</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영역 사이의 관계를 이용</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D-FINE-S</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CNN과 Transformer</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박스 경계를 단계적으로 보정</a:t>
                      </a:r>
                    </a:p>
                  </a:txBody>
                  <a:tcPr marL="91440" marR="91440" marT="45720" marB="45720" anchor="ctr">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6842C66A-E00B-45C1-A50B-E9AB1174AB47}"/>
              </a:ext>
            </a:extLst>
          </p:cNvPr>
          <p:cNvSpPr>
            <a:spLocks xmlns:a="http://schemas.openxmlformats.org/drawingml/2006/main" noGrp="1"/>
          </p:cNvSpPr>
          <p:nvPr/>
        </p:nvSpPr>
        <p:spPr>
          <a:xfrm xmlns:a="http://schemas.openxmlformats.org/drawingml/2006/main">
            <a:off x="609600" y="55626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기본 학습 정답 박스의 긴 변 중앙값은 11픽셀입니다.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작은 이물의 위치를 맞추는 능력과 처리 시간을 함께 비교합니다.</a:t>
            </a:r>
          </a:p>
        </p:txBody>
      </p:sp>
    </p:spTree>
    <p:extLst>
      <p:ext uri="{BB962C8B-B14F-4D97-AF65-F5344CB8AC3E}">
        <p14:creationId xmlns:p14="http://schemas.microsoft.com/office/powerpoint/2010/main" val="5130374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DC0795-3873-48FE-BAEA-5A4C360E2DDC}"/>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탐지 점수와 박스 겹침은 다른 기준</a:t>
            </a:r>
          </a:p>
        </p:txBody>
      </p:sp>
      <p:sp>
        <p:nvSpPr>
          <p:cNvPr id="2" name="">
            <a:extLst xmlns:a="http://schemas.openxmlformats.org/drawingml/2006/main">
              <a:ext uri="{FF2B5EF4-FFF2-40B4-BE49-F238E27FC236}">
                <a16:creationId xmlns:a16="http://schemas.microsoft.com/office/drawing/2014/main" id="{B666FC32-25A7-49A3-8832-B61D48E27F71}"/>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10</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daab169bb184b69"/>
          <a:stretch xmlns:a="http://schemas.openxmlformats.org/drawingml/2006/main"/>
        </p:blipFill>
        <p:spPr>
          <a:xfrm xmlns:a="http://schemas.openxmlformats.org/drawingml/2006/main">
            <a:off x="609600" y="1438275"/>
            <a:ext cx="7429500" cy="47053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EA7B9BF-23D8-4BF6-8097-A3C0EAE3292C}"/>
              </a:ext>
            </a:extLst>
          </p:cNvPr>
          <p:cNvSpPr>
            <a:spLocks xmlns:a="http://schemas.openxmlformats.org/drawingml/2006/main" noGrp="1"/>
          </p:cNvSpPr>
          <p:nvPr/>
        </p:nvSpPr>
        <p:spPr>
          <a:xfrm xmlns:a="http://schemas.openxmlformats.org/drawingml/2006/main">
            <a:off x="8410575" y="1800225"/>
            <a:ext cx="31718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탐지 임계값</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점수가 기준 이상인</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예측 박스를 채택합니다.</a:t>
            </a:r>
          </a:p>
        </p:txBody>
      </p:sp>
      <p:sp>
        <p:nvSpPr>
          <p:cNvPr id="5" name="">
            <a:extLst xmlns:a="http://schemas.openxmlformats.org/drawingml/2006/main">
              <a:ext uri="{FF2B5EF4-FFF2-40B4-BE49-F238E27FC236}">
                <a16:creationId xmlns:a16="http://schemas.microsoft.com/office/drawing/2014/main" id="{3556030F-9975-4B12-A52C-955173780101}"/>
              </a:ext>
            </a:extLst>
          </p:cNvPr>
          <p:cNvSpPr>
            <a:spLocks xmlns:a="http://schemas.openxmlformats.org/drawingml/2006/main" noGrp="1"/>
          </p:cNvSpPr>
          <p:nvPr/>
        </p:nvSpPr>
        <p:spPr>
          <a:xfrm xmlns:a="http://schemas.openxmlformats.org/drawingml/2006/main">
            <a:off x="8410575" y="3810000"/>
            <a:ext cx="31718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IoU 0.5</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정답과 충분히 겹쳐야</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탐지 성공으로 셉니다.</a:t>
            </a:r>
          </a:p>
        </p:txBody>
      </p:sp>
    </p:spTree>
    <p:extLst>
      <p:ext uri="{BB962C8B-B14F-4D97-AF65-F5344CB8AC3E}">
        <p14:creationId xmlns:p14="http://schemas.microsoft.com/office/powerpoint/2010/main" val="2895731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57A201-71DB-462D-BCE6-71EDA0583F7D}"/>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모든 epoch를 같은 검증 기준으로 비교</a:t>
            </a:r>
          </a:p>
        </p:txBody>
      </p:sp>
      <p:sp>
        <p:nvSpPr>
          <p:cNvPr id="2" name="">
            <a:extLst xmlns:a="http://schemas.openxmlformats.org/drawingml/2006/main">
              <a:ext uri="{FF2B5EF4-FFF2-40B4-BE49-F238E27FC236}">
                <a16:creationId xmlns:a16="http://schemas.microsoft.com/office/drawing/2014/main" id="{5E14DEE5-417B-456B-95CF-F8BCC54AEF24}"/>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11</a:t>
            </a:r>
          </a:p>
        </p:txBody>
      </p:sp>
      <p:sp>
        <p:nvSpPr>
          <p:cNvPr id="3" name="">
            <a:extLst xmlns:a="http://schemas.openxmlformats.org/drawingml/2006/main">
              <a:ext uri="{FF2B5EF4-FFF2-40B4-BE49-F238E27FC236}">
                <a16:creationId xmlns:a16="http://schemas.microsoft.com/office/drawing/2014/main" id="{C06574BC-58D3-46B8-B3FC-C7F5A5767333}"/>
              </a:ext>
            </a:extLst>
          </p:cNvPr>
          <p:cNvSpPr>
            <a:spLocks xmlns:a="http://schemas.openxmlformats.org/drawingml/2006/main" noGrp="1"/>
          </p:cNvSpPr>
          <p:nvPr/>
        </p:nvSpPr>
        <p:spPr>
          <a:xfrm xmlns:a="http://schemas.openxmlformats.org/drawingml/2006/main">
            <a:off x="609600" y="16764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1. 같은 학습 2,453장과 검증 107장을 사용합니다.</a:t>
            </a:r>
          </a:p>
        </p:txBody>
      </p:sp>
      <p:sp>
        <p:nvSpPr>
          <p:cNvPr id="4" name="">
            <a:extLst xmlns:a="http://schemas.openxmlformats.org/drawingml/2006/main">
              <a:ext uri="{FF2B5EF4-FFF2-40B4-BE49-F238E27FC236}">
                <a16:creationId xmlns:a16="http://schemas.microsoft.com/office/drawing/2014/main" id="{2328F838-250D-4D37-B591-2016B48905EE}"/>
              </a:ext>
            </a:extLst>
          </p:cNvPr>
          <p:cNvSpPr>
            <a:spLocks xmlns:a="http://schemas.openxmlformats.org/drawingml/2006/main" noGrp="1"/>
          </p:cNvSpPr>
          <p:nvPr/>
        </p:nvSpPr>
        <p:spPr>
          <a:xfrm xmlns:a="http://schemas.openxmlformats.org/drawingml/2006/main">
            <a:off x="609600" y="26098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2. 매 epoch 저장본을 공통 채점기로 평가합니다.</a:t>
            </a:r>
          </a:p>
        </p:txBody>
      </p:sp>
      <p:sp>
        <p:nvSpPr>
          <p:cNvPr id="5" name="">
            <a:extLst xmlns:a="http://schemas.openxmlformats.org/drawingml/2006/main">
              <a:ext uri="{FF2B5EF4-FFF2-40B4-BE49-F238E27FC236}">
                <a16:creationId xmlns:a16="http://schemas.microsoft.com/office/drawing/2014/main" id="{E2FA1099-3DAB-43B6-92DE-290054C7B3F7}"/>
              </a:ext>
            </a:extLst>
          </p:cNvPr>
          <p:cNvSpPr>
            <a:spLocks xmlns:a="http://schemas.openxmlformats.org/drawingml/2006/main" noGrp="1"/>
          </p:cNvSpPr>
          <p:nvPr/>
        </p:nvSpPr>
        <p:spPr>
          <a:xfrm xmlns:a="http://schemas.openxmlformats.org/drawingml/2006/main">
            <a:off x="609600" y="35433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3. 검증 F1로 저장본을 고르고 탐지 임계값을 고정합니다.</a:t>
            </a:r>
          </a:p>
        </p:txBody>
      </p:sp>
      <p:sp>
        <p:nvSpPr>
          <p:cNvPr id="6" name="">
            <a:extLst xmlns:a="http://schemas.openxmlformats.org/drawingml/2006/main">
              <a:ext uri="{FF2B5EF4-FFF2-40B4-BE49-F238E27FC236}">
                <a16:creationId xmlns:a16="http://schemas.microsoft.com/office/drawing/2014/main" id="{95764F9F-A10D-4DF4-B951-2EC6757ECF84}"/>
              </a:ext>
            </a:extLst>
          </p:cNvPr>
          <p:cNvSpPr>
            <a:spLocks xmlns:a="http://schemas.openxmlformats.org/drawingml/2006/main" noGrp="1"/>
          </p:cNvSpPr>
          <p:nvPr/>
        </p:nvSpPr>
        <p:spPr>
          <a:xfrm xmlns:a="http://schemas.openxmlformats.org/drawingml/2006/main">
            <a:off x="609600" y="44767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4. 고정한 모델과 임계값으로 테스트 결과를 확인합니다.</a:t>
            </a:r>
          </a:p>
        </p:txBody>
      </p:sp>
      <p:sp>
        <p:nvSpPr>
          <p:cNvPr id="7" name="">
            <a:extLst xmlns:a="http://schemas.openxmlformats.org/drawingml/2006/main">
              <a:ext uri="{FF2B5EF4-FFF2-40B4-BE49-F238E27FC236}">
                <a16:creationId xmlns:a16="http://schemas.microsoft.com/office/drawing/2014/main" id="{B3963521-F618-4A5A-9888-90CC1B14E366}"/>
              </a:ext>
            </a:extLst>
          </p:cNvPr>
          <p:cNvSpPr>
            <a:spLocks xmlns:a="http://schemas.openxmlformats.org/drawingml/2006/main" noGrp="1"/>
          </p:cNvSpPr>
          <p:nvPr/>
        </p:nvSpPr>
        <p:spPr>
          <a:xfrm xmlns:a="http://schemas.openxmlformats.org/drawingml/2006/main">
            <a:off x="609600" y="58483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53616A"/>
                </a:solidFill>
                <a:latin typeface="Apple SD Gothic Neo"/>
                <a:ea typeface="Apple SD Gothic Neo"/>
                <a:cs typeface="Apple SD Gothic Neo"/>
              </a:defRPr>
            </a:pPr>
            <a:r>
              <a:rPr sz="1800" b="0">
                <a:solidFill>
                  <a:srgbClr val="53616A"/>
                </a:solidFill>
                <a:latin typeface="Apple SD Gothic Neo"/>
                <a:ea typeface="Apple SD Gothic Neo"/>
                <a:cs typeface="Apple SD Gothic Neo"/>
              </a:rPr>
              <a:t>20epoch 예산, 해상도 512, seed 0. 동점은 재현율·AP@0.75·이른 epoch 순서로 처리합니다.</a:t>
            </a:r>
          </a:p>
        </p:txBody>
      </p:sp>
    </p:spTree>
    <p:extLst>
      <p:ext uri="{BB962C8B-B14F-4D97-AF65-F5344CB8AC3E}">
        <p14:creationId xmlns:p14="http://schemas.microsoft.com/office/powerpoint/2010/main" val="12456966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168CE25-AE1D-4544-BFD4-619EC2DCAFA6}"/>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공통 검증에서 선택한 네 모델의 결과</a:t>
            </a:r>
          </a:p>
        </p:txBody>
      </p:sp>
      <p:sp>
        <p:nvSpPr>
          <p:cNvPr id="2" name="">
            <a:extLst xmlns:a="http://schemas.openxmlformats.org/drawingml/2006/main">
              <a:ext uri="{FF2B5EF4-FFF2-40B4-BE49-F238E27FC236}">
                <a16:creationId xmlns:a16="http://schemas.microsoft.com/office/drawing/2014/main" id="{44731B9B-C3B2-4E97-9350-43EAF4230448}"/>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12</a:t>
            </a:r>
          </a:p>
        </p:txBody>
      </p:sp>
      <p:sp>
        <p:nvSpPr>
          <p:cNvPr id="4" name="">
            <a:extLst xmlns:a="http://schemas.openxmlformats.org/drawingml/2006/main">
              <a:ext uri="{FF2B5EF4-FFF2-40B4-BE49-F238E27FC236}">
                <a16:creationId xmlns:a16="http://schemas.microsoft.com/office/drawing/2014/main" id="{E849713A-57AC-436E-9474-560A2D0FA19D}"/>
              </a:ext>
            </a:extLst>
          </p:cNvPr>
          <p:cNvSpPr>
            <a:spLocks xmlns:a="http://schemas.openxmlformats.org/drawingml/2006/main" noGrp="1"/>
          </p:cNvSpPr>
          <p:nvPr/>
        </p:nvSpPr>
        <p:spPr>
          <a:xfrm xmlns:a="http://schemas.openxmlformats.org/drawingml/2006/main">
            <a:off x="609600" y="47910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선택 epoch는 YOLO 20, Faster 17, RF-DETR 8, D-FINE 11입니다.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모델과 탐지 임계값을 검증에서 고정한 뒤 테스트했습니다.</a:t>
            </a:r>
          </a:p>
        </p:txBody>
      </p:sp>
      <p:sp>
        <p:nvSpPr>
          <p:cNvPr id="5" name="">
            <a:extLst xmlns:a="http://schemas.openxmlformats.org/drawingml/2006/main">
              <a:ext uri="{FF2B5EF4-FFF2-40B4-BE49-F238E27FC236}">
                <a16:creationId xmlns:a16="http://schemas.microsoft.com/office/drawing/2014/main" id="{C14DD1B1-EA1B-4205-9A59-987AF7079813}"/>
              </a:ext>
            </a:extLst>
          </p:cNvPr>
          <p:cNvSpPr>
            <a:spLocks xmlns:a="http://schemas.openxmlformats.org/drawingml/2006/main" noGrp="1"/>
          </p:cNvSpPr>
          <p:nvPr/>
        </p:nvSpPr>
        <p:spPr>
          <a:xfrm xmlns:a="http://schemas.openxmlformats.org/drawingml/2006/main">
            <a:off x="609600" y="59531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53616A"/>
                </a:solidFill>
                <a:latin typeface="Apple SD Gothic Neo"/>
                <a:ea typeface="Apple SD Gothic Neo"/>
                <a:cs typeface="Apple SD Gothic Neo"/>
              </a:defRPr>
            </a:pPr>
            <a:r>
              <a:rPr sz="1800" b="0">
                <a:solidFill>
                  <a:srgbClr val="53616A"/>
                </a:solidFill>
                <a:latin typeface="Apple SD Gothic Neo"/>
                <a:ea typeface="Apple SD Gothic Neo"/>
                <a:cs typeface="Apple SD Gothic Neo"/>
              </a:rPr>
              <a:t>IoU 0.5 기준. 정상 제품 오경보율과 실제 공장의 PASS 안전성은 확인하지 못했습니다.</a:t>
            </a:r>
          </a:p>
        </p:txBody>
      </p:sp>
      <p:graphicFrame>
        <p:nvGraphicFramePr>
          <p:cNvPr id="12" name=""/>
          <p:cNvGraphicFramePr/>
          <p:nvPr/>
        </p:nvGraphicFramePr>
        <p:xfrm>
          <a:off xmlns:a="http://schemas.openxmlformats.org/drawingml/2006/main" x="609600" y="1562100"/>
          <a:ext xmlns:a="http://schemas.openxmlformats.org/drawingml/2006/main" cx="10972800" cy="2924175"/>
        </p:xfrm>
        <a:graphic xmlns:a="http://schemas.openxmlformats.org/drawingml/2006/main">
          <a:graphicData uri="http://schemas.openxmlformats.org/drawingml/2006/table">
            <a:tbl>
              <a:tblPr/>
              <a:tblGrid>
                <a:gridCol w="3429000"/>
                <a:gridCol w="2190750"/>
                <a:gridCol w="2190750"/>
                <a:gridCol w="3162300"/>
              </a:tblGrid>
              <a:tr h="584835">
                <a:tc>
                  <a:txBody>
                    <a:bodyPr lIns="133350" tIns="85725" rIns="114300" bIns="85725"/>
                    <a:lstStyle/>
                    <a:p>
                      <a:r>
                        <a:rPr sz="1875" b="1">
                          <a:solidFill>
                            <a:srgbClr val="FFFFFF"/>
                          </a:solidFill>
                          <a:latin typeface="Apple SD Gothic Neo"/>
                          <a:ea typeface="Apple SD Gothic Neo"/>
                          <a:cs typeface="Apple SD Gothic Neo"/>
                        </a:rPr>
                        <a:t>모델</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검증 F1</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테스트 F1</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테스트 TP / FP / FN</a:t>
                      </a:r>
                    </a:p>
                  </a:txBody>
                  <a:tcPr marL="91440" marR="91440" marT="45720" marB="45720" anchor="ctr">
                    <a:solidFill>
                      <a:srgbClr val="193C4D"/>
                    </a:solidFill>
                  </a:tcPr>
                </a:tc>
              </a:tr>
              <a:tr h="584835">
                <a:tc>
                  <a:txBody>
                    <a:bodyPr lIns="133350" tIns="85725" rIns="114300" bIns="85725"/>
                    <a:lstStyle/>
                    <a:p>
                      <a:r>
                        <a:rPr sz="1875" b="0">
                          <a:solidFill>
                            <a:srgbClr val="162832"/>
                          </a:solidFill>
                          <a:latin typeface="Apple SD Gothic Neo"/>
                          <a:ea typeface="Apple SD Gothic Neo"/>
                          <a:cs typeface="Apple SD Gothic Neo"/>
                        </a:rPr>
                        <a:t>YOLOv8n</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0.9856</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0.9889</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222 / 2 / 3</a:t>
                      </a:r>
                    </a:p>
                  </a:txBody>
                  <a:tcPr marL="91440" marR="91440" marT="45720" marB="45720" anchor="ctr">
                    <a:solidFill>
                      <a:srgbClr val="FFFFFF"/>
                    </a:solidFill>
                  </a:tcPr>
                </a:tc>
              </a:tr>
              <a:tr h="584835">
                <a:tc>
                  <a:txBody>
                    <a:bodyPr lIns="133350" tIns="85725" rIns="114300" bIns="85725"/>
                    <a:lstStyle/>
                    <a:p>
                      <a:r>
                        <a:rPr sz="1875" b="0">
                          <a:solidFill>
                            <a:srgbClr val="162832"/>
                          </a:solidFill>
                          <a:latin typeface="Apple SD Gothic Neo"/>
                          <a:ea typeface="Apple SD Gothic Neo"/>
                          <a:cs typeface="Apple SD Gothic Neo"/>
                        </a:rPr>
                        <a:t>Faster R-CNN</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0.9918</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0.9867</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222 / 3 / 3</a:t>
                      </a:r>
                    </a:p>
                  </a:txBody>
                  <a:tcPr marL="91440" marR="91440" marT="45720" marB="45720" anchor="ctr">
                    <a:solidFill>
                      <a:srgbClr val="F1F5F6"/>
                    </a:solidFill>
                  </a:tcPr>
                </a:tc>
              </a:tr>
              <a:tr h="584835">
                <a:tc>
                  <a:txBody>
                    <a:bodyPr lIns="133350" tIns="85725" rIns="114300" bIns="85725"/>
                    <a:lstStyle/>
                    <a:p>
                      <a:r>
                        <a:rPr sz="1875" b="0">
                          <a:solidFill>
                            <a:srgbClr val="162832"/>
                          </a:solidFill>
                          <a:latin typeface="Apple SD Gothic Neo"/>
                          <a:ea typeface="Apple SD Gothic Neo"/>
                          <a:cs typeface="Apple SD Gothic Neo"/>
                        </a:rPr>
                        <a:t>RF-DETR-S</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0.9918</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0.9800</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220 / 4 / 5</a:t>
                      </a:r>
                    </a:p>
                  </a:txBody>
                  <a:tcPr marL="91440" marR="91440" marT="45720" marB="45720" anchor="ctr">
                    <a:solidFill>
                      <a:srgbClr val="FFFFFF"/>
                    </a:solidFill>
                  </a:tcPr>
                </a:tc>
              </a:tr>
              <a:tr h="584835">
                <a:tc>
                  <a:txBody>
                    <a:bodyPr lIns="133350" tIns="85725" rIns="114300" bIns="85725"/>
                    <a:lstStyle/>
                    <a:p>
                      <a:r>
                        <a:rPr sz="1875" b="0">
                          <a:solidFill>
                            <a:srgbClr val="162832"/>
                          </a:solidFill>
                          <a:latin typeface="Apple SD Gothic Neo"/>
                          <a:ea typeface="Apple SD Gothic Neo"/>
                          <a:cs typeface="Apple SD Gothic Neo"/>
                        </a:rPr>
                        <a:t>D-FINE-S</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0.9856</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0.9756</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220 / 6 / 5</a:t>
                      </a:r>
                    </a:p>
                  </a:txBody>
                  <a:tcPr marL="91440" marR="91440" marT="45720" marB="45720" anchor="ctr">
                    <a:solidFill>
                      <a:srgbClr val="F1F5F6"/>
                    </a:solidFill>
                  </a:tcPr>
                </a:tc>
              </a:tr>
            </a:tbl>
          </a:graphicData>
        </a:graphic>
      </p:graphicFrame>
    </p:spTree>
    <p:extLst>
      <p:ext uri="{BB962C8B-B14F-4D97-AF65-F5344CB8AC3E}">
        <p14:creationId xmlns:p14="http://schemas.microsoft.com/office/powerpoint/2010/main" val="152871603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6F96D1-DB39-4C33-8B6F-3AAB9FB2940D}"/>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이물을 찾은 표시와 박스 위치 채점</a:t>
            </a:r>
          </a:p>
        </p:txBody>
      </p:sp>
      <p:sp>
        <p:nvSpPr>
          <p:cNvPr id="2" name="">
            <a:extLst xmlns:a="http://schemas.openxmlformats.org/drawingml/2006/main">
              <a:ext uri="{FF2B5EF4-FFF2-40B4-BE49-F238E27FC236}">
                <a16:creationId xmlns:a16="http://schemas.microsoft.com/office/drawing/2014/main" id="{C5CE5AB0-7276-4431-AFB0-E961FB2CDED8}"/>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13</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bf942c9d6324c8f"/>
          <a:stretch xmlns:a="http://schemas.openxmlformats.org/drawingml/2006/main"/>
        </p:blipFill>
        <p:spPr>
          <a:xfrm xmlns:a="http://schemas.openxmlformats.org/drawingml/2006/main">
            <a:off x="2043545" y="1628775"/>
            <a:ext cx="8104909" cy="27432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5594385-4462-4AAE-8224-F5ED8C17C676}"/>
              </a:ext>
            </a:extLst>
          </p:cNvPr>
          <p:cNvSpPr>
            <a:spLocks xmlns:a="http://schemas.openxmlformats.org/drawingml/2006/main" noGrp="1"/>
          </p:cNvSpPr>
          <p:nvPr/>
        </p:nvSpPr>
        <p:spPr>
          <a:xfrm xmlns:a="http://schemas.openxmlformats.org/drawingml/2006/main">
            <a:off x="609600" y="4648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네 모델 모두 검은 점을 표시했지만 IoU는 0.5 미만입니다.</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위치 기준 FN과 이물을 전혀 표시하지 못한 경우를 구분합니다.</a:t>
            </a:r>
          </a:p>
        </p:txBody>
      </p:sp>
      <p:sp>
        <p:nvSpPr>
          <p:cNvPr id="5" name="">
            <a:extLst xmlns:a="http://schemas.openxmlformats.org/drawingml/2006/main">
              <a:ext uri="{FF2B5EF4-FFF2-40B4-BE49-F238E27FC236}">
                <a16:creationId xmlns:a16="http://schemas.microsoft.com/office/drawing/2014/main" id="{48F32546-7CEC-4301-914E-3D548D04BDC3}"/>
              </a:ext>
            </a:extLst>
          </p:cNvPr>
          <p:cNvSpPr>
            <a:spLocks xmlns:a="http://schemas.openxmlformats.org/drawingml/2006/main" noGrp="1"/>
          </p:cNvSpPr>
          <p:nvPr/>
        </p:nvSpPr>
        <p:spPr>
          <a:xfrm xmlns:a="http://schemas.openxmlformats.org/drawingml/2006/main">
            <a:off x="609600" y="5876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162832"/>
                </a:solidFill>
                <a:latin typeface="Apple SD Gothic Neo"/>
                <a:ea typeface="Apple SD Gothic Neo"/>
                <a:cs typeface="Apple SD Gothic Neo"/>
              </a:defRPr>
            </a:pPr>
            <a:r>
              <a:rPr sz="2025" b="0">
                <a:solidFill>
                  <a:srgbClr val="162832"/>
                </a:solidFill>
                <a:latin typeface="Apple SD Gothic Neo"/>
                <a:ea typeface="Apple SD Gothic Neo"/>
                <a:cs typeface="Apple SD Gothic Neo"/>
              </a:rPr>
              <a:t>모델별 FN 총 16건 중 14건이 근처 박스 사례입니다. 서로 다른 이물은 9개입니다.</a:t>
            </a:r>
          </a:p>
        </p:txBody>
      </p:sp>
    </p:spTree>
    <p:extLst>
      <p:ext uri="{BB962C8B-B14F-4D97-AF65-F5344CB8AC3E}">
        <p14:creationId xmlns:p14="http://schemas.microsoft.com/office/powerpoint/2010/main" val="37031425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81B615B-DFA6-4901-8C73-F51FD3896933}"/>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사진에 표시가 없는 경우와 현장 재검사</a:t>
            </a:r>
          </a:p>
        </p:txBody>
      </p:sp>
      <p:sp>
        <p:nvSpPr>
          <p:cNvPr id="2" name="">
            <a:extLst xmlns:a="http://schemas.openxmlformats.org/drawingml/2006/main">
              <a:ext uri="{FF2B5EF4-FFF2-40B4-BE49-F238E27FC236}">
                <a16:creationId xmlns:a16="http://schemas.microsoft.com/office/drawing/2014/main" id="{3DEA511F-A446-4D54-B749-2FEB14AD809E}"/>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14</a:t>
            </a:r>
          </a:p>
        </p:txBody>
      </p:sp>
      <p:graphicFrame>
        <p:nvGraphicFramePr>
          <p:cNvPr id="9" name=""/>
          <p:cNvGraphicFramePr/>
          <p:nvPr/>
        </p:nvGraphicFramePr>
        <p:xfrm>
          <a:off xmlns:a="http://schemas.openxmlformats.org/drawingml/2006/main" x="609600" y="1628775"/>
          <a:ext xmlns:a="http://schemas.openxmlformats.org/drawingml/2006/main" cx="10972800" cy="3105150"/>
        </p:xfrm>
        <a:graphic xmlns:a="http://schemas.openxmlformats.org/drawingml/2006/main">
          <a:graphicData uri="http://schemas.openxmlformats.org/drawingml/2006/table">
            <a:tbl>
              <a:tblPr/>
              <a:tblGrid>
                <a:gridCol w="3429000"/>
                <a:gridCol w="7543800"/>
              </a:tblGrid>
              <a:tr h="776288">
                <a:tc>
                  <a:txBody>
                    <a:bodyPr lIns="133350" tIns="85725" rIns="114300" bIns="85725"/>
                    <a:lstStyle/>
                    <a:p>
                      <a:r>
                        <a:rPr sz="1875" b="1">
                          <a:solidFill>
                            <a:srgbClr val="FFFFFF"/>
                          </a:solidFill>
                          <a:latin typeface="Apple SD Gothic Neo"/>
                          <a:ea typeface="Apple SD Gothic Neo"/>
                          <a:cs typeface="Apple SD Gothic Neo"/>
                        </a:rPr>
                        <a:t>판정</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처리 원칙</a:t>
                      </a:r>
                    </a:p>
                  </a:txBody>
                  <a:tcPr marL="91440" marR="91440" marT="45720" marB="45720" anchor="ctr">
                    <a:solidFill>
                      <a:srgbClr val="193C4D"/>
                    </a:solidFill>
                  </a:tcPr>
                </a:tc>
              </a:tr>
              <a:tr h="776288">
                <a:tc>
                  <a:txBody>
                    <a:bodyPr lIns="133350" tIns="85725" rIns="114300" bIns="85725"/>
                    <a:lstStyle/>
                    <a:p>
                      <a:r>
                        <a:rPr sz="1875" b="0">
                          <a:solidFill>
                            <a:srgbClr val="162832"/>
                          </a:solidFill>
                          <a:latin typeface="Apple SD Gothic Neo"/>
                          <a:ea typeface="Apple SD Gothic Neo"/>
                          <a:cs typeface="Apple SD Gothic Neo"/>
                        </a:rPr>
                        <a:t>REJECT</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이물 의심이 큰 제품을 분리</a:t>
                      </a:r>
                    </a:p>
                  </a:txBody>
                  <a:tcPr marL="91440" marR="91440" marT="45720" marB="45720" anchor="ctr">
                    <a:solidFill>
                      <a:srgbClr val="FFFFFF"/>
                    </a:solidFill>
                  </a:tcPr>
                </a:tc>
              </a:tr>
              <a:tr h="776288">
                <a:tc>
                  <a:txBody>
                    <a:bodyPr lIns="133350" tIns="85725" rIns="114300" bIns="85725"/>
                    <a:lstStyle/>
                    <a:p>
                      <a:r>
                        <a:rPr sz="1875" b="0">
                          <a:solidFill>
                            <a:srgbClr val="162832"/>
                          </a:solidFill>
                          <a:latin typeface="Apple SD Gothic Neo"/>
                          <a:ea typeface="Apple SD Gothic Neo"/>
                          <a:cs typeface="Apple SD Gothic Neo"/>
                        </a:rPr>
                        <a:t>RE-INSPECTION</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애매한 점수·입력 문제·무검출은 재검사 또는 보류</a:t>
                      </a:r>
                    </a:p>
                  </a:txBody>
                  <a:tcPr marL="91440" marR="91440" marT="45720" marB="45720" anchor="ctr">
                    <a:solidFill>
                      <a:srgbClr val="F1F5F6"/>
                    </a:solidFill>
                  </a:tcPr>
                </a:tc>
              </a:tr>
              <a:tr h="776288">
                <a:tc>
                  <a:txBody>
                    <a:bodyPr lIns="133350" tIns="85725" rIns="114300" bIns="85725"/>
                    <a:lstStyle/>
                    <a:p>
                      <a:r>
                        <a:rPr sz="1875" b="0">
                          <a:solidFill>
                            <a:srgbClr val="162832"/>
                          </a:solidFill>
                          <a:latin typeface="Apple SD Gothic Neo"/>
                          <a:ea typeface="Apple SD Gothic Neo"/>
                          <a:cs typeface="Apple SD Gothic Neo"/>
                        </a:rPr>
                        <a:t>PASS</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대표 정상·이상 제품 검증 후 도입. 현재 비활성</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E47CE52-439E-471E-91C4-64ED2D466EEF}"/>
              </a:ext>
            </a:extLst>
          </p:cNvPr>
          <p:cNvSpPr>
            <a:spLocks xmlns:a="http://schemas.openxmlformats.org/drawingml/2006/main" noGrp="1"/>
          </p:cNvSpPr>
          <p:nvPr/>
        </p:nvSpPr>
        <p:spPr>
          <a:xfrm xmlns:a="http://schemas.openxmlformats.org/drawingml/2006/main">
            <a:off x="609600" y="51244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표시 없는 이물 사진: YOLO·RF-DETR 각 1장, Faster·D-FINE 각 0장.</a:t>
            </a:r>
          </a:p>
          <a:p xmlns:a="http://schemas.openxmlformats.org/drawingml/2006/main">
            <a:pPr>
              <a:buNone/>
              <a:defRPr sz="2100" b="0">
                <a:solidFill>
                  <a:srgbClr val="162832"/>
                </a:solidFill>
                <a:latin typeface="Apple SD Gothic Neo"/>
                <a:ea typeface="Apple SD Gothic Neo"/>
                <a:cs typeface="Apple SD Gothic Neo"/>
              </a:defRPr>
            </a:pPr>
            <a:r>
              <a:rPr sz="2100" b="0">
                <a:solidFill>
                  <a:srgbClr val="162832"/>
                </a:solidFill>
                <a:latin typeface="Apple SD Gothic Neo"/>
                <a:ea typeface="Apple SD Gothic Neo"/>
                <a:cs typeface="Apple SD Gothic Neo"/>
              </a:rPr>
              <a:t>실제 제품 출하 시험은 아니며, 정상 제품 오경보율은 미검증입니다.</a:t>
            </a:r>
          </a:p>
        </p:txBody>
      </p:sp>
    </p:spTree>
    <p:extLst>
      <p:ext uri="{BB962C8B-B14F-4D97-AF65-F5344CB8AC3E}">
        <p14:creationId xmlns:p14="http://schemas.microsoft.com/office/powerpoint/2010/main" val="167443746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249F72-873B-4CB6-AE5C-A03BB29D9F19}"/>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식품 공장의 AI 보조검사 적용안</a:t>
            </a:r>
          </a:p>
        </p:txBody>
      </p:sp>
      <p:sp>
        <p:nvSpPr>
          <p:cNvPr id="2" name="">
            <a:extLst xmlns:a="http://schemas.openxmlformats.org/drawingml/2006/main">
              <a:ext uri="{FF2B5EF4-FFF2-40B4-BE49-F238E27FC236}">
                <a16:creationId xmlns:a16="http://schemas.microsoft.com/office/drawing/2014/main" id="{6A65B12D-01D8-487A-AECE-F6EF875BEA0D}"/>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15</a:t>
            </a:r>
          </a:p>
        </p:txBody>
      </p:sp>
      <p:sp>
        <p:nvSpPr>
          <p:cNvPr id="3" name="">
            <a:extLst xmlns:a="http://schemas.openxmlformats.org/drawingml/2006/main">
              <a:ext uri="{FF2B5EF4-FFF2-40B4-BE49-F238E27FC236}">
                <a16:creationId xmlns:a16="http://schemas.microsoft.com/office/drawing/2014/main" id="{77D6F10C-7B54-4635-BC11-5C5718812226}"/>
              </a:ext>
            </a:extLst>
          </p:cNvPr>
          <p:cNvSpPr>
            <a:spLocks xmlns:a="http://schemas.openxmlformats.org/drawingml/2006/main" noGrp="1"/>
          </p:cNvSpPr>
          <p:nvPr/>
        </p:nvSpPr>
        <p:spPr>
          <a:xfrm xmlns:a="http://schemas.openxmlformats.org/drawingml/2006/main">
            <a:off x="609600" y="16764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촬영 사진과 제품 식별자·시각·호기를 연결합니다.</a:t>
            </a:r>
          </a:p>
        </p:txBody>
      </p:sp>
      <p:sp>
        <p:nvSpPr>
          <p:cNvPr id="4" name="">
            <a:extLst xmlns:a="http://schemas.openxmlformats.org/drawingml/2006/main">
              <a:ext uri="{FF2B5EF4-FFF2-40B4-BE49-F238E27FC236}">
                <a16:creationId xmlns:a16="http://schemas.microsoft.com/office/drawing/2014/main" id="{089BA926-338B-4356-A4C7-A7DA45FF6A16}"/>
              </a:ext>
            </a:extLst>
          </p:cNvPr>
          <p:cNvSpPr>
            <a:spLocks xmlns:a="http://schemas.openxmlformats.org/drawingml/2006/main" noGrp="1"/>
          </p:cNvSpPr>
          <p:nvPr/>
        </p:nvSpPr>
        <p:spPr>
          <a:xfrm xmlns:a="http://schemas.openxmlformats.org/drawingml/2006/main">
            <a:off x="609600" y="25717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현장 PC가 의심 위치와 점수를 계산하여 작업자에게 보여 줍니다.</a:t>
            </a:r>
          </a:p>
        </p:txBody>
      </p:sp>
      <p:sp>
        <p:nvSpPr>
          <p:cNvPr id="5" name="">
            <a:extLst xmlns:a="http://schemas.openxmlformats.org/drawingml/2006/main">
              <a:ext uri="{FF2B5EF4-FFF2-40B4-BE49-F238E27FC236}">
                <a16:creationId xmlns:a16="http://schemas.microsoft.com/office/drawing/2014/main" id="{3AA67269-E598-4895-BFDB-48C7759CC345}"/>
              </a:ext>
            </a:extLst>
          </p:cNvPr>
          <p:cNvSpPr>
            <a:spLocks xmlns:a="http://schemas.openxmlformats.org/drawingml/2006/main" noGrp="1"/>
          </p:cNvSpPr>
          <p:nvPr/>
        </p:nvSpPr>
        <p:spPr>
          <a:xfrm xmlns:a="http://schemas.openxmlformats.org/drawingml/2006/main">
            <a:off x="609600" y="3467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작업자는 의심 제품을 분리하고 재검사 결과를 기록합니다.</a:t>
            </a:r>
          </a:p>
        </p:txBody>
      </p:sp>
      <p:sp>
        <p:nvSpPr>
          <p:cNvPr id="6" name="">
            <a:extLst xmlns:a="http://schemas.openxmlformats.org/drawingml/2006/main">
              <a:ext uri="{FF2B5EF4-FFF2-40B4-BE49-F238E27FC236}">
                <a16:creationId xmlns:a16="http://schemas.microsoft.com/office/drawing/2014/main" id="{4DCB7C08-6811-4B26-B7C8-60072C61BAF7}"/>
              </a:ext>
            </a:extLst>
          </p:cNvPr>
          <p:cNvSpPr>
            <a:spLocks xmlns:a="http://schemas.openxmlformats.org/drawingml/2006/main" noGrp="1"/>
          </p:cNvSpPr>
          <p:nvPr/>
        </p:nvSpPr>
        <p:spPr>
          <a:xfrm xmlns:a="http://schemas.openxmlformats.org/drawingml/2006/main">
            <a:off x="609600" y="43624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검증 후 설비 제어기와 연결하고 실제 분리 여부를 확인합니다.</a:t>
            </a:r>
          </a:p>
        </p:txBody>
      </p:sp>
      <p:sp>
        <p:nvSpPr>
          <p:cNvPr id="7" name="">
            <a:extLst xmlns:a="http://schemas.openxmlformats.org/drawingml/2006/main">
              <a:ext uri="{FF2B5EF4-FFF2-40B4-BE49-F238E27FC236}">
                <a16:creationId xmlns:a16="http://schemas.microsoft.com/office/drawing/2014/main" id="{7077BC36-E69C-4D03-8D50-793E6DA5D22B}"/>
              </a:ext>
            </a:extLst>
          </p:cNvPr>
          <p:cNvSpPr>
            <a:spLocks xmlns:a="http://schemas.openxmlformats.org/drawingml/2006/main" noGrp="1"/>
          </p:cNvSpPr>
          <p:nvPr/>
        </p:nvSpPr>
        <p:spPr>
          <a:xfrm xmlns:a="http://schemas.openxmlformats.org/drawingml/2006/main">
            <a:off x="609600" y="57816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53616A"/>
                </a:solidFill>
                <a:latin typeface="Apple SD Gothic Neo"/>
                <a:ea typeface="Apple SD Gothic Neo"/>
                <a:cs typeface="Apple SD Gothic Neo"/>
              </a:defRPr>
            </a:pPr>
            <a:r>
              <a:rPr sz="1875" b="0">
                <a:solidFill>
                  <a:srgbClr val="53616A"/>
                </a:solidFill>
                <a:latin typeface="Apple SD Gothic Neo"/>
                <a:ea typeface="Apple SD Gothic Neo"/>
                <a:cs typeface="Apple SD Gothic Neo"/>
              </a:rPr>
              <a:t>초기에는 기존 검사와 병행합니다. AI가 기존 경보를 취소하거나 출하를 승인하지 않습니다.</a:t>
            </a:r>
          </a:p>
        </p:txBody>
      </p:sp>
    </p:spTree>
    <p:extLst>
      <p:ext uri="{BB962C8B-B14F-4D97-AF65-F5344CB8AC3E}">
        <p14:creationId xmlns:p14="http://schemas.microsoft.com/office/powerpoint/2010/main" val="181605150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C6EF80-420A-4791-B6B9-CCF2B51BC7DC}"/>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현장 도입 전에 확인할 조건</a:t>
            </a:r>
          </a:p>
        </p:txBody>
      </p:sp>
      <p:sp>
        <p:nvSpPr>
          <p:cNvPr id="2" name="">
            <a:extLst xmlns:a="http://schemas.openxmlformats.org/drawingml/2006/main">
              <a:ext uri="{FF2B5EF4-FFF2-40B4-BE49-F238E27FC236}">
                <a16:creationId xmlns:a16="http://schemas.microsoft.com/office/drawing/2014/main" id="{D7204F79-393C-42C0-8823-76452C86F70D}"/>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16</a:t>
            </a:r>
          </a:p>
        </p:txBody>
      </p:sp>
      <p:graphicFrame>
        <p:nvGraphicFramePr>
          <p:cNvPr id="9" name=""/>
          <p:cNvGraphicFramePr/>
          <p:nvPr/>
        </p:nvGraphicFramePr>
        <p:xfrm>
          <a:off xmlns:a="http://schemas.openxmlformats.org/drawingml/2006/main" x="609600" y="1581150"/>
          <a:ext xmlns:a="http://schemas.openxmlformats.org/drawingml/2006/main" cx="10972800" cy="3714750"/>
        </p:xfrm>
        <a:graphic xmlns:a="http://schemas.openxmlformats.org/drawingml/2006/main">
          <a:graphicData uri="http://schemas.openxmlformats.org/drawingml/2006/table">
            <a:tbl>
              <a:tblPr/>
              <a:tblGrid>
                <a:gridCol w="4143375"/>
                <a:gridCol w="6829425"/>
              </a:tblGrid>
              <a:tr h="742950">
                <a:tc>
                  <a:txBody>
                    <a:bodyPr lIns="133350" tIns="85725" rIns="114300" bIns="85725"/>
                    <a:lstStyle/>
                    <a:p>
                      <a:r>
                        <a:rPr sz="1875" b="1">
                          <a:solidFill>
                            <a:srgbClr val="FFFFFF"/>
                          </a:solidFill>
                          <a:latin typeface="Apple SD Gothic Neo"/>
                          <a:ea typeface="Apple SD Gothic Neo"/>
                          <a:cs typeface="Apple SD Gothic Neo"/>
                        </a:rPr>
                        <a:t>확인할 조건</a:t>
                      </a:r>
                    </a:p>
                  </a:txBody>
                  <a:tcPr marL="91440" marR="91440" marT="45720" marB="45720" anchor="ctr">
                    <a:solidFill>
                      <a:srgbClr val="193C4D"/>
                    </a:solidFill>
                  </a:tcPr>
                </a:tc>
                <a:tc>
                  <a:txBody>
                    <a:bodyPr lIns="133350" tIns="85725" rIns="114300" bIns="85725"/>
                    <a:lstStyle/>
                    <a:p>
                      <a:r>
                        <a:rPr sz="1875" b="1">
                          <a:solidFill>
                            <a:srgbClr val="FFFFFF"/>
                          </a:solidFill>
                          <a:latin typeface="Apple SD Gothic Neo"/>
                          <a:ea typeface="Apple SD Gothic Neo"/>
                          <a:cs typeface="Apple SD Gothic Neo"/>
                        </a:rPr>
                        <a:t>평가 방법</a:t>
                      </a:r>
                    </a:p>
                  </a:txBody>
                  <a:tcPr marL="91440" marR="91440" marT="45720" marB="45720" anchor="ctr">
                    <a:solidFill>
                      <a:srgbClr val="193C4D"/>
                    </a:solidFill>
                  </a:tcPr>
                </a:tc>
              </a:tr>
              <a:tr h="742950">
                <a:tc>
                  <a:txBody>
                    <a:bodyPr lIns="133350" tIns="85725" rIns="114300" bIns="85725"/>
                    <a:lstStyle/>
                    <a:p>
                      <a:r>
                        <a:rPr sz="1875" b="0">
                          <a:solidFill>
                            <a:srgbClr val="162832"/>
                          </a:solidFill>
                          <a:latin typeface="Apple SD Gothic Neo"/>
                          <a:ea typeface="Apple SD Gothic Neo"/>
                          <a:cs typeface="Apple SD Gothic Neo"/>
                        </a:rPr>
                        <a:t>미탐 위험</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이물 사진에서 표시가 없는 수와 실제 제품 분리 여부</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정상 오경보와 재검사 부담</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대표 정상 제품의 오경보율과 전체 재검사율</a:t>
                      </a:r>
                    </a:p>
                  </a:txBody>
                  <a:tcPr marL="91440" marR="91440" marT="45720" marB="45720" anchor="ctr">
                    <a:solidFill>
                      <a:srgbClr val="F1F5F6"/>
                    </a:solidFill>
                  </a:tcPr>
                </a:tc>
              </a:tr>
              <a:tr h="742950">
                <a:tc>
                  <a:txBody>
                    <a:bodyPr lIns="133350" tIns="85725" rIns="114300" bIns="85725"/>
                    <a:lstStyle/>
                    <a:p>
                      <a:r>
                        <a:rPr sz="1875" b="0">
                          <a:solidFill>
                            <a:srgbClr val="162832"/>
                          </a:solidFill>
                          <a:latin typeface="Apple SD Gothic Neo"/>
                          <a:ea typeface="Apple SD Gothic Neo"/>
                          <a:cs typeface="Apple SD Gothic Neo"/>
                        </a:rPr>
                        <a:t>시간과 제품 추적</a:t>
                      </a:r>
                    </a:p>
                  </a:txBody>
                  <a:tcPr marL="91440" marR="91440" marT="45720" marB="45720" anchor="ctr">
                    <a:solidFill>
                      <a:srgbClr val="FFFFFF"/>
                    </a:solidFill>
                  </a:tcPr>
                </a:tc>
                <a:tc>
                  <a:txBody>
                    <a:bodyPr lIns="133350" tIns="85725" rIns="114300" bIns="85725"/>
                    <a:lstStyle/>
                    <a:p>
                      <a:r>
                        <a:rPr sz="1875" b="0">
                          <a:solidFill>
                            <a:srgbClr val="162832"/>
                          </a:solidFill>
                          <a:latin typeface="Apple SD Gothic Neo"/>
                          <a:ea typeface="Apple SD Gothic Neo"/>
                          <a:cs typeface="Apple SD Gothic Neo"/>
                        </a:rPr>
                        <a:t>촬영부터 조치까지 지연 및 제품 대응 확인</a:t>
                      </a:r>
                    </a:p>
                  </a:txBody>
                  <a:tcPr marL="91440" marR="91440" marT="45720" marB="45720" anchor="ctr">
                    <a:solidFill>
                      <a:srgbClr val="FFFFFF"/>
                    </a:solidFill>
                  </a:tcPr>
                </a:tc>
              </a:tr>
              <a:tr h="742950">
                <a:tc>
                  <a:txBody>
                    <a:bodyPr lIns="133350" tIns="85725" rIns="114300" bIns="85725"/>
                    <a:lstStyle/>
                    <a:p>
                      <a:r>
                        <a:rPr sz="1875" b="0">
                          <a:solidFill>
                            <a:srgbClr val="162832"/>
                          </a:solidFill>
                          <a:latin typeface="Apple SD Gothic Neo"/>
                          <a:ea typeface="Apple SD Gothic Neo"/>
                          <a:cs typeface="Apple SD Gothic Neo"/>
                        </a:rPr>
                        <a:t>장애 대응</a:t>
                      </a:r>
                    </a:p>
                  </a:txBody>
                  <a:tcPr marL="91440" marR="91440" marT="45720" marB="45720" anchor="ctr">
                    <a:solidFill>
                      <a:srgbClr val="F1F5F6"/>
                    </a:solidFill>
                  </a:tcPr>
                </a:tc>
                <a:tc>
                  <a:txBody>
                    <a:bodyPr lIns="133350" tIns="85725" rIns="114300" bIns="85725"/>
                    <a:lstStyle/>
                    <a:p>
                      <a:r>
                        <a:rPr sz="1875" b="0">
                          <a:solidFill>
                            <a:srgbClr val="162832"/>
                          </a:solidFill>
                          <a:latin typeface="Apple SD Gothic Neo"/>
                          <a:ea typeface="Apple SD Gothic Neo"/>
                          <a:cs typeface="Apple SD Gothic Neo"/>
                        </a:rPr>
                        <a:t>사진 누락·시간 초과·통신 및 분리 확인 실패 시험</a:t>
                      </a:r>
                    </a:p>
                  </a:txBody>
                  <a:tcPr marL="91440" marR="91440" marT="45720" marB="45720" anchor="ctr">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CD1FE050-E4A1-4887-AF20-85C849D7EE2E}"/>
              </a:ext>
            </a:extLst>
          </p:cNvPr>
          <p:cNvSpPr>
            <a:spLocks xmlns:a="http://schemas.openxmlformats.org/drawingml/2006/main" noGrp="1"/>
          </p:cNvSpPr>
          <p:nvPr/>
        </p:nvSpPr>
        <p:spPr>
          <a:xfrm xmlns:a="http://schemas.openxmlformats.org/drawingml/2006/main">
            <a:off x="609600" y="56197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기대 효과는 재검사 지원과 오류 추적입니다.</a:t>
            </a:r>
          </a:p>
          <a:p xmlns:a="http://schemas.openxmlformats.org/drawingml/2006/main">
            <a:pPr>
              <a:buNone/>
              <a:defRPr sz="2175" b="0">
                <a:solidFill>
                  <a:srgbClr val="162832"/>
                </a:solidFill>
                <a:latin typeface="Apple SD Gothic Neo"/>
                <a:ea typeface="Apple SD Gothic Neo"/>
                <a:cs typeface="Apple SD Gothic Neo"/>
              </a:defRPr>
            </a:pPr>
            <a:r>
              <a:rPr sz="2175" b="0">
                <a:solidFill>
                  <a:srgbClr val="162832"/>
                </a:solidFill>
                <a:latin typeface="Apple SD Gothic Neo"/>
                <a:ea typeface="Apple SD Gothic Neo"/>
                <a:cs typeface="Apple SD Gothic Neo"/>
              </a:rPr>
              <a:t>생산성 향상이나 미탐 감소는 실제 측정 후 보고합니다.</a:t>
            </a:r>
          </a:p>
        </p:txBody>
      </p:sp>
    </p:spTree>
    <p:extLst>
      <p:ext uri="{BB962C8B-B14F-4D97-AF65-F5344CB8AC3E}">
        <p14:creationId xmlns:p14="http://schemas.microsoft.com/office/powerpoint/2010/main" val="8583349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56A81AA-D0CF-4D65-A6B7-F749DCABDF15}"/>
              </a:ext>
            </a:extLst>
          </p:cNvPr>
          <p:cNvSpPr>
            <a:spLocks xmlns:a="http://schemas.openxmlformats.org/drawingml/2006/main" noGrp="1"/>
          </p:cNvSpPr>
          <p:nvPr/>
        </p:nvSpPr>
        <p:spPr>
          <a:xfrm xmlns:a="http://schemas.openxmlformats.org/drawingml/2006/main">
            <a:off x="609600" y="3619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162832"/>
                </a:solidFill>
                <a:latin typeface="Apple SD Gothic Neo"/>
                <a:ea typeface="Apple SD Gothic Neo"/>
                <a:cs typeface="Apple SD Gothic Neo"/>
              </a:defRPr>
            </a:pPr>
            <a:r>
              <a:rPr sz="3225" b="1">
                <a:solidFill>
                  <a:srgbClr val="162832"/>
                </a:solidFill>
                <a:latin typeface="Apple SD Gothic Neo"/>
                <a:ea typeface="Apple SD Gothic Neo"/>
                <a:cs typeface="Apple SD Gothic Neo"/>
              </a:rPr>
              <a:t>재현성과 제출 결과의 연결</a:t>
            </a:r>
          </a:p>
        </p:txBody>
      </p:sp>
      <p:sp>
        <p:nvSpPr>
          <p:cNvPr id="2" name="">
            <a:extLst xmlns:a="http://schemas.openxmlformats.org/drawingml/2006/main">
              <a:ext uri="{FF2B5EF4-FFF2-40B4-BE49-F238E27FC236}">
                <a16:creationId xmlns:a16="http://schemas.microsoft.com/office/drawing/2014/main" id="{43202B4B-14D8-4E78-9451-8F2AC82BA609}"/>
              </a:ext>
            </a:extLst>
          </p:cNvPr>
          <p:cNvSpPr>
            <a:spLocks xmlns:a="http://schemas.openxmlformats.org/drawingml/2006/main" noGrp="1"/>
          </p:cNvSpPr>
          <p:nvPr/>
        </p:nvSpPr>
        <p:spPr>
          <a:xfrm xmlns:a="http://schemas.openxmlformats.org/drawingml/2006/main">
            <a:off x="11334750" y="6410325"/>
            <a:ext cx="304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3616A"/>
                </a:solidFill>
                <a:latin typeface="Apple SD Gothic Neo"/>
                <a:ea typeface="Apple SD Gothic Neo"/>
                <a:cs typeface="Apple SD Gothic Neo"/>
              </a:defRPr>
            </a:pPr>
            <a:r>
              <a:rPr sz="1350" b="0">
                <a:solidFill>
                  <a:srgbClr val="53616A"/>
                </a:solidFill>
                <a:latin typeface="Apple SD Gothic Neo"/>
                <a:ea typeface="Apple SD Gothic Neo"/>
                <a:cs typeface="Apple SD Gothic Neo"/>
              </a:rPr>
              <a:t>17</a:t>
            </a:r>
          </a:p>
        </p:txBody>
      </p:sp>
      <p:sp>
        <p:nvSpPr>
          <p:cNvPr id="3" name="">
            <a:extLst xmlns:a="http://schemas.openxmlformats.org/drawingml/2006/main">
              <a:ext uri="{FF2B5EF4-FFF2-40B4-BE49-F238E27FC236}">
                <a16:creationId xmlns:a16="http://schemas.microsoft.com/office/drawing/2014/main" id="{352F7F09-9E76-4590-976A-A3EB003ECB87}"/>
              </a:ext>
            </a:extLst>
          </p:cNvPr>
          <p:cNvSpPr>
            <a:spLocks xmlns:a="http://schemas.openxmlformats.org/drawingml/2006/main" noGrp="1"/>
          </p:cNvSpPr>
          <p:nvPr/>
        </p:nvSpPr>
        <p:spPr>
          <a:xfrm xmlns:a="http://schemas.openxmlformats.org/drawingml/2006/main">
            <a:off x="609600" y="16859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원본·공식 TXT·고정 분할을 보존합니다.</a:t>
            </a:r>
          </a:p>
        </p:txBody>
      </p:sp>
      <p:sp>
        <p:nvSpPr>
          <p:cNvPr id="4" name="">
            <a:extLst xmlns:a="http://schemas.openxmlformats.org/drawingml/2006/main">
              <a:ext uri="{FF2B5EF4-FFF2-40B4-BE49-F238E27FC236}">
                <a16:creationId xmlns:a16="http://schemas.microsoft.com/office/drawing/2014/main" id="{57BF4AD2-647E-4D70-BE74-853F357D6E8D}"/>
              </a:ext>
            </a:extLst>
          </p:cNvPr>
          <p:cNvSpPr>
            <a:spLocks xmlns:a="http://schemas.openxmlformats.org/drawingml/2006/main" noGrp="1"/>
          </p:cNvSpPr>
          <p:nvPr/>
        </p:nvSpPr>
        <p:spPr>
          <a:xfrm xmlns:a="http://schemas.openxmlformats.org/drawingml/2006/main">
            <a:off x="609600" y="26003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사진·변환 라벨·모델·예측 파일의 확인값을 남깁니다.</a:t>
            </a:r>
          </a:p>
        </p:txBody>
      </p:sp>
      <p:sp>
        <p:nvSpPr>
          <p:cNvPr id="5" name="">
            <a:extLst xmlns:a="http://schemas.openxmlformats.org/drawingml/2006/main">
              <a:ext uri="{FF2B5EF4-FFF2-40B4-BE49-F238E27FC236}">
                <a16:creationId xmlns:a16="http://schemas.microsoft.com/office/drawing/2014/main" id="{4E437815-10A7-4455-BB63-F593B1A1B77A}"/>
              </a:ext>
            </a:extLst>
          </p:cNvPr>
          <p:cNvSpPr>
            <a:spLocks xmlns:a="http://schemas.openxmlformats.org/drawingml/2006/main" noGrp="1"/>
          </p:cNvSpPr>
          <p:nvPr/>
        </p:nvSpPr>
        <p:spPr>
          <a:xfrm xmlns:a="http://schemas.openxmlformats.org/drawingml/2006/main">
            <a:off x="609600" y="35147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완료 epoch의 모델과 학습 상태를 저장하여 중단 후 재개합니다.</a:t>
            </a:r>
          </a:p>
        </p:txBody>
      </p:sp>
      <p:sp>
        <p:nvSpPr>
          <p:cNvPr id="6" name="">
            <a:extLst xmlns:a="http://schemas.openxmlformats.org/drawingml/2006/main">
              <a:ext uri="{FF2B5EF4-FFF2-40B4-BE49-F238E27FC236}">
                <a16:creationId xmlns:a16="http://schemas.microsoft.com/office/drawing/2014/main" id="{CFE22482-369E-4BE5-A861-8D6C24E957D7}"/>
              </a:ext>
            </a:extLst>
          </p:cNvPr>
          <p:cNvSpPr>
            <a:spLocks xmlns:a="http://schemas.openxmlformats.org/drawingml/2006/main" noGrp="1"/>
          </p:cNvSpPr>
          <p:nvPr/>
        </p:nvSpPr>
        <p:spPr>
          <a:xfrm xmlns:a="http://schemas.openxmlformats.org/drawingml/2006/main">
            <a:off x="609600" y="44291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250" b="0">
                <a:solidFill>
                  <a:srgbClr val="162832"/>
                </a:solidFill>
                <a:latin typeface="Apple SD Gothic Neo"/>
                <a:ea typeface="Apple SD Gothic Neo"/>
                <a:cs typeface="Apple SD Gothic Neo"/>
              </a:defRPr>
            </a:pPr>
            <a:r>
              <a:rPr sz="2250" b="0">
                <a:solidFill>
                  <a:srgbClr val="162832"/>
                </a:solidFill>
                <a:latin typeface="Apple SD Gothic Neo"/>
                <a:ea typeface="Apple SD Gothic Neo"/>
                <a:cs typeface="Apple SD Gothic Neo"/>
              </a:rPr>
              <a:t>제출 ZIP에 코드·환경·학습 자료·README·예측 결과를 포함합니다.</a:t>
            </a:r>
          </a:p>
        </p:txBody>
      </p:sp>
      <p:sp>
        <p:nvSpPr>
          <p:cNvPr id="7" name="">
            <a:extLst xmlns:a="http://schemas.openxmlformats.org/drawingml/2006/main">
              <a:ext uri="{FF2B5EF4-FFF2-40B4-BE49-F238E27FC236}">
                <a16:creationId xmlns:a16="http://schemas.microsoft.com/office/drawing/2014/main" id="{D23EF1B1-C78F-47E7-B087-A84FDE81BC97}"/>
              </a:ext>
            </a:extLst>
          </p:cNvPr>
          <p:cNvSpPr>
            <a:spLocks xmlns:a="http://schemas.openxmlformats.org/drawingml/2006/main" noGrp="1"/>
          </p:cNvSpPr>
          <p:nvPr/>
        </p:nvSpPr>
        <p:spPr>
          <a:xfrm xmlns:a="http://schemas.openxmlformats.org/drawingml/2006/main">
            <a:off x="609600" y="58578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53616A"/>
                </a:solidFill>
                <a:latin typeface="Apple SD Gothic Neo"/>
                <a:ea typeface="Apple SD Gothic Neo"/>
                <a:cs typeface="Apple SD Gothic Neo"/>
              </a:defRPr>
            </a:pPr>
            <a:r>
              <a:rPr sz="2025" b="0">
                <a:solidFill>
                  <a:srgbClr val="53616A"/>
                </a:solidFill>
                <a:latin typeface="Apple SD Gothic Neo"/>
                <a:ea typeface="Apple SD Gothic Neo"/>
                <a:cs typeface="Apple SD Gothic Neo"/>
              </a:rPr>
              <a:t>공통 비교는 완료했습니다. 최종 모델·운영 임계값·제출 재현 검사는 남아 있습니다.</a:t>
            </a:r>
          </a:p>
        </p:txBody>
      </p:sp>
    </p:spTree>
    <p:extLst>
      <p:ext uri="{BB962C8B-B14F-4D97-AF65-F5344CB8AC3E}">
        <p14:creationId xmlns:p14="http://schemas.microsoft.com/office/powerpoint/2010/main" val="8944232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2026-10-04T06:09:49.3080000Z</dcterms:created>
  <dcterms:modified xsi:type="dcterms:W3CDTF">2026-10-04T06:09:49.3080000Z</dcterms:modified>
</coreProperties>
</file>